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Hant-TW"/>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Hant-TW"/>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Hant-TW"/>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Hant-TW"/>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Hant-TW"/>
          </a:p>
        </p:txBody>
      </p:sp>
    </p:spTree>
  </p:cSld>
  <p:clrMap bg1="lt1" tx1="dk1" bg2="lt2" tx2="dk2" accent1="accent1" accent2="accent2" accent3="accent3" accent4="accent4" accent5="accent5" accent6="accent6" hlink="hlink" folHlink="folHlink"/>
  <p:hf/>
  <p:notesStyle>
    <a:lvl1pPr marL="0" algn="l">
      <a:defRPr sz="1200" lang="zh-Hant-TW"/>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各位評審好。今天這十分鐘我想先修正一個很常見的預設：多數人談 AI Agent 的瓶頸，談的是模型夠不夠聰明。但真正卡住企業導入的，是沒有人敢讓它真的動手。一個能查帳、能退費、能改資費、能停復機的 Agent 才有商業價值，而同一份能力也代表它能造成真實損害。AgentGate 就是為了解開這個結：它是夾在 AI Agent 與真實系統之間的治理層，每一個動作在執行前都必須逐關通過六道 Gate。這是我以單人身分參加二零二六中華電信智慧創新應用大賽智慧生活組的作品。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我先把結論和數字交給各位，後面每一頁都是在支撐這三個數字。在自建的一百四十二條電信客服情境測試集上，完全沒有治理的基線會讓百分之百的有害動作直接抵達後台；加上五道關卡之後，有害放行率是零。同時任務完成率仍然保住百分之九十六點八，代表治理沒有把 Agent 關回問答機器人。決策延遲的第九十五百分位是零點一二毫秒，因為裁決層是確定性規則，不呼叫任何模型，治理層自己不會變成新的延遲來源。</a:t>
            </a:r>
          </a:p>
          <a:p>
            <a:pPr/>
            <a:endParaRPr lang="zh-Hant-TW" dirty="0"/>
          </a:p>
          <a:p>
            <a:pPr/>
            <a:r>
              <a:rPr lang="zh-Hant-TW" dirty="0"/>
              <a:t>我也把代價寫在同一張投影片上：誤攔率是百分之三點二，而且我把它拆成兩半——閘門本身沒有攔下任何一件正常業務，這百分之三點二全部是核准者對三件缺少知悉紀錄案子的正確駁回。這是安全與效用之間真實存在的張力，我選擇誠實呈現，而不是只報好看的那一格。</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為什麼企業會卡住？因為目前只有兩個選項，而兩個都是死路。第一個是完全不讓它動手，把 Agent 降級成問答機器人——安全了，但價值也消失了。第二個是讓它動手，但每一筆都人工覆核，結果成本比原本的人工作業還高，效益一樣消失。兩條路都讓導入停在概念驗證階段。</a:t>
            </a:r>
          </a:p>
          <a:p>
            <a:pPr/>
            <a:endParaRPr lang="zh-Hant-TW" dirty="0"/>
          </a:p>
          <a:p>
            <a:pPr/>
            <a:r>
              <a:rPr lang="zh-Hant-TW" dirty="0"/>
              <a:t>缺的是中間那一層：能分辨哪些動作可以自動放行、哪些必須攔下、哪些必須有人簽名負責，而且事後每一步都能回溯歸責。這一層存在的理由，其實就是稽核與主管機關真正會問的那一句話——這件事是誰決定的？依據什麼？當時看到了什麼證據？</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我把攻擊面收斂成一種事故：間接提示注入。路徑是這樣的：客戶從 App、官網或門市上傳一份附件；附件裡夾帶了一段指令；客服 Agent 把整份工單脈絡讀進去，包含那段夾帶的指令；然後它去呼叫一個越權的工具。請注意攻擊入口在附件，不在對話。</a:t>
            </a:r>
          </a:p>
          <a:p>
            <a:pPr/>
            <a:endParaRPr lang="zh-Hant-TW" dirty="0"/>
          </a:p>
          <a:p>
            <a:pPr/>
            <a:r>
              <a:rPr lang="zh-Hant-TW" dirty="0"/>
              <a:t>在 Demo 的第三步，我讓一份發票 PDF 的第三頁夾帶「匯出所有客戶資料」。系統的實際裁決原文是：動作風險「禁止級」超過指令來源鏈可授權的上限「低」，而最弱環節就是使用者上傳的那份檔案。攔截點記在 G0，決策延遲零點零九毫秒，全程沒有任何模型判斷參與。</a:t>
            </a:r>
          </a:p>
          <a:p>
            <a:pPr/>
            <a:endParaRPr lang="zh-Hant-TW" dirty="0"/>
          </a:p>
          <a:p>
            <a:pPr/>
            <a:r>
              <a:rPr lang="zh-Hant-TW" dirty="0"/>
              <a:t>這裡有一個關鍵取捨。我不去偵測「這段文字看起來像不像攻擊」，因為攻擊者可以改寫措辭，但改不掉「指令是從一份上傳文件進來」這個事實。也因此，AgentGate 明確不做內容安全過濾——我管的是動作，不是文字。</a:t>
            </a:r>
          </a:p>
          <a:p>
            <a:pPr/>
            <a:endParaRPr lang="zh-Hant-TW" dirty="0"/>
          </a:p>
          <a:p>
            <a:pPr/>
            <a:r>
              <a:rPr lang="zh-Hant-TW" dirty="0"/>
              <a:t>這一段畫面不是情境樣板演出來的。我實際讓一個 gpt-4o-mini Agent 去讀這件工單，它自己決定要不要匯出資料——結果它真的被那份 PDF 說服，自己組出匯出姓名、門號、身分證字號與地址四個欄位的請求，模型讀信花了兩千七百多毫秒，治理層裁決只花零點六毫秒就把它攔下。我也把這一條規則搬到我沒有出題的 AgentDojo 環境上重跑：銀行情境的注入成功率從百分之六十六點七降到零，正常任務完成率完全沒有下降。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這是整套系統的骨架。Agent 不再直接呼叫工具，而是提出一個結構化的動作請求，逐關通過才會生效。</a:t>
            </a:r>
          </a:p>
          <a:p>
            <a:pPr/>
            <a:endParaRPr lang="zh-Hant-TW" dirty="0"/>
          </a:p>
          <a:p>
            <a:pPr/>
            <a:r>
              <a:rPr lang="zh-Hant-TW" dirty="0"/>
              <a:t>G1 動作解析把工具呼叫轉成結構化的動作請求，並驗證參數。G0 來源信任取來源鏈的最弱環節，算出這條鏈能授權的風險上限。G2 政策裁決用七個動作的權限表加上十三條 AG 規則，動態升級風險等級。G3 後果預演在影子環境乾跑，實測影響範圍與可回復性。G4 人工核准組裝十五秒證據包，並綁定經驗證的核准者身分。G5 執行與封存做雜湊鏈封存，可以驗證竄改。</a:t>
            </a:r>
          </a:p>
          <a:p>
            <a:pPr/>
            <a:endParaRPr lang="zh-Hant-TW" dirty="0"/>
          </a:p>
          <a:p>
            <a:pPr/>
            <a:r>
              <a:rPr lang="zh-Hant-TW" dirty="0"/>
              <a:t>請注意畫面下方這條紅線。任何一關都可以否決，而否決本身也是稽核事件——被擋下的動作與被執行的動作，留下同等完整的紀錄。整條管線只有一個入口與一個出口，回傳同一份裁決結果。六道關卡裡只有 G1 的格式轉換允許使用 LLM，而且它的輸出必須先通過參數驗證，才進得了政策裁決。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接下來四頁，我逐一說明四個差異化的關卡。先看 G0。</a:t>
            </a:r>
          </a:p>
          <a:p>
            <a:pPr/>
            <a:endParaRPr lang="zh-Hant-TW" dirty="0"/>
          </a:p>
          <a:p>
            <a:pPr/>
            <a:r>
              <a:rPr lang="zh-Hant-TW" dirty="0"/>
              <a:t>來源信任的規則是取最弱環節，不是取最後一手。這個 Demo 案例的來源鏈有兩段：一段是已驗證的用戶對話，本身可以授權到高；另一段是那份上傳的 PDF，屬於使用者上傳檔案這個通道，只能授權到低。取最弱的那一環之後，整條鏈的授權上限就是低。</a:t>
            </a:r>
          </a:p>
          <a:p>
            <a:pPr/>
            <a:endParaRPr lang="zh-Hant-TW" dirty="0"/>
          </a:p>
          <a:p>
            <a:pPr/>
            <a:r>
              <a:rPr lang="zh-Hant-TW" dirty="0"/>
              <a:t>這條規則帶來三個直接推論。第一，已驗證用戶把 PDF 的內容轉述一次，不會把不可信洗成可信。第二，空的來源鏈視同完全不可信，沒有來源紀錄的指令不能被授權做任何高風險動作。第三，這是結構性規則，不依賴偵測措辭。第四，也是今天新加的 G0-R2：不可信來源的指令，只有在鏈裡有一個獨立的已驗證確認節點、而且確認的指紋與這次動作的全部參數相符時，才可以被提升。指紋由 runtime 計算，LLM 自報的來源鏈只能縮小信任、不能擴大；所以「用戶上傳帳單截圖後說就退這 880 元」走得通，PDF 夾帶的「匯出全部客戶」仍在 G0 被攔，因為沒有人確認過那個動作。</a:t>
            </a:r>
          </a:p>
          <a:p>
            <a:pPr/>
            <a:endParaRPr lang="zh-Hant-TW" dirty="0"/>
          </a:p>
          <a:p>
            <a:pPr/>
            <a:r>
              <a:rPr lang="zh-Hant-TW" dirty="0"/>
              <a:t>這裡我想特別講一個修掉的建模錯誤，因為它最能說明這一層的邊界在哪裡。來源鏈只放「指令」的出處，不放「證據」的出處。Agent 為了查證而呼叫帳務系統，回傳的是事實不是命令，所以它不進來源鏈；最初我把內部查證也當成不可信的外部通道，結果每一件「查證後退費」都被擋掉，誤攔率直接爆掉。反過來，PDF 備註、被竄改的標準作業程序、記憶裡的「以後都直接停話」，這些是動作的理由來源，一定要進鏈。這條邊界有一個具名的迴歸測試守著。</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G2 是政策裁決，而它刻意不使用 LLM。這是這份提案最容易被追問的設計決定，我直接講三個理由。</a:t>
            </a:r>
          </a:p>
          <a:p>
            <a:pPr/>
            <a:endParaRPr lang="zh-Hant-TW" dirty="0"/>
          </a:p>
          <a:p>
            <a:pPr/>
            <a:r>
              <a:rPr lang="zh-Hant-TW" dirty="0"/>
              <a:t>可稽核：主管機關要的是「依據第幾條」，不是「模型認為風險比較高」。不可繞過：LLM 的判斷可以被提示詞影響，用 LLM 去守 LLM，等於把攻擊面留在原地。可重現：同樣的輸入必然得到同樣的輸出，而這是所有量測的前提——如果裁決層本身不可重現，後面所有的對照組數字都沒有意義。</a:t>
            </a:r>
          </a:p>
          <a:p>
            <a:pPr/>
            <a:endParaRPr lang="zh-Hant-TW" dirty="0"/>
          </a:p>
          <a:p>
            <a:pPr/>
            <a:r>
              <a:rPr lang="zh-Hant-TW" dirty="0"/>
              <a:t>第二個重點是，風險是函式，不是常數。基礎風險只是起點，十三條規則各自可以升級它，最後取最高的那一級；風險到「高」一律轉需人工核准，到「禁止」則直接不允許。舉一個具體例子：同一個變更資費的動作，在沒有綁約時自動放行，在綁約期內被 AG-24 升到高，進入核准佇列。差別來自帳戶狀態，不是來自 Agent 說了什麼。</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G3 是後果預演，而它的價值在這兩個數字的落差上。Agent 在批次匯出的請求上申報影響五十筆；影子環境乾跑之後，實際撈出來是兩百四十二筆。</a:t>
            </a:r>
          </a:p>
          <a:p>
            <a:pPr/>
            <a:endParaRPr lang="zh-Hant-TW" dirty="0"/>
          </a:p>
          <a:p>
            <a:pPr/>
            <a:r>
              <a:rPr lang="zh-Hant-TW" dirty="0"/>
              <a:t>預演不是估算，是真的去撈。所以申報與實測的落差本身就是攻擊訊號——它觸發 AG-31 範圍逃逸，G3 把這個動作攔下。另外請注意，預演只讀不寫，執行才會真的生效。</a:t>
            </a:r>
          </a:p>
          <a:p>
            <a:pPr/>
            <a:endParaRPr lang="zh-Hant-TW" dirty="0"/>
          </a:p>
          <a:p>
            <a:pPr/>
            <a:r>
              <a:rPr lang="zh-Hant-TW" dirty="0"/>
              <a:t>拿掉這一關會怎樣？低報筆數的批次匯出就會騙過申報審查，有害放行率從零升到百分之八點七。這一頁還有另一條規則值得一提：AG-30 規定不可回復的動作永遠需要人工核准，無論規模。資料匯出與補發 SIM 卡在預演裡被標記為不可回復，所以連一筆的匯出也要人簽名；退費反而是可回復的，因為有七十二小時的追回時窗。決定要不要簽名的是可回復性，不是金額。</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G4 的證據包裡有六條證據：來源鏈兩條，說明指令從哪一個通道進來；預演數字三條，涵蓋影響範圍、可回復性與個資欄位；還有一條是 Agent 自己的推理摘要。</a:t>
            </a:r>
          </a:p>
          <a:p>
            <a:pPr/>
            <a:endParaRPr lang="zh-Hant-TW" dirty="0"/>
          </a:p>
          <a:p>
            <a:pPr/>
            <a:r>
              <a:rPr lang="zh-Hant-TW" dirty="0"/>
              <a:t>那條推理的權重是零，並且附上警語：未經驗證的模型輸出，不得作為核准唯一依據。這是刻意的。證據包的設計目標是讓主管在十五秒內做出有依據的決定，而不是讀一段有說服力的敘述——所以核准者該看的是規則條文原文、來源鏈與預演數字。</a:t>
            </a:r>
          </a:p>
          <a:p>
            <a:pPr/>
            <a:endParaRPr lang="zh-Hant-TW" dirty="0"/>
          </a:p>
          <a:p>
            <a:pPr/>
            <a:r>
              <a:rPr lang="zh-Hant-TW" dirty="0"/>
              <a:t>畫面左邊這一張是核准介面的實際截圖，不是示意圖。右邊是它的四個區塊：影響評估、觸發規則與條文原文、指令來源鏈，還有最後那一塊 Agent 推理。</a:t>
            </a:r>
          </a:p>
          <a:p>
            <a:pPr/>
            <a:endParaRPr lang="zh-Hant-TW" dirty="0"/>
          </a:p>
          <a:p>
            <a:pPr/>
            <a:r>
              <a:rPr lang="zh-Hant-TW" dirty="0"/>
              <a:t>封存這一側是一條可驗證竄改的鏈。裁決、主管核准、實際執行三筆紀錄串成一條。我要強調完整率的判準：它算的是「可回溯」，不是「有紀錄」——每一筆執行都要能對到它的裁決，如果當初判定需要核准，就必須再對到核准紀錄。留了一堆紀錄但接不起來，不算完整。</a:t>
            </a:r>
          </a:p>
          <a:p>
            <a:pPr/>
            <a:endParaRPr lang="zh-Hant-TW" dirty="0"/>
          </a:p>
          <a:p>
            <a:pPr/>
            <a:r>
              <a:rPr lang="zh-Hant-TW" dirty="0"/>
              <a:t>最後一點：我用雜湊鏈而不是區塊鏈。雜湊鏈已經足以提供竄改偵測，不可否認性是由核准者身分綁定加上完整證據封存提供的；區塊鏈的成本與延遲對這個場景不成比例。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這一頁把前面所有機制收在同一條管線上。左邊是一筆五千元的退費，走完六關：G1 確認金額欄位存在且為正數；G0 判定來源鏈只有已驗證用戶，授權上限是高；G2 算出基礎風險中等，並依 AG-20 判定金流動作一律需核准；G3 乾跑出影響一個主體、金流減五千元、可回復；G4 進入佇列並組出六條證據；G5 在主管簽核之後才真的執行，核准與執行兩筆入鏈。</a:t>
            </a:r>
          </a:p>
          <a:p>
            <a:pPr/>
            <a:endParaRPr lang="zh-Hant-TW" dirty="0"/>
          </a:p>
          <a:p>
            <a:pPr/>
            <a:r>
              <a:rPr lang="zh-Hant-TW" dirty="0"/>
              <a:t>右邊是同一條管線處理那份夾帶指令的 PDF：G1 通過，G0 阻斷，後面四關根本沒有執行。</a:t>
            </a:r>
          </a:p>
          <a:p>
            <a:pPr/>
            <a:endParaRPr lang="zh-Hant-TW" dirty="0"/>
          </a:p>
          <a:p>
            <a:pPr/>
            <a:r>
              <a:rPr lang="zh-Hant-TW" dirty="0"/>
              <a:t>我想請各位注意的是，這兩個完全不同的結果來自同一條管線。差別只在來源鏈與規則命中，不在我為 Demo 另外寫了什麼。</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在進入數字之前，我想先讓各位看一眼它現在的樣子。</a:t>
            </a:r>
          </a:p>
          <a:p>
            <a:pPr/>
            <a:endParaRPr lang="zh-Hant-TW" dirty="0"/>
          </a:p>
          <a:p>
            <a:pPr/>
            <a:r>
              <a:rPr lang="zh-Hant-TW" dirty="0"/>
              <a:t>這是治理層的營運中心，畫面上是實際擷取的。服務一啟動就會回填四十五分鐘的當班歷史，之後每分鐘大約九件工單持續進來。當班摘要那一排是即時算出來的：這一班已受理兩百四十件、自動放行率七成三、送人工核准四十二件、關卡攔下二十二件。</a:t>
            </a:r>
          </a:p>
          <a:p>
            <a:pPr/>
            <a:endParaRPr lang="zh-Hant-TW" dirty="0"/>
          </a:p>
          <a:p>
            <a:pPr/>
            <a:r>
              <a:rPr lang="zh-Hant-TW" dirty="0"/>
              <a:t>下面那張圖是每分鐘來件的分布，綠色是放行、黃色是待核、紅色是攔下。右邊是席位與渠道，六個 AI 席位分別接行動客服、官網、語音、門市與營運後台。</a:t>
            </a:r>
          </a:p>
          <a:p>
            <a:pPr/>
            <a:endParaRPr lang="zh-Hant-TW" dirty="0"/>
          </a:p>
          <a:p>
            <a:pPr/>
            <a:r>
              <a:rPr lang="zh-Hant-TW" dirty="0"/>
              <a:t>我想強調的是，畫面上每一列裁決都點得開它的來源工單——對話逐字、附件原文、Agent 推理，還有那一筆的稽核紀錄。治理層在真實世界裡不是一顆事後檢查的按鈕，它坐在客戶對話、AI 席位、後台系統這條管路的中間。</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這是完整的對照表，八條 baseline 跑在同一套一百四十二條測試集上。</a:t>
            </a:r>
          </a:p>
          <a:p>
            <a:pPr/>
            <a:endParaRPr lang="zh-Hant-TW" dirty="0"/>
          </a:p>
          <a:p>
            <a:pPr/>
            <a:r>
              <a:rPr lang="zh-Hant-TW" dirty="0"/>
              <a:t>無治理的基線是損害上界：有害放行百分之百，稽核完整率零。模擬的 LLM 自我審查原本報有害放行百分之六十七點四，但換成真的呼叫 gpt-4o-mini 之後，真實數字是百分之二十一點七——模擬版把 LLM 講得比實際差，對外一律以真實數字為準，而且真實數字還帶著一個治理層量不到的問題：同一條情境跑三次，有百分之三點五會給出不同答案，決策延遲也長達一千兩百多毫秒。靜態黑白名單的有害放行是百分之四十一點三，誤攔率百分之二十三點七。完整的 AgentGate 是有害放行零、任務完成百分之九十六點八、誤攔百分之三點二、升級攔截與稽核完整都是百分之百。</a:t>
            </a:r>
          </a:p>
          <a:p>
            <a:pPr/>
            <a:endParaRPr lang="zh-Hant-TW" dirty="0"/>
          </a:p>
          <a:p>
            <a:pPr/>
            <a:r>
              <a:rPr lang="zh-Hant-TW" dirty="0"/>
              <a:t>我要各位特別看下面三列，因為它們是我自己給自己設的難題。拿掉來源信任，有害放行回到百分之二十三點九，而且升級攔截率直接歸零。拿掉後果預演，回到百分之八點七。最後一列是最壞情況的核准者——假設每一次人工核准都按了通過——有害放行仍然只有百分之八點七。</a:t>
            </a:r>
          </a:p>
          <a:p>
            <a:pPr/>
            <a:endParaRPr lang="zh-Hant-TW" dirty="0"/>
          </a:p>
          <a:p>
            <a:pPr/>
            <a:r>
              <a:rPr lang="zh-Hant-TW" dirty="0"/>
              <a:t>誤攔率這裡我要多講一句：百分之三點二全部是核准者對三件缺少知悉紀錄案子的正確駁回，閘門本身的誤攔率是零——這代表新增的十二條「附件加明確確認」正常業務全部順利通過，我不是靠放鬆規則把數字做低的。</a:t>
            </a:r>
          </a:p>
          <a:p>
            <a:pPr/>
            <a:endParaRPr lang="zh-Hant-TW" dirty="0"/>
          </a:p>
          <a:p>
            <a:pPr/>
            <a:r>
              <a:rPr lang="zh-Hant-TW" dirty="0"/>
              <a:t>也請看誠實邊界：模擬版 B1 用情境標註近似偵測能力，真實版才是打真的模型；核准者是確定性模擬；整套測試集是自建合成資料。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這一頁把消融單獨拉出來講，因為它回答的是「五道關卡是不是堆疊出來的架構美感」。</a:t>
            </a:r>
          </a:p>
          <a:p>
            <a:pPr/>
            <a:endParaRPr lang="zh-Hant-TW" dirty="0"/>
          </a:p>
          <a:p>
            <a:pPr/>
            <a:r>
              <a:rPr lang="zh-Hant-TW" dirty="0"/>
              <a:t>拿掉 G0，有害放行從零回到百分之二十三點九：注入的假退費、SIM 補發與記憶投毒的停話全部變成看起來很正常的例行核准案，而升級攔截率歸零。拿掉 G3，回到百分之八點七：低報筆數的批次匯出與連鎖斷話的退費會騙過申報審查，範圍逃逸不再被實測抓到。這兩條就是來源信任分級與後果預演各自承擔的真實工作。</a:t>
            </a:r>
          </a:p>
          <a:p>
            <a:pPr/>
            <a:endParaRPr lang="zh-Hant-TW" dirty="0"/>
          </a:p>
          <a:p>
            <a:pPr/>
            <a:r>
              <a:rPr lang="zh-Hant-TW" dirty="0"/>
              <a:t>而讓這兩個數字站得住腳的，是消融開關長在正式路徑上。關掉來源信任、關掉後果預演的那兩個開關，就是對照組本身，也是現場示範時當場關掉關卡用的同一條路徑。對照組不是另外寫一套模擬器，而是同一條管線關掉一關——這是消融數字可信的前提。</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這一頁我刻意不放在附錄。以下每一條限制，在程式碼裡都有對應的常數或測試。</a:t>
            </a:r>
          </a:p>
          <a:p>
            <a:pPr/>
            <a:endParaRPr lang="zh-Hant-TW" dirty="0"/>
          </a:p>
          <a:p>
            <a:pPr/>
            <a:r>
              <a:rPr lang="zh-Hant-TW" dirty="0"/>
              <a:t>Demo 中的電信後台是影子環境，不是任何真實營運系統。測試集是自建合成資料，不是真實客服紀錄。模擬版 B1 以情境標註近似偵測能力，真實版才是打真的 gpt-4o-mini；核准者是確定性模擬。所有數字都未經任何企業實地驗證，我也不宣稱與中華電信有任何既有的合作關係。公開 agent benchmark 的可得性驗證已經完成——我用 AgentDojo 重跑了來源信任這一條規則，但那只驗證了六道關卡裡的一道，沒有退費、沒有補發 SIM、沒有影子環境、沒有核准者，三十個案例的統計不確定性也很大，我不會把它講成「AgentGate 在公開 benchmark 上的成績」。</a:t>
            </a:r>
          </a:p>
          <a:p>
            <a:pPr/>
            <a:endParaRPr lang="zh-Hant-TW" dirty="0"/>
          </a:p>
          <a:p>
            <a:pPr/>
            <a:r>
              <a:rPr lang="zh-Hant-TW" dirty="0"/>
              <a:t>我想說的是，主動揭露的邊界，是這些數字唯一的可信來源。另外，多租戶的 SaaS 營運面與真實系統串接是我明列的不做項目，核准介面的十五秒決策目標還沒有做過真人計時，這兩件事我都會直接講，不會等評審問。</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Hant-TW" dirty="0"/>
              <a:t>最後談落地。</a:t>
            </a:r>
          </a:p>
          <a:p>
            <a:pPr/>
            <a:endParaRPr lang="zh-Hant-TW" dirty="0"/>
          </a:p>
          <a:p>
            <a:pPr/>
            <a:r>
              <a:rPr lang="zh-Hant-TW" dirty="0"/>
              <a:t>第一，買方明確：是中華電信自身，以及它的企業客戶。產品定位是企業級的 AI Agent 動作治理層，不是內容過濾器，所以它不與既有的內容安全產品競爭。</a:t>
            </a:r>
          </a:p>
          <a:p>
            <a:pPr/>
            <a:endParaRPr lang="zh-Hant-TW" dirty="0"/>
          </a:p>
          <a:p>
            <a:pPr/>
            <a:r>
              <a:rPr lang="zh-Hant-TW" dirty="0"/>
              <a:t>第二，也是我認為最關鍵的一點：核准者的身分驗證，介接的是中華電信與其他四大電信業者共同推動、真實存在的「Mobile ID 行動身分識別」服務，讓「誰簽的名」這件事有電信實名認證的信任根，而不是可以被轉發的 App 推播。這是電信業者獨有的條件，別人做這一層做不到這個強度；但我要說清楚，這是介接規劃，我沒有跟中華電信談過合作。</a:t>
            </a:r>
          </a:p>
          <a:p>
            <a:pPr/>
            <a:endParaRPr lang="zh-Hant-TW" dirty="0"/>
          </a:p>
          <a:p>
            <a:pPr/>
            <a:r>
              <a:rPr lang="zh-Hant-TW" dirty="0"/>
              <a:t>第三，ROI 我已經算出實際數字：以七個受治理 Agent 席位、實測的當班流量推算，基準情境年度效益三千五百二十四萬元，穩態年化投資報酬率百分之兩百六十四點五，回收期一點三個月。但我也把不成立的條件寫在同一張投影片上——保守情境不會回本，年度動作量低於七十萬件、每分鐘不到一點三五件的企業，不值得買這一層。</a:t>
            </a:r>
          </a:p>
          <a:p>
            <a:pPr/>
            <a:endParaRPr lang="zh-Hant-TW" dirty="0"/>
          </a:p>
          <a:p>
            <a:pPr/>
            <a:r>
              <a:rPr lang="zh-Hant-TW" dirty="0"/>
              <a:t>永續構面上，可信賴 AI 屬於 ESG 的治理面向，同時減少 AI 誤動作造成的重工與資源浪費。</a:t>
            </a:r>
          </a:p>
          <a:p>
            <a:pPr/>
            <a:endParaRPr lang="zh-Hant-TW" dirty="0"/>
          </a:p>
          <a:p>
            <a:pPr/>
            <a:r>
              <a:rPr lang="zh-Hant-TW" dirty="0"/>
              <a:t>收在一句話：中華電信要讓 Agent 去碰千萬用戶的帳務，就需要這一層——它讓企業第一次敢把「動手」的權限交給 Agent。謝謝各位。</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gentgat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gentgat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0478ccc43fb67a0.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440dfa537cc931e.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e9108b5f551cf18.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4d2c4b58860655.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49c39b23fdf586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8953500" y="1428750"/>
            <a:ext cx="2552700" cy="3829050"/>
            <a:chOff x="8953500" y="1428750"/>
            <a:chExt cx="2552700" cy="3829050"/>
          </a:xfrm>
        </p:grpSpPr>
        <p:pic>
          <p:nvPicPr>
            <p:cNvPr id="2" name="Image 2"/>
            <p:cNvPicPr>
              <a:picLocks noChangeAspect="1"/>
            </p:cNvPicPr>
            <p:nvPr/>
          </p:nvPicPr>
          <p:blipFill>
            <a:blip r:embed="rId2"/>
            <a:stretch>
              <a:fillRect/>
            </a:stretch>
          </p:blipFill>
          <p:spPr>
            <a:xfrm>
              <a:off x="8953500" y="1428750"/>
              <a:ext cx="2552700" cy="3829050"/>
            </a:xfrm>
            <a:prstGeom prst="rect">
              <a:avLst/>
            </a:prstGeom>
          </p:spPr>
        </p:pic>
      </p:grpSp>
      <p:grpSp>
        <p:nvGrpSpPr>
          <p:cNvPr id="6" name="Group 6"/>
          <p:cNvGrpSpPr/>
          <p:nvPr/>
        </p:nvGrpSpPr>
        <p:grpSpPr>
          <a:xfrm>
            <a:off x="666750" y="1376362"/>
            <a:ext cx="7476309" cy="2932748"/>
            <a:chOff x="666750" y="1376362"/>
            <a:chExt cx="7476309" cy="2932748"/>
          </a:xfrm>
        </p:grpSpPr>
        <p:sp>
          <p:nvSpPr>
            <p:cNvPr id="4" name="TextBox 4"/>
            <p:cNvSpPr txBox="1"/>
            <p:nvPr/>
          </p:nvSpPr>
          <p:spPr>
            <a:xfrm>
              <a:off x="674370" y="1376362"/>
              <a:ext cx="7468689" cy="440055"/>
            </a:xfrm>
            <a:prstGeom prst="rect">
              <a:avLst/>
            </a:prstGeom>
            <a:noFill/>
            <a:ln>
              <a:noFill/>
            </a:ln>
          </p:spPr>
          <p:txBody>
            <a:bodyPr wrap="none" lIns="0" tIns="0" rIns="0" bIns="0" anchor="t" anchorCtr="0">
              <a:spAutoFit/>
            </a:bodyPr>
            <a:lstStyle/>
            <a:p>
              <a:pPr algn="l"/>
              <a:r>
                <a:rPr lang="zh-Hant-TW" sz="2250" dirty="0">
                  <a:solidFill>
                    <a:schemeClr val="accent5"/>
                  </a:solidFill>
                  <a:latin typeface="+mn-lt"/>
                  <a:ea typeface="+mn-ea"/>
                  <a:cs typeface="+mn-cs"/>
                </a:rPr>
                <a:t>2026 年企業導入 AI Agent 的瓶頸，已經不是模型能力</a:t>
              </a:r>
            </a:p>
          </p:txBody>
        </p:sp>
        <p:sp>
          <p:nvSpPr>
            <p:cNvPr id="5" name="TextBox 5"/>
            <p:cNvSpPr txBox="1"/>
            <p:nvPr/>
          </p:nvSpPr>
          <p:spPr>
            <a:xfrm>
              <a:off x="666750" y="1813560"/>
              <a:ext cx="5524500" cy="2495550"/>
            </a:xfrm>
            <a:prstGeom prst="rect">
              <a:avLst/>
            </a:prstGeom>
            <a:noFill/>
            <a:ln>
              <a:noFill/>
            </a:ln>
          </p:spPr>
          <p:txBody>
            <a:bodyPr wrap="none" lIns="0" tIns="0" rIns="0" bIns="0" anchor="t" anchorCtr="0">
              <a:spAutoFit/>
            </a:bodyPr>
            <a:lstStyle/>
            <a:p>
              <a:pPr algn="l">
                <a:lnSpc>
                  <a:spcPts val="8700"/>
                </a:lnSpc>
              </a:pPr>
              <a:r>
                <a:rPr lang="zh-Hant-TW" sz="7200" b="1" dirty="0">
                  <a:solidFill>
                    <a:schemeClr val="dk1"/>
                  </a:solidFill>
                  <a:effectLst>
                    <a:glow rad="66675">
                      <a:srgbClr val="4C9AFF">
                        <a:alpha val="40000"/>
                      </a:srgbClr>
                    </a:glow>
                  </a:effectLst>
                  <a:latin typeface="+mj-lt"/>
                  <a:ea typeface="+mj-ea"/>
                  <a:cs typeface="+mj-cs"/>
                </a:rPr>
                <a:t>而是沒有人敢</a:t>
              </a:r>
              <a:br/>
              <a:r>
                <a:rPr lang="zh-Hant-TW" sz="7200" b="1" dirty="0">
                  <a:solidFill>
                    <a:schemeClr val="dk1"/>
                  </a:solidFill>
                  <a:effectLst>
                    <a:glow rad="66675">
                      <a:srgbClr val="4C9AFF">
                        <a:alpha val="40000"/>
                      </a:srgbClr>
                    </a:glow>
                  </a:effectLst>
                  <a:latin typeface="+mj-lt"/>
                  <a:ea typeface="+mj-ea"/>
                  <a:cs typeface="+mj-cs"/>
                </a:rPr>
                <a:t>讓它</a:t>
              </a:r>
              <a:r>
                <a:rPr lang="zh-Hant-TW" sz="7200" b="1" dirty="0">
                  <a:solidFill>
                    <a:schemeClr val="accent1"/>
                  </a:solidFill>
                  <a:effectLst>
                    <a:glow rad="66675">
                      <a:srgbClr val="4C9AFF">
                        <a:alpha val="40000"/>
                      </a:srgbClr>
                    </a:glow>
                  </a:effectLst>
                  <a:latin typeface="+mj-lt"/>
                  <a:ea typeface="+mj-ea"/>
                  <a:cs typeface="+mj-cs"/>
                </a:rPr>
                <a:t>真的動手</a:t>
              </a:r>
            </a:p>
          </p:txBody>
        </p:sp>
      </p:grpSp>
      <p:grpSp>
        <p:nvGrpSpPr>
          <p:cNvPr id="10" name="Group 10"/>
          <p:cNvGrpSpPr/>
          <p:nvPr/>
        </p:nvGrpSpPr>
        <p:grpSpPr>
          <a:xfrm>
            <a:off x="669798" y="4419600"/>
            <a:ext cx="7288583" cy="1395984"/>
            <a:chOff x="669798" y="4419600"/>
            <a:chExt cx="7288583" cy="1395984"/>
          </a:xfrm>
        </p:grpSpPr>
        <p:sp>
          <p:nvSpPr>
            <p:cNvPr id="7" name="Rectangle 7"/>
            <p:cNvSpPr/>
            <p:nvPr/>
          </p:nvSpPr>
          <p:spPr>
            <a:xfrm>
              <a:off x="685800" y="4419600"/>
              <a:ext cx="1143000" cy="38100"/>
            </a:xfrm>
            <a:prstGeom prst="rect">
              <a:avLst/>
            </a:prstGeom>
            <a:gradFill>
              <a:gsLst>
                <a:gs pos="0">
                  <a:schemeClr val="accent1"/>
                </a:gs>
                <a:gs pos="100000">
                  <a:schemeClr val="accent3"/>
                </a:gs>
              </a:gsLst>
              <a:lin ang="0" scaled="1"/>
            </a:gradFill>
            <a:ln>
              <a:noFill/>
            </a:ln>
          </p:spPr>
        </p:sp>
        <p:sp>
          <p:nvSpPr>
            <p:cNvPr id="8" name="TextBox 8"/>
            <p:cNvSpPr txBox="1"/>
            <p:nvPr/>
          </p:nvSpPr>
          <p:spPr>
            <a:xfrm>
              <a:off x="669798" y="4479608"/>
              <a:ext cx="7288583"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AgentGate — AI Agent 可稽核治理層</a:t>
              </a:r>
            </a:p>
          </p:txBody>
        </p:sp>
        <p:sp>
          <p:nvSpPr>
            <p:cNvPr id="9" name="TextBox 9"/>
            <p:cNvSpPr txBox="1"/>
            <p:nvPr/>
          </p:nvSpPr>
          <p:spPr>
            <a:xfrm>
              <a:off x="676656" y="5101590"/>
              <a:ext cx="4704588" cy="713994"/>
            </a:xfrm>
            <a:prstGeom prst="rect">
              <a:avLst/>
            </a:prstGeom>
            <a:noFill/>
            <a:ln>
              <a:noFill/>
            </a:ln>
          </p:spPr>
          <p:txBody>
            <a:bodyPr wrap="none" lIns="0" tIns="0" rIns="0" bIns="0" anchor="t" anchorCtr="0">
              <a:spAutoFit/>
            </a:bodyPr>
            <a:lstStyle/>
            <a:p>
              <a:pPr algn="l">
                <a:lnSpc>
                  <a:spcPts val="2850"/>
                </a:lnSpc>
              </a:pPr>
              <a:r>
                <a:rPr lang="zh-Hant-TW" sz="1800" dirty="0">
                  <a:solidFill>
                    <a:schemeClr val="accent5"/>
                  </a:solidFill>
                  <a:latin typeface="+mn-lt"/>
                  <a:ea typeface="+mn-ea"/>
                  <a:cs typeface="+mn-cs"/>
                </a:rPr>
                <a:t>夾在 AI Agent 與真實系統之間的治理層</a:t>
              </a:r>
              <a:br/>
              <a:r>
                <a:rPr lang="zh-Hant-TW" sz="1800" dirty="0">
                  <a:solidFill>
                    <a:schemeClr val="accent5"/>
                  </a:solidFill>
                  <a:latin typeface="+mn-lt"/>
                  <a:ea typeface="+mn-ea"/>
                  <a:cs typeface="+mn-cs"/>
                </a:rPr>
                <a:t>每一個動作在執行前都必須逐關通過六道 Gate</a:t>
              </a:r>
            </a:p>
          </p:txBody>
        </p:sp>
      </p:grpSp>
      <p:sp>
        <p:nvSpPr>
          <p:cNvPr id="11" name="TextBox 11"/>
          <p:cNvSpPr txBox="1"/>
          <p:nvPr/>
        </p:nvSpPr>
        <p:spPr>
          <a:xfrm>
            <a:off x="679704" y="6099810"/>
            <a:ext cx="4325417"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2026 中華電信智慧創新應用大賽 ／ 智慧生活組 ／ 單人參賽</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26758"/>
            <a:ext cx="10248501" cy="616077"/>
            <a:chOff x="669798" y="726758"/>
            <a:chExt cx="10248501" cy="616077"/>
          </a:xfrm>
        </p:grpSpPr>
        <p:sp>
          <p:nvSpPr>
            <p:cNvPr id="2" name="TextBox 2"/>
            <p:cNvSpPr txBox="1"/>
            <p:nvPr/>
          </p:nvSpPr>
          <p:spPr>
            <a:xfrm>
              <a:off x="669798" y="726758"/>
              <a:ext cx="10248501"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 xml:space="preserve">五道關卡把有害放行壓到 </a:t>
              </a:r>
              <a:r>
                <a:rPr lang="zh-Hant-TW" sz="3150" b="1" dirty="0">
                  <a:solidFill>
                    <a:schemeClr val="accent3"/>
                  </a:solidFill>
                  <a:latin typeface="+mj-lt"/>
                  <a:ea typeface="+mj-ea"/>
                  <a:cs typeface="+mj-cs"/>
                </a:rPr>
                <a:t>0%</a:t>
              </a:r>
              <a:r>
                <a:rPr lang="zh-Hant-TW" sz="3150" b="1" dirty="0">
                  <a:solidFill>
                    <a:schemeClr val="dk1"/>
                  </a:solidFill>
                  <a:latin typeface="+mj-lt"/>
                  <a:ea typeface="+mj-ea"/>
                  <a:cs typeface="+mj-cs"/>
                </a:rPr>
                <a:t>，任務完成率保住 96.8%</a:t>
              </a:r>
            </a:p>
          </p:txBody>
        </p:sp>
      </p:grpSp>
      <p:grpSp>
        <p:nvGrpSpPr>
          <p:cNvPr id="9" name="Group 9"/>
          <p:cNvGrpSpPr/>
          <p:nvPr/>
        </p:nvGrpSpPr>
        <p:grpSpPr>
          <a:xfrm>
            <a:off x="666750" y="1714500"/>
            <a:ext cx="3371850" cy="2442401"/>
            <a:chOff x="666750" y="1714500"/>
            <a:chExt cx="3371850" cy="2442401"/>
          </a:xfrm>
        </p:grpSpPr>
        <p:sp>
          <p:nvSpPr>
            <p:cNvPr id="4" name="Line 4"/>
            <p:cNvSpPr/>
            <p:nvPr/>
          </p:nvSpPr>
          <p:spPr>
            <a:xfrm>
              <a:off x="685800" y="1714500"/>
              <a:ext cx="3352800" cy="9525"/>
            </a:xfrm>
            <a:custGeom>
              <a:avLst/>
              <a:gdLst/>
              <a:ahLst/>
              <a:cxnLst/>
              <a:rect l="l" t="t" r="r" b="b"/>
              <a:pathLst>
                <a:path w="3352800" h="9525">
                  <a:moveTo>
                    <a:pt x="0" y="0"/>
                  </a:moveTo>
                  <a:lnTo>
                    <a:pt x="3352800" y="0"/>
                  </a:lnTo>
                </a:path>
              </a:pathLst>
            </a:custGeom>
            <a:noFill/>
            <a:ln w="19050">
              <a:solidFill>
                <a:schemeClr val="accent1"/>
              </a:solidFill>
            </a:ln>
          </p:spPr>
        </p:sp>
        <p:sp>
          <p:nvSpPr>
            <p:cNvPr id="5" name="TextBox 5"/>
            <p:cNvSpPr txBox="1"/>
            <p:nvPr/>
          </p:nvSpPr>
          <p:spPr>
            <a:xfrm>
              <a:off x="678942" y="1873568"/>
              <a:ext cx="1757223"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HAR ／ 有害放行率</a:t>
              </a:r>
            </a:p>
          </p:txBody>
        </p:sp>
        <p:sp>
          <p:nvSpPr>
            <p:cNvPr id="6" name="TextBox 6"/>
            <p:cNvSpPr txBox="1"/>
            <p:nvPr/>
          </p:nvSpPr>
          <p:spPr>
            <a:xfrm>
              <a:off x="666750" y="2270760"/>
              <a:ext cx="2480645" cy="1390650"/>
            </a:xfrm>
            <a:prstGeom prst="rect">
              <a:avLst/>
            </a:prstGeom>
            <a:noFill/>
            <a:ln>
              <a:noFill/>
            </a:ln>
          </p:spPr>
          <p:txBody>
            <a:bodyPr wrap="none" lIns="0" tIns="0" rIns="0" bIns="0" anchor="t" anchorCtr="0">
              <a:spAutoFit/>
            </a:bodyPr>
            <a:lstStyle/>
            <a:p>
              <a:pPr algn="l"/>
              <a:r>
                <a:rPr lang="zh-Hant-TW" sz="7200" b="1" dirty="0">
                  <a:solidFill>
                    <a:schemeClr val="accent3"/>
                  </a:solidFill>
                  <a:effectLst>
                    <a:glow rad="57150">
                      <a:srgbClr val="2FD3A6">
                        <a:alpha val="38000"/>
                      </a:srgbClr>
                    </a:glow>
                  </a:effectLst>
                  <a:latin typeface="+mj-lt"/>
                  <a:ea typeface="+mj-ea"/>
                  <a:cs typeface="+mj-cs"/>
                </a:rPr>
                <a:t>0.0%</a:t>
              </a:r>
            </a:p>
          </p:txBody>
        </p:sp>
        <p:sp>
          <p:nvSpPr>
            <p:cNvPr id="7" name="TextBox 7"/>
            <p:cNvSpPr txBox="1"/>
            <p:nvPr/>
          </p:nvSpPr>
          <p:spPr>
            <a:xfrm>
              <a:off x="676656" y="3539490"/>
              <a:ext cx="2392985"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無治理基線為 100.0%</a:t>
              </a:r>
            </a:p>
          </p:txBody>
        </p:sp>
        <p:sp>
          <p:nvSpPr>
            <p:cNvPr id="8" name="TextBox 8"/>
            <p:cNvSpPr txBox="1"/>
            <p:nvPr/>
          </p:nvSpPr>
          <p:spPr>
            <a:xfrm>
              <a:off x="678942" y="3892868"/>
              <a:ext cx="3275895"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142 條測試集中，零筆有害動作抵達後台</a:t>
              </a:r>
            </a:p>
          </p:txBody>
        </p:sp>
      </p:grpSp>
      <p:grpSp>
        <p:nvGrpSpPr>
          <p:cNvPr id="15" name="Group 15"/>
          <p:cNvGrpSpPr/>
          <p:nvPr/>
        </p:nvGrpSpPr>
        <p:grpSpPr>
          <a:xfrm>
            <a:off x="4400550" y="1714500"/>
            <a:ext cx="3371850" cy="2442401"/>
            <a:chOff x="4400550" y="1714500"/>
            <a:chExt cx="3371850" cy="2442401"/>
          </a:xfrm>
        </p:grpSpPr>
        <p:sp>
          <p:nvSpPr>
            <p:cNvPr id="10" name="Line 10"/>
            <p:cNvSpPr/>
            <p:nvPr/>
          </p:nvSpPr>
          <p:spPr>
            <a:xfrm>
              <a:off x="4419600" y="1714500"/>
              <a:ext cx="3352800" cy="9525"/>
            </a:xfrm>
            <a:custGeom>
              <a:avLst/>
              <a:gdLst/>
              <a:ahLst/>
              <a:cxnLst/>
              <a:rect l="l" t="t" r="r" b="b"/>
              <a:pathLst>
                <a:path w="3352800" h="9525">
                  <a:moveTo>
                    <a:pt x="0" y="0"/>
                  </a:moveTo>
                  <a:lnTo>
                    <a:pt x="3352800" y="0"/>
                  </a:lnTo>
                </a:path>
              </a:pathLst>
            </a:custGeom>
            <a:noFill/>
            <a:ln w="19050">
              <a:solidFill>
                <a:schemeClr val="accent1"/>
              </a:solidFill>
            </a:ln>
          </p:spPr>
        </p:sp>
        <p:sp>
          <p:nvSpPr>
            <p:cNvPr id="11" name="TextBox 11"/>
            <p:cNvSpPr txBox="1"/>
            <p:nvPr/>
          </p:nvSpPr>
          <p:spPr>
            <a:xfrm>
              <a:off x="4412742" y="1873568"/>
              <a:ext cx="1757223"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TCR ／ 任務完成率</a:t>
              </a:r>
            </a:p>
          </p:txBody>
        </p:sp>
        <p:sp>
          <p:nvSpPr>
            <p:cNvPr id="12" name="TextBox 12"/>
            <p:cNvSpPr txBox="1"/>
            <p:nvPr/>
          </p:nvSpPr>
          <p:spPr>
            <a:xfrm>
              <a:off x="4400550" y="2270760"/>
              <a:ext cx="3040395" cy="1390650"/>
            </a:xfrm>
            <a:prstGeom prst="rect">
              <a:avLst/>
            </a:prstGeom>
            <a:noFill/>
            <a:ln>
              <a:noFill/>
            </a:ln>
          </p:spPr>
          <p:txBody>
            <a:bodyPr wrap="none" lIns="0" tIns="0" rIns="0" bIns="0" anchor="t" anchorCtr="0">
              <a:spAutoFit/>
            </a:bodyPr>
            <a:lstStyle/>
            <a:p>
              <a:pPr algn="l"/>
              <a:r>
                <a:rPr lang="zh-Hant-TW" sz="7200" b="1" dirty="0">
                  <a:solidFill>
                    <a:schemeClr val="accent1"/>
                  </a:solidFill>
                  <a:latin typeface="+mj-lt"/>
                  <a:ea typeface="+mj-ea"/>
                  <a:cs typeface="+mj-cs"/>
                </a:rPr>
                <a:t>96.8%</a:t>
              </a:r>
            </a:p>
          </p:txBody>
        </p:sp>
        <p:sp>
          <p:nvSpPr>
            <p:cNvPr id="13" name="TextBox 13"/>
            <p:cNvSpPr txBox="1"/>
            <p:nvPr/>
          </p:nvSpPr>
          <p:spPr>
            <a:xfrm>
              <a:off x="4410456" y="3539490"/>
              <a:ext cx="2199132"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正常業務仍然走得完</a:t>
              </a:r>
            </a:p>
          </p:txBody>
        </p:sp>
        <p:sp>
          <p:nvSpPr>
            <p:cNvPr id="14" name="TextBox 14"/>
            <p:cNvSpPr txBox="1"/>
            <p:nvPr/>
          </p:nvSpPr>
          <p:spPr>
            <a:xfrm>
              <a:off x="4412742" y="3892868"/>
              <a:ext cx="2834960"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治理沒有把 Agent 關回問答機器人</a:t>
              </a:r>
            </a:p>
          </p:txBody>
        </p:sp>
      </p:grpSp>
      <p:grpSp>
        <p:nvGrpSpPr>
          <p:cNvPr id="21" name="Group 21"/>
          <p:cNvGrpSpPr/>
          <p:nvPr/>
        </p:nvGrpSpPr>
        <p:grpSpPr>
          <a:xfrm>
            <a:off x="8134350" y="1714500"/>
            <a:ext cx="3371850" cy="2442401"/>
            <a:chOff x="8134350" y="1714500"/>
            <a:chExt cx="3371850" cy="2442401"/>
          </a:xfrm>
        </p:grpSpPr>
        <p:sp>
          <p:nvSpPr>
            <p:cNvPr id="16" name="Line 16"/>
            <p:cNvSpPr/>
            <p:nvPr/>
          </p:nvSpPr>
          <p:spPr>
            <a:xfrm>
              <a:off x="8153400" y="1714500"/>
              <a:ext cx="3352800" cy="9525"/>
            </a:xfrm>
            <a:custGeom>
              <a:avLst/>
              <a:gdLst/>
              <a:ahLst/>
              <a:cxnLst/>
              <a:rect l="l" t="t" r="r" b="b"/>
              <a:pathLst>
                <a:path w="3352800" h="9525">
                  <a:moveTo>
                    <a:pt x="0" y="0"/>
                  </a:moveTo>
                  <a:lnTo>
                    <a:pt x="3352800" y="0"/>
                  </a:lnTo>
                </a:path>
              </a:pathLst>
            </a:custGeom>
            <a:noFill/>
            <a:ln w="19050">
              <a:solidFill>
                <a:schemeClr val="accent1"/>
              </a:solidFill>
            </a:ln>
          </p:spPr>
        </p:sp>
        <p:sp>
          <p:nvSpPr>
            <p:cNvPr id="17" name="TextBox 17"/>
            <p:cNvSpPr txBox="1"/>
            <p:nvPr/>
          </p:nvSpPr>
          <p:spPr>
            <a:xfrm>
              <a:off x="8146542" y="1873568"/>
              <a:ext cx="1832820"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DL p95 ／ 決策延遲</a:t>
              </a:r>
            </a:p>
          </p:txBody>
        </p:sp>
        <p:sp>
          <p:nvSpPr>
            <p:cNvPr id="18" name="TextBox 18"/>
            <p:cNvSpPr txBox="1"/>
            <p:nvPr/>
          </p:nvSpPr>
          <p:spPr>
            <a:xfrm>
              <a:off x="8134350" y="2270760"/>
              <a:ext cx="2785963" cy="1390650"/>
            </a:xfrm>
            <a:prstGeom prst="rect">
              <a:avLst/>
            </a:prstGeom>
            <a:noFill/>
            <a:ln>
              <a:noFill/>
            </a:ln>
          </p:spPr>
          <p:txBody>
            <a:bodyPr wrap="none" lIns="0" tIns="0" rIns="0" bIns="0" anchor="t" anchorCtr="0">
              <a:spAutoFit/>
            </a:bodyPr>
            <a:lstStyle/>
            <a:p>
              <a:pPr algn="l"/>
              <a:r>
                <a:rPr lang="zh-Hant-TW" sz="7200" b="1" dirty="0">
                  <a:solidFill>
                    <a:schemeClr val="accent1"/>
                  </a:solidFill>
                  <a:latin typeface="+mj-lt"/>
                  <a:ea typeface="+mj-ea"/>
                  <a:cs typeface="+mj-cs"/>
                </a:rPr>
                <a:t>0.12</a:t>
              </a:r>
              <a:r>
                <a:rPr lang="zh-Hant-TW" sz="2250" b="1" dirty="0">
                  <a:solidFill>
                    <a:schemeClr val="accent1"/>
                  </a:solidFill>
                  <a:latin typeface="Consolas"/>
                  <a:ea typeface="Consolas"/>
                  <a:cs typeface="Consolas"/>
                </a:rPr>
                <a:t xml:space="preserve"> ms</a:t>
              </a:r>
            </a:p>
          </p:txBody>
        </p:sp>
        <p:sp>
          <p:nvSpPr>
            <p:cNvPr id="19" name="TextBox 19"/>
            <p:cNvSpPr txBox="1"/>
            <p:nvPr/>
          </p:nvSpPr>
          <p:spPr>
            <a:xfrm>
              <a:off x="8144256" y="3539490"/>
              <a:ext cx="2683764"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確定性規則，不呼叫模型</a:t>
              </a:r>
            </a:p>
          </p:txBody>
        </p:sp>
        <p:sp>
          <p:nvSpPr>
            <p:cNvPr id="20" name="TextBox 20"/>
            <p:cNvSpPr txBox="1"/>
            <p:nvPr/>
          </p:nvSpPr>
          <p:spPr>
            <a:xfrm>
              <a:off x="8146542" y="3892868"/>
              <a:ext cx="2558034"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治理層本身不成為新的延遲來源</a:t>
              </a:r>
            </a:p>
          </p:txBody>
        </p:sp>
      </p:grpSp>
      <p:grpSp>
        <p:nvGrpSpPr>
          <p:cNvPr id="25" name="Group 25"/>
          <p:cNvGrpSpPr/>
          <p:nvPr/>
        </p:nvGrpSpPr>
        <p:grpSpPr>
          <a:xfrm>
            <a:off x="685800" y="4476750"/>
            <a:ext cx="10820400" cy="959167"/>
            <a:chOff x="685800" y="4476750"/>
            <a:chExt cx="10820400" cy="959167"/>
          </a:xfrm>
        </p:grpSpPr>
        <p:sp>
          <p:nvSpPr>
            <p:cNvPr id="22" name="Rectangle 22"/>
            <p:cNvSpPr/>
            <p:nvPr/>
          </p:nvSpPr>
          <p:spPr>
            <a:xfrm>
              <a:off x="685800" y="4476750"/>
              <a:ext cx="10820400" cy="857250"/>
            </a:xfrm>
            <a:prstGeom prst="rect">
              <a:avLst/>
            </a:prstGeom>
            <a:solidFill>
              <a:schemeClr val="accent1">
                <a:alpha val="8000"/>
              </a:schemeClr>
            </a:solidFill>
            <a:ln>
              <a:noFill/>
            </a:ln>
          </p:spPr>
        </p:sp>
        <p:sp>
          <p:nvSpPr>
            <p:cNvPr id="23" name="Rectangle 23"/>
            <p:cNvSpPr/>
            <p:nvPr/>
          </p:nvSpPr>
          <p:spPr>
            <a:xfrm>
              <a:off x="685800" y="4476750"/>
              <a:ext cx="38100" cy="857250"/>
            </a:xfrm>
            <a:prstGeom prst="rect">
              <a:avLst/>
            </a:prstGeom>
            <a:solidFill>
              <a:schemeClr val="accent1"/>
            </a:solidFill>
            <a:ln>
              <a:noFill/>
            </a:ln>
          </p:spPr>
        </p:sp>
        <p:sp>
          <p:nvSpPr>
            <p:cNvPr id="24" name="TextBox 24"/>
            <p:cNvSpPr txBox="1"/>
            <p:nvPr/>
          </p:nvSpPr>
          <p:spPr>
            <a:xfrm>
              <a:off x="979170" y="4633912"/>
              <a:ext cx="8123872" cy="802005"/>
            </a:xfrm>
            <a:prstGeom prst="rect">
              <a:avLst/>
            </a:prstGeom>
            <a:noFill/>
            <a:ln>
              <a:noFill/>
            </a:ln>
          </p:spPr>
          <p:txBody>
            <a:bodyPr wrap="none" lIns="0" tIns="0" rIns="0" bIns="0" anchor="t" anchorCtr="0">
              <a:spAutoFit/>
            </a:bodyPr>
            <a:lstStyle/>
            <a:p>
              <a:pPr algn="l">
                <a:lnSpc>
                  <a:spcPts val="2850"/>
                </a:lnSpc>
              </a:pPr>
              <a:r>
                <a:rPr lang="zh-Hant-TW" sz="2250" dirty="0">
                  <a:solidFill>
                    <a:schemeClr val="dk1"/>
                  </a:solidFill>
                  <a:latin typeface="+mn-lt"/>
                  <a:ea typeface="+mn-ea"/>
                  <a:cs typeface="+mn-cs"/>
                </a:rPr>
                <a:t>治理不是把 Agent 關回問答機器人。安全與效用可以同時成立，</a:t>
              </a:r>
              <a:br/>
              <a:r>
                <a:rPr lang="zh-Hant-TW" sz="2250" dirty="0">
                  <a:solidFill>
                    <a:schemeClr val="dk1"/>
                  </a:solidFill>
                  <a:latin typeface="+mn-lt"/>
                  <a:ea typeface="+mn-ea"/>
                  <a:cs typeface="+mn-cs"/>
                </a:rPr>
                <a:t>而付出的代價被誠實標在同一張表上。</a:t>
              </a:r>
            </a:p>
          </p:txBody>
        </p:sp>
      </p:grpSp>
      <p:grpSp>
        <p:nvGrpSpPr>
          <p:cNvPr id="28" name="Group 28"/>
          <p:cNvGrpSpPr/>
          <p:nvPr/>
        </p:nvGrpSpPr>
        <p:grpSpPr>
          <a:xfrm>
            <a:off x="678942" y="5721668"/>
            <a:ext cx="9067952" cy="574738"/>
            <a:chOff x="678942" y="5721668"/>
            <a:chExt cx="9067952" cy="574738"/>
          </a:xfrm>
        </p:grpSpPr>
        <p:sp>
          <p:nvSpPr>
            <p:cNvPr id="26" name="TextBox 26"/>
            <p:cNvSpPr txBox="1"/>
            <p:nvPr/>
          </p:nvSpPr>
          <p:spPr>
            <a:xfrm>
              <a:off x="678942" y="5721668"/>
              <a:ext cx="8391792"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代價：誤攔 3.2%，拆成兩半 —— 閘門本身 0.0%，全部來自核准者對三件缺少知悉紀錄案子的正確駁回。</a:t>
              </a:r>
            </a:p>
          </p:txBody>
        </p:sp>
        <p:sp>
          <p:nvSpPr>
            <p:cNvPr id="27" name="TextBox 27"/>
            <p:cNvSpPr txBox="1"/>
            <p:nvPr/>
          </p:nvSpPr>
          <p:spPr>
            <a:xfrm>
              <a:off x="679704" y="6061710"/>
              <a:ext cx="9067190"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來源：自建 142 條電信客服情境測試集（含 12 條帶附件的正常業務），B0 無治理基線與 B3 完整五關卡對照（可重跑）</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26758"/>
            <a:ext cx="5039630" cy="1130427"/>
            <a:chOff x="669798" y="726758"/>
            <a:chExt cx="5039630" cy="1130427"/>
          </a:xfrm>
        </p:grpSpPr>
        <p:sp>
          <p:nvSpPr>
            <p:cNvPr id="2" name="TextBox 2"/>
            <p:cNvSpPr txBox="1"/>
            <p:nvPr/>
          </p:nvSpPr>
          <p:spPr>
            <a:xfrm>
              <a:off x="669798" y="726758"/>
              <a:ext cx="5039630" cy="1130427"/>
            </a:xfrm>
            <a:prstGeom prst="rect">
              <a:avLst/>
            </a:prstGeom>
            <a:noFill/>
            <a:ln>
              <a:noFill/>
            </a:ln>
          </p:spPr>
          <p:txBody>
            <a:bodyPr wrap="none" lIns="0" tIns="0" rIns="0" bIns="0" anchor="t" anchorCtr="0">
              <a:spAutoFit/>
            </a:bodyPr>
            <a:lstStyle/>
            <a:p>
              <a:pPr algn="l">
                <a:lnSpc>
                  <a:spcPts val="4050"/>
                </a:lnSpc>
              </a:pPr>
              <a:r>
                <a:rPr lang="zh-Hant-TW" sz="3150" b="1" dirty="0">
                  <a:solidFill>
                    <a:schemeClr val="dk1"/>
                  </a:solidFill>
                  <a:latin typeface="+mj-lt"/>
                  <a:ea typeface="+mj-ea"/>
                  <a:cs typeface="+mj-cs"/>
                </a:rPr>
                <a:t>能查詢資料的 Agent 是玩具</a:t>
              </a:r>
              <a:br/>
              <a:r>
                <a:rPr lang="zh-Hant-TW" sz="3150" b="1" dirty="0">
                  <a:solidFill>
                    <a:schemeClr val="dk1"/>
                  </a:solidFill>
                  <a:latin typeface="+mj-lt"/>
                  <a:ea typeface="+mj-ea"/>
                  <a:cs typeface="+mj-cs"/>
                </a:rPr>
                <a:t>能</a:t>
              </a:r>
              <a:r>
                <a:rPr lang="zh-Hant-TW" sz="3150" b="1" dirty="0">
                  <a:solidFill>
                    <a:schemeClr val="accent1"/>
                  </a:solidFill>
                  <a:latin typeface="+mj-lt"/>
                  <a:ea typeface="+mj-ea"/>
                  <a:cs typeface="+mj-cs"/>
                </a:rPr>
                <a:t>動手</a:t>
              </a:r>
              <a:r>
                <a:rPr lang="zh-Hant-TW" sz="3150" b="1" dirty="0">
                  <a:solidFill>
                    <a:schemeClr val="dk1"/>
                  </a:solidFill>
                  <a:latin typeface="+mj-lt"/>
                  <a:ea typeface="+mj-ea"/>
                  <a:cs typeface="+mj-cs"/>
                </a:rPr>
                <a:t>的 Agent 才有價值</a:t>
              </a:r>
            </a:p>
          </p:txBody>
        </p:sp>
      </p:grpSp>
      <p:grpSp>
        <p:nvGrpSpPr>
          <p:cNvPr id="12" name="Group 12"/>
          <p:cNvGrpSpPr/>
          <p:nvPr/>
        </p:nvGrpSpPr>
        <p:grpSpPr>
          <a:xfrm>
            <a:off x="685800" y="2000250"/>
            <a:ext cx="5219700" cy="1619250"/>
            <a:chOff x="685800" y="2000250"/>
            <a:chExt cx="5219700" cy="1619250"/>
          </a:xfrm>
        </p:grpSpPr>
        <p:sp>
          <p:nvSpPr>
            <p:cNvPr id="4" name="Rectangle 4"/>
            <p:cNvSpPr/>
            <p:nvPr/>
          </p:nvSpPr>
          <p:spPr>
            <a:xfrm>
              <a:off x="685800" y="2000250"/>
              <a:ext cx="5219700" cy="1619250"/>
            </a:xfrm>
            <a:prstGeom prst="rect">
              <a:avLst/>
            </a:prstGeom>
            <a:solidFill>
              <a:schemeClr val="lt2"/>
            </a:solidFill>
            <a:ln>
              <a:noFill/>
            </a:ln>
          </p:spPr>
        </p:sp>
        <p:sp>
          <p:nvSpPr>
            <p:cNvPr id="5" name="Rectangle 5"/>
            <p:cNvSpPr/>
            <p:nvPr/>
          </p:nvSpPr>
          <p:spPr>
            <a:xfrm>
              <a:off x="685800" y="2000250"/>
              <a:ext cx="5219700" cy="19050"/>
            </a:xfrm>
            <a:prstGeom prst="rect">
              <a:avLst/>
            </a:prstGeom>
            <a:solidFill>
              <a:schemeClr val="accent6"/>
            </a:solidFill>
            <a:ln>
              <a:noFill/>
            </a:ln>
          </p:spPr>
        </p:sp>
        <p:grpSp>
          <p:nvGrpSpPr>
            <p:cNvPr id="8" name="Group 8"/>
            <p:cNvGrpSpPr/>
            <p:nvPr/>
          </p:nvGrpSpPr>
          <p:grpSpPr>
            <a:xfrm>
              <a:off x="1031081" y="2307431"/>
              <a:ext cx="242888" cy="242888"/>
              <a:chOff x="1031081" y="2307431"/>
              <a:chExt cx="242888" cy="242888"/>
            </a:xfrm>
          </p:grpSpPr>
          <p:sp>
            <p:nvSpPr>
              <p:cNvPr id="6" name="Freeform 6"/>
              <p:cNvSpPr/>
              <p:nvPr/>
            </p:nvSpPr>
            <p:spPr>
              <a:xfrm>
                <a:off x="1031081" y="2307431"/>
                <a:ext cx="242888" cy="242888"/>
              </a:xfrm>
              <a:custGeom>
                <a:avLst/>
                <a:gdLst/>
                <a:ahLst/>
                <a:cxnLst/>
                <a:rect l="l" t="t" r="r" b="b"/>
                <a:pathLst>
                  <a:path w="242888" h="242888">
                    <a:moveTo>
                      <a:pt x="0" y="121444"/>
                    </a:moveTo>
                    <a:cubicBezTo>
                      <a:pt x="0" y="188516"/>
                      <a:pt x="54372" y="242888"/>
                      <a:pt x="121444" y="242888"/>
                    </a:cubicBezTo>
                    <a:cubicBezTo>
                      <a:pt x="188516" y="242888"/>
                      <a:pt x="242888" y="188516"/>
                      <a:pt x="242888" y="121444"/>
                    </a:cubicBezTo>
                    <a:cubicBezTo>
                      <a:pt x="242888" y="54372"/>
                      <a:pt x="188516" y="0"/>
                      <a:pt x="121444" y="0"/>
                    </a:cubicBezTo>
                    <a:cubicBezTo>
                      <a:pt x="54372" y="0"/>
                      <a:pt x="0" y="54372"/>
                      <a:pt x="0" y="121444"/>
                    </a:cubicBezTo>
                  </a:path>
                </a:pathLst>
              </a:custGeom>
              <a:noFill/>
              <a:ln w="26988">
                <a:solidFill>
                  <a:srgbClr val="94A5BC"/>
                </a:solidFill>
              </a:ln>
            </p:spPr>
          </p:sp>
          <p:sp>
            <p:nvSpPr>
              <p:cNvPr id="7" name="Freeform 7"/>
              <p:cNvSpPr/>
              <p:nvPr/>
            </p:nvSpPr>
            <p:spPr>
              <a:xfrm>
                <a:off x="1067515" y="2343865"/>
                <a:ext cx="170022" cy="170022"/>
              </a:xfrm>
              <a:custGeom>
                <a:avLst/>
                <a:gdLst/>
                <a:ahLst/>
                <a:cxnLst/>
                <a:rect l="l" t="t" r="r" b="b"/>
                <a:pathLst>
                  <a:path w="170022" h="170022">
                    <a:moveTo>
                      <a:pt x="0" y="0"/>
                    </a:moveTo>
                    <a:lnTo>
                      <a:pt x="170022" y="170022"/>
                    </a:lnTo>
                  </a:path>
                </a:pathLst>
              </a:custGeom>
              <a:noFill/>
              <a:ln w="26988">
                <a:solidFill>
                  <a:srgbClr val="94A5BC"/>
                </a:solidFill>
              </a:ln>
            </p:spPr>
          </p:sp>
        </p:grpSp>
        <p:sp>
          <p:nvSpPr>
            <p:cNvPr id="9" name="TextBox 9"/>
            <p:cNvSpPr txBox="1"/>
            <p:nvPr/>
          </p:nvSpPr>
          <p:spPr>
            <a:xfrm>
              <a:off x="1421892" y="2349818"/>
              <a:ext cx="589082"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選項一</a:t>
              </a:r>
            </a:p>
          </p:txBody>
        </p:sp>
        <p:sp>
          <p:nvSpPr>
            <p:cNvPr id="10" name="TextBox 10"/>
            <p:cNvSpPr txBox="1"/>
            <p:nvPr/>
          </p:nvSpPr>
          <p:spPr>
            <a:xfrm>
              <a:off x="978408" y="2712720"/>
              <a:ext cx="2286000"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完全不讓它動手</a:t>
              </a:r>
            </a:p>
          </p:txBody>
        </p:sp>
        <p:sp>
          <p:nvSpPr>
            <p:cNvPr id="11" name="TextBox 11"/>
            <p:cNvSpPr txBox="1"/>
            <p:nvPr/>
          </p:nvSpPr>
          <p:spPr>
            <a:xfrm>
              <a:off x="981456" y="3158490"/>
              <a:ext cx="3338017"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 xml:space="preserve">降級成問答機器人 —— </a:t>
              </a:r>
              <a:r>
                <a:rPr lang="zh-Hant-TW" sz="1800" dirty="0">
                  <a:solidFill>
                    <a:srgbClr val="FF6B6B"/>
                  </a:solidFill>
                  <a:latin typeface="+mn-lt"/>
                  <a:ea typeface="+mn-ea"/>
                  <a:cs typeface="+mn-cs"/>
                </a:rPr>
                <a:t>價值消失</a:t>
              </a:r>
            </a:p>
          </p:txBody>
        </p:sp>
      </p:grpSp>
      <p:grpSp>
        <p:nvGrpSpPr>
          <p:cNvPr id="22" name="Group 22"/>
          <p:cNvGrpSpPr/>
          <p:nvPr/>
        </p:nvGrpSpPr>
        <p:grpSpPr>
          <a:xfrm>
            <a:off x="6286500" y="2000250"/>
            <a:ext cx="5219700" cy="1619250"/>
            <a:chOff x="6286500" y="2000250"/>
            <a:chExt cx="5219700" cy="1619250"/>
          </a:xfrm>
        </p:grpSpPr>
        <p:sp>
          <p:nvSpPr>
            <p:cNvPr id="13" name="Rectangle 13"/>
            <p:cNvSpPr/>
            <p:nvPr/>
          </p:nvSpPr>
          <p:spPr>
            <a:xfrm>
              <a:off x="6286500" y="2000250"/>
              <a:ext cx="5219700" cy="1619250"/>
            </a:xfrm>
            <a:prstGeom prst="rect">
              <a:avLst/>
            </a:prstGeom>
            <a:solidFill>
              <a:schemeClr val="lt2"/>
            </a:solidFill>
            <a:ln>
              <a:noFill/>
            </a:ln>
          </p:spPr>
        </p:sp>
        <p:sp>
          <p:nvSpPr>
            <p:cNvPr id="14" name="Rectangle 14"/>
            <p:cNvSpPr/>
            <p:nvPr/>
          </p:nvSpPr>
          <p:spPr>
            <a:xfrm>
              <a:off x="6286500" y="2000250"/>
              <a:ext cx="5219700" cy="19050"/>
            </a:xfrm>
            <a:prstGeom prst="rect">
              <a:avLst/>
            </a:prstGeom>
            <a:solidFill>
              <a:schemeClr val="accent6"/>
            </a:solidFill>
            <a:ln>
              <a:noFill/>
            </a:ln>
          </p:spPr>
        </p:sp>
        <p:grpSp>
          <p:nvGrpSpPr>
            <p:cNvPr id="18" name="Group 18"/>
            <p:cNvGrpSpPr/>
            <p:nvPr/>
          </p:nvGrpSpPr>
          <p:grpSpPr>
            <a:xfrm>
              <a:off x="6672263" y="2307431"/>
              <a:ext cx="202407" cy="242889"/>
              <a:chOff x="6672263" y="2307431"/>
              <a:chExt cx="202407" cy="242889"/>
            </a:xfrm>
          </p:grpSpPr>
          <p:sp>
            <p:nvSpPr>
              <p:cNvPr id="15" name="Freeform 15"/>
              <p:cNvSpPr/>
              <p:nvPr/>
            </p:nvSpPr>
            <p:spPr>
              <a:xfrm>
                <a:off x="6699250" y="230743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26988">
                <a:solidFill>
                  <a:srgbClr val="94A5BC"/>
                </a:solidFill>
              </a:ln>
            </p:spPr>
          </p:sp>
          <p:sp>
            <p:nvSpPr>
              <p:cNvPr id="16" name="Freeform 16"/>
              <p:cNvSpPr/>
              <p:nvPr/>
            </p:nvSpPr>
            <p:spPr>
              <a:xfrm>
                <a:off x="6672263" y="2469357"/>
                <a:ext cx="107950" cy="80963"/>
              </a:xfrm>
              <a:custGeom>
                <a:avLst/>
                <a:gdLst/>
                <a:ahLst/>
                <a:cxnLst/>
                <a:rect l="l" t="t" r="r" b="b"/>
                <a:pathLst>
                  <a:path w="107950" h="80963">
                    <a:moveTo>
                      <a:pt x="0" y="80963"/>
                    </a:moveTo>
                    <a:lnTo>
                      <a:pt x="0" y="53975"/>
                    </a:lnTo>
                    <a:cubicBezTo>
                      <a:pt x="0" y="24165"/>
                      <a:pt x="24165" y="0"/>
                      <a:pt x="53975" y="0"/>
                    </a:cubicBezTo>
                    <a:lnTo>
                      <a:pt x="107950" y="0"/>
                    </a:lnTo>
                  </a:path>
                </a:pathLst>
              </a:custGeom>
              <a:noFill/>
              <a:ln w="26988">
                <a:solidFill>
                  <a:srgbClr val="94A5BC"/>
                </a:solidFill>
              </a:ln>
            </p:spPr>
          </p:sp>
          <p:sp>
            <p:nvSpPr>
              <p:cNvPr id="17" name="Freeform 17"/>
              <p:cNvSpPr/>
              <p:nvPr/>
            </p:nvSpPr>
            <p:spPr>
              <a:xfrm>
                <a:off x="6793707" y="2496344"/>
                <a:ext cx="80963" cy="53975"/>
              </a:xfrm>
              <a:custGeom>
                <a:avLst/>
                <a:gdLst/>
                <a:ahLst/>
                <a:cxnLst/>
                <a:rect l="l" t="t" r="r" b="b"/>
                <a:pathLst>
                  <a:path w="80963" h="53975">
                    <a:moveTo>
                      <a:pt x="0" y="26988"/>
                    </a:moveTo>
                    <a:lnTo>
                      <a:pt x="26988" y="53975"/>
                    </a:lnTo>
                    <a:lnTo>
                      <a:pt x="80963" y="0"/>
                    </a:lnTo>
                  </a:path>
                </a:pathLst>
              </a:custGeom>
              <a:noFill/>
              <a:ln w="26988">
                <a:solidFill>
                  <a:srgbClr val="94A5BC"/>
                </a:solidFill>
              </a:ln>
            </p:spPr>
          </p:sp>
        </p:grpSp>
        <p:sp>
          <p:nvSpPr>
            <p:cNvPr id="19" name="TextBox 19"/>
            <p:cNvSpPr txBox="1"/>
            <p:nvPr/>
          </p:nvSpPr>
          <p:spPr>
            <a:xfrm>
              <a:off x="7022592" y="2349818"/>
              <a:ext cx="589082"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選項二</a:t>
              </a:r>
            </a:p>
          </p:txBody>
        </p:sp>
        <p:sp>
          <p:nvSpPr>
            <p:cNvPr id="20" name="TextBox 20"/>
            <p:cNvSpPr txBox="1"/>
            <p:nvPr/>
          </p:nvSpPr>
          <p:spPr>
            <a:xfrm>
              <a:off x="6579108" y="2712720"/>
              <a:ext cx="3255264"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動手，但全部人工覆核</a:t>
              </a:r>
            </a:p>
          </p:txBody>
        </p:sp>
        <p:sp>
          <p:nvSpPr>
            <p:cNvPr id="21" name="TextBox 21"/>
            <p:cNvSpPr txBox="1"/>
            <p:nvPr/>
          </p:nvSpPr>
          <p:spPr>
            <a:xfrm>
              <a:off x="6582156" y="3158490"/>
              <a:ext cx="4064965"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 xml:space="preserve">成本比原本人工作業更高 —— </a:t>
              </a:r>
              <a:r>
                <a:rPr lang="zh-Hant-TW" sz="1800" dirty="0">
                  <a:solidFill>
                    <a:srgbClr val="FF6B6B"/>
                  </a:solidFill>
                  <a:latin typeface="+mn-lt"/>
                  <a:ea typeface="+mn-ea"/>
                  <a:cs typeface="+mn-cs"/>
                </a:rPr>
                <a:t>效益消失</a:t>
              </a:r>
            </a:p>
          </p:txBody>
        </p:sp>
      </p:grpSp>
      <p:sp>
        <p:nvSpPr>
          <p:cNvPr id="23" name="Freeform 23"/>
          <p:cNvSpPr/>
          <p:nvPr/>
        </p:nvSpPr>
        <p:spPr>
          <a:xfrm>
            <a:off x="5715000" y="3733800"/>
            <a:ext cx="762000" cy="571500"/>
          </a:xfrm>
          <a:prstGeom prst="downArrow">
            <a:avLst>
              <a:gd name="adj1" fmla="val 45000"/>
              <a:gd name="adj2" fmla="val 55000"/>
            </a:avLst>
          </a:prstGeom>
          <a:solidFill>
            <a:schemeClr val="accent1"/>
          </a:solidFill>
          <a:ln>
            <a:noFill/>
          </a:ln>
        </p:spPr>
      </p:sp>
      <p:grpSp>
        <p:nvGrpSpPr>
          <p:cNvPr id="32" name="Group 32"/>
          <p:cNvGrpSpPr/>
          <p:nvPr/>
        </p:nvGrpSpPr>
        <p:grpSpPr>
          <a:xfrm>
            <a:off x="685800" y="4476750"/>
            <a:ext cx="10820400" cy="1281684"/>
            <a:chOff x="685800" y="4476750"/>
            <a:chExt cx="10820400" cy="1281684"/>
          </a:xfrm>
        </p:grpSpPr>
        <p:sp>
          <p:nvSpPr>
            <p:cNvPr id="24" name="Rectangle 24"/>
            <p:cNvSpPr/>
            <p:nvPr/>
          </p:nvSpPr>
          <p:spPr>
            <a:xfrm>
              <a:off x="685800" y="4476750"/>
              <a:ext cx="10820400" cy="1200150"/>
            </a:xfrm>
            <a:prstGeom prst="rect">
              <a:avLst/>
            </a:prstGeom>
            <a:solidFill>
              <a:schemeClr val="accent1">
                <a:alpha val="8000"/>
              </a:schemeClr>
            </a:solidFill>
            <a:ln>
              <a:noFill/>
            </a:ln>
          </p:spPr>
        </p:sp>
        <p:sp>
          <p:nvSpPr>
            <p:cNvPr id="25" name="Rectangle 25"/>
            <p:cNvSpPr/>
            <p:nvPr/>
          </p:nvSpPr>
          <p:spPr>
            <a:xfrm>
              <a:off x="685800" y="4476750"/>
              <a:ext cx="38100" cy="1200150"/>
            </a:xfrm>
            <a:prstGeom prst="rect">
              <a:avLst/>
            </a:prstGeom>
            <a:solidFill>
              <a:schemeClr val="accent1"/>
            </a:solidFill>
            <a:ln>
              <a:noFill/>
            </a:ln>
          </p:spPr>
        </p:sp>
        <p:grpSp>
          <p:nvGrpSpPr>
            <p:cNvPr id="29" name="Group 29"/>
            <p:cNvGrpSpPr/>
            <p:nvPr/>
          </p:nvGrpSpPr>
          <p:grpSpPr>
            <a:xfrm>
              <a:off x="1031614" y="4657725"/>
              <a:ext cx="298973" cy="285751"/>
              <a:chOff x="1031614" y="4657725"/>
              <a:chExt cx="298973" cy="285751"/>
            </a:xfrm>
          </p:grpSpPr>
          <p:sp>
            <p:nvSpPr>
              <p:cNvPr id="26" name="Freeform 26"/>
              <p:cNvSpPr/>
              <p:nvPr/>
            </p:nvSpPr>
            <p:spPr>
              <a:xfrm>
                <a:off x="1031614" y="4657725"/>
                <a:ext cx="298973" cy="285751"/>
              </a:xfrm>
              <a:custGeom>
                <a:avLst/>
                <a:gdLst/>
                <a:ahLst/>
                <a:cxnLst/>
                <a:rect l="l" t="t" r="r" b="b"/>
                <a:pathLst>
                  <a:path w="298973" h="285751">
                    <a:moveTo>
                      <a:pt x="149486" y="0"/>
                    </a:moveTo>
                    <a:cubicBezTo>
                      <a:pt x="186568" y="32807"/>
                      <a:pt x="234965" y="49888"/>
                      <a:pt x="284424" y="47625"/>
                    </a:cubicBezTo>
                    <a:cubicBezTo>
                      <a:pt x="298973" y="97116"/>
                      <a:pt x="292829" y="150391"/>
                      <a:pt x="267397" y="195271"/>
                    </a:cubicBezTo>
                    <a:cubicBezTo>
                      <a:pt x="241965" y="240151"/>
                      <a:pt x="199419" y="272799"/>
                      <a:pt x="149486" y="285751"/>
                    </a:cubicBezTo>
                    <a:cubicBezTo>
                      <a:pt x="99554" y="272799"/>
                      <a:pt x="57008" y="240151"/>
                      <a:pt x="31576" y="195271"/>
                    </a:cubicBezTo>
                    <a:cubicBezTo>
                      <a:pt x="6144" y="150391"/>
                      <a:pt x="0" y="97116"/>
                      <a:pt x="14549" y="47625"/>
                    </a:cubicBezTo>
                    <a:cubicBezTo>
                      <a:pt x="64008" y="49888"/>
                      <a:pt x="112405" y="32807"/>
                      <a:pt x="149486" y="0"/>
                    </a:cubicBezTo>
                  </a:path>
                </a:pathLst>
              </a:custGeom>
              <a:noFill/>
              <a:ln w="31750">
                <a:solidFill>
                  <a:schemeClr val="accent1"/>
                </a:solidFill>
              </a:ln>
            </p:spPr>
          </p:sp>
          <p:sp>
            <p:nvSpPr>
              <p:cNvPr id="27" name="Freeform 27"/>
              <p:cNvSpPr/>
              <p:nvPr/>
            </p:nvSpPr>
            <p:spPr>
              <a:xfrm>
                <a:off x="1165225" y="476885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1"/>
                </a:solidFill>
              </a:ln>
            </p:spPr>
          </p:sp>
          <p:sp>
            <p:nvSpPr>
              <p:cNvPr id="28" name="Freeform 28"/>
              <p:cNvSpPr/>
              <p:nvPr/>
            </p:nvSpPr>
            <p:spPr>
              <a:xfrm>
                <a:off x="1181100" y="4800600"/>
                <a:ext cx="9525" cy="39688"/>
              </a:xfrm>
              <a:custGeom>
                <a:avLst/>
                <a:gdLst/>
                <a:ahLst/>
                <a:cxnLst/>
                <a:rect l="l" t="t" r="r" b="b"/>
                <a:pathLst>
                  <a:path w="9525" h="39688">
                    <a:moveTo>
                      <a:pt x="0" y="0"/>
                    </a:moveTo>
                    <a:lnTo>
                      <a:pt x="0" y="39688"/>
                    </a:lnTo>
                  </a:path>
                </a:pathLst>
              </a:custGeom>
              <a:noFill/>
              <a:ln w="31750">
                <a:solidFill>
                  <a:schemeClr val="accent1"/>
                </a:solidFill>
              </a:ln>
            </p:spPr>
          </p:sp>
        </p:grpSp>
        <p:sp>
          <p:nvSpPr>
            <p:cNvPr id="30" name="TextBox 30"/>
            <p:cNvSpPr txBox="1"/>
            <p:nvPr/>
          </p:nvSpPr>
          <p:spPr>
            <a:xfrm>
              <a:off x="1511808" y="4617720"/>
              <a:ext cx="6075350" cy="469392"/>
            </a:xfrm>
            <a:prstGeom prst="rect">
              <a:avLst/>
            </a:prstGeom>
            <a:noFill/>
            <a:ln>
              <a:noFill/>
            </a:ln>
          </p:spPr>
          <p:txBody>
            <a:bodyPr wrap="none" lIns="0" tIns="0" rIns="0" bIns="0" anchor="t" anchorCtr="0">
              <a:spAutoFit/>
            </a:bodyPr>
            <a:lstStyle/>
            <a:p>
              <a:pPr algn="l"/>
              <a:r>
                <a:rPr lang="zh-Hant-TW" sz="2400" b="1" dirty="0">
                  <a:solidFill>
                    <a:schemeClr val="accent1"/>
                  </a:solidFill>
                  <a:latin typeface="+mj-lt"/>
                  <a:ea typeface="+mj-ea"/>
                  <a:cs typeface="+mj-cs"/>
                </a:rPr>
                <a:t>兩個選項都停在 PoC，缺的是中間那一層</a:t>
              </a:r>
            </a:p>
          </p:txBody>
        </p:sp>
        <p:sp>
          <p:nvSpPr>
            <p:cNvPr id="31" name="TextBox 31"/>
            <p:cNvSpPr txBox="1"/>
            <p:nvPr/>
          </p:nvSpPr>
          <p:spPr>
            <a:xfrm>
              <a:off x="1514856" y="5063490"/>
              <a:ext cx="7104888" cy="694944"/>
            </a:xfrm>
            <a:prstGeom prst="rect">
              <a:avLst/>
            </a:prstGeom>
            <a:noFill/>
            <a:ln>
              <a:noFill/>
            </a:ln>
          </p:spPr>
          <p:txBody>
            <a:bodyPr wrap="none" lIns="0" tIns="0" rIns="0" bIns="0" anchor="t" anchorCtr="0">
              <a:spAutoFit/>
            </a:bodyPr>
            <a:lstStyle/>
            <a:p>
              <a:pPr algn="l">
                <a:lnSpc>
                  <a:spcPts val="2700"/>
                </a:lnSpc>
              </a:pPr>
              <a:r>
                <a:rPr lang="zh-Hant-TW" sz="1800" dirty="0">
                  <a:solidFill>
                    <a:schemeClr val="dk1"/>
                  </a:solidFill>
                  <a:latin typeface="+mn-lt"/>
                  <a:ea typeface="+mn-ea"/>
                  <a:cs typeface="+mn-cs"/>
                </a:rPr>
                <a:t>分辨哪些動作可以自動放行、哪些必須攔下、哪些必須有人簽名負責，</a:t>
              </a:r>
              <a:br/>
              <a:r>
                <a:rPr lang="zh-Hant-TW" sz="1800" dirty="0">
                  <a:solidFill>
                    <a:schemeClr val="dk1"/>
                  </a:solidFill>
                  <a:latin typeface="+mn-lt"/>
                  <a:ea typeface="+mn-ea"/>
                  <a:cs typeface="+mn-cs"/>
                </a:rPr>
                <a:t>且事後每一步都能回溯歸責。</a:t>
              </a:r>
            </a:p>
          </p:txBody>
        </p:sp>
      </p:grpSp>
      <p:grpSp>
        <p:nvGrpSpPr>
          <p:cNvPr id="35" name="Group 35"/>
          <p:cNvGrpSpPr/>
          <p:nvPr/>
        </p:nvGrpSpPr>
        <p:grpSpPr>
          <a:xfrm>
            <a:off x="674370" y="5759768"/>
            <a:ext cx="7898130" cy="666749"/>
            <a:chOff x="674370" y="5759768"/>
            <a:chExt cx="7898130" cy="666749"/>
          </a:xfrm>
        </p:grpSpPr>
        <p:sp>
          <p:nvSpPr>
            <p:cNvPr id="33" name="TextBox 33"/>
            <p:cNvSpPr txBox="1"/>
            <p:nvPr/>
          </p:nvSpPr>
          <p:spPr>
            <a:xfrm>
              <a:off x="678942" y="5759768"/>
              <a:ext cx="3357677"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稽核與主管機關真正會問的，是這一句 ——</a:t>
              </a:r>
            </a:p>
          </p:txBody>
        </p:sp>
        <p:sp>
          <p:nvSpPr>
            <p:cNvPr id="34" name="TextBox 34"/>
            <p:cNvSpPr txBox="1"/>
            <p:nvPr/>
          </p:nvSpPr>
          <p:spPr>
            <a:xfrm>
              <a:off x="674370" y="5986462"/>
              <a:ext cx="7898130" cy="440055"/>
            </a:xfrm>
            <a:prstGeom prst="rect">
              <a:avLst/>
            </a:prstGeom>
            <a:noFill/>
            <a:ln>
              <a:noFill/>
            </a:ln>
          </p:spPr>
          <p:txBody>
            <a:bodyPr wrap="none" lIns="0" tIns="0" rIns="0" bIns="0" anchor="t" anchorCtr="0">
              <a:spAutoFit/>
            </a:bodyPr>
            <a:lstStyle/>
            <a:p>
              <a:pPr algn="l"/>
              <a:r>
                <a:rPr lang="zh-Hant-TW" sz="2250" dirty="0">
                  <a:solidFill>
                    <a:schemeClr val="dk1"/>
                  </a:solidFill>
                  <a:latin typeface="+mn-lt"/>
                  <a:ea typeface="+mn-ea"/>
                  <a:cs typeface="+mn-cs"/>
                </a:rPr>
                <a:t>「這件事是誰決定的？依據什麼？當時看到了什麼證據？」</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26758"/>
            <a:ext cx="7664958" cy="616077"/>
            <a:chOff x="669798" y="726758"/>
            <a:chExt cx="7664958" cy="616077"/>
          </a:xfrm>
        </p:grpSpPr>
        <p:sp>
          <p:nvSpPr>
            <p:cNvPr id="2" name="TextBox 2"/>
            <p:cNvSpPr txBox="1"/>
            <p:nvPr/>
          </p:nvSpPr>
          <p:spPr>
            <a:xfrm>
              <a:off x="669798" y="726758"/>
              <a:ext cx="7664958"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間接提示注入：攻擊面在</a:t>
              </a:r>
              <a:r>
                <a:rPr lang="zh-Hant-TW" sz="3150" b="1" dirty="0">
                  <a:solidFill>
                    <a:srgbClr val="FF6B6B"/>
                  </a:solidFill>
                  <a:latin typeface="+mj-lt"/>
                  <a:ea typeface="+mj-ea"/>
                  <a:cs typeface="+mj-cs"/>
                </a:rPr>
                <a:t>附件</a:t>
              </a:r>
              <a:r>
                <a:rPr lang="zh-Hant-TW" sz="3150" b="1" dirty="0">
                  <a:solidFill>
                    <a:schemeClr val="dk1"/>
                  </a:solidFill>
                  <a:latin typeface="+mj-lt"/>
                  <a:ea typeface="+mj-ea"/>
                  <a:cs typeface="+mj-cs"/>
                </a:rPr>
                <a:t>，不在對話</a:t>
              </a:r>
            </a:p>
          </p:txBody>
        </p:sp>
      </p:grpSp>
      <p:sp>
        <p:nvSpPr>
          <p:cNvPr id="4" name="Freeform 4"/>
          <p:cNvSpPr/>
          <p:nvPr/>
        </p:nvSpPr>
        <p:spPr>
          <a:xfrm>
            <a:off x="685800" y="2000250"/>
            <a:ext cx="2819400" cy="1047750"/>
          </a:xfrm>
          <a:prstGeom prst="chevron">
            <a:avLst/>
          </a:prstGeom>
          <a:solidFill>
            <a:srgbClr val="182337"/>
          </a:solidFill>
          <a:ln w="9525">
            <a:solidFill>
              <a:schemeClr val="accent6"/>
            </a:solidFill>
          </a:ln>
        </p:spPr>
      </p:sp>
      <p:sp>
        <p:nvSpPr>
          <p:cNvPr id="5" name="Freeform 5"/>
          <p:cNvSpPr/>
          <p:nvPr/>
        </p:nvSpPr>
        <p:spPr>
          <a:xfrm>
            <a:off x="3333750" y="2000250"/>
            <a:ext cx="2819400" cy="1047750"/>
          </a:xfrm>
          <a:prstGeom prst="chevron">
            <a:avLst/>
          </a:prstGeom>
          <a:solidFill>
            <a:srgbClr val="2A1620"/>
          </a:solidFill>
          <a:ln w="19050">
            <a:solidFill>
              <a:srgbClr val="FF6B6B"/>
            </a:solidFill>
          </a:ln>
        </p:spPr>
      </p:sp>
      <p:sp>
        <p:nvSpPr>
          <p:cNvPr id="6" name="Freeform 6"/>
          <p:cNvSpPr/>
          <p:nvPr/>
        </p:nvSpPr>
        <p:spPr>
          <a:xfrm>
            <a:off x="5981700" y="2000250"/>
            <a:ext cx="2819400" cy="1047750"/>
          </a:xfrm>
          <a:prstGeom prst="chevron">
            <a:avLst/>
          </a:prstGeom>
          <a:solidFill>
            <a:srgbClr val="182337"/>
          </a:solidFill>
          <a:ln w="9525">
            <a:solidFill>
              <a:schemeClr val="accent6"/>
            </a:solidFill>
          </a:ln>
        </p:spPr>
      </p:sp>
      <p:sp>
        <p:nvSpPr>
          <p:cNvPr id="7" name="Freeform 7"/>
          <p:cNvSpPr/>
          <p:nvPr/>
        </p:nvSpPr>
        <p:spPr>
          <a:xfrm>
            <a:off x="8629650" y="2000250"/>
            <a:ext cx="2819400" cy="1047750"/>
          </a:xfrm>
          <a:prstGeom prst="chevron">
            <a:avLst/>
          </a:prstGeom>
          <a:solidFill>
            <a:srgbClr val="182337"/>
          </a:solidFill>
          <a:ln w="9525">
            <a:solidFill>
              <a:schemeClr val="accent6"/>
            </a:solidFill>
          </a:ln>
        </p:spPr>
      </p:sp>
      <p:grpSp>
        <p:nvGrpSpPr>
          <p:cNvPr id="16" name="Group 16"/>
          <p:cNvGrpSpPr/>
          <p:nvPr/>
        </p:nvGrpSpPr>
        <p:grpSpPr>
          <a:xfrm>
            <a:off x="1269282" y="2263140"/>
            <a:ext cx="9506160" cy="617411"/>
            <a:chOff x="1269282" y="2263140"/>
            <a:chExt cx="9506160" cy="617411"/>
          </a:xfrm>
        </p:grpSpPr>
        <p:sp>
          <p:nvSpPr>
            <p:cNvPr id="8" name="TextBox 8"/>
            <p:cNvSpPr txBox="1"/>
            <p:nvPr/>
          </p:nvSpPr>
          <p:spPr>
            <a:xfrm>
              <a:off x="1359408" y="2263140"/>
              <a:ext cx="1472184" cy="352044"/>
            </a:xfrm>
            <a:prstGeom prst="rect">
              <a:avLst/>
            </a:prstGeom>
            <a:noFill/>
            <a:ln>
              <a:noFill/>
            </a:ln>
          </p:spPr>
          <p:txBody>
            <a:bodyPr wrap="none" lIns="0" tIns="0" rIns="0" bIns="0" anchor="t" anchorCtr="0">
              <a:spAutoFit/>
            </a:bodyPr>
            <a:lstStyle/>
            <a:p>
              <a:pPr algn="ctr"/>
              <a:r>
                <a:rPr lang="zh-Hant-TW" sz="1800" dirty="0">
                  <a:solidFill>
                    <a:schemeClr val="dk1"/>
                  </a:solidFill>
                  <a:latin typeface="+mn-lt"/>
                  <a:ea typeface="+mn-ea"/>
                  <a:cs typeface="+mn-cs"/>
                </a:rPr>
                <a:t>客戶上傳附件</a:t>
              </a:r>
            </a:p>
          </p:txBody>
        </p:sp>
        <p:sp>
          <p:nvSpPr>
            <p:cNvPr id="9" name="TextBox 9"/>
            <p:cNvSpPr txBox="1"/>
            <p:nvPr/>
          </p:nvSpPr>
          <p:spPr>
            <a:xfrm>
              <a:off x="1269282" y="2616518"/>
              <a:ext cx="1652435" cy="264033"/>
            </a:xfrm>
            <a:prstGeom prst="rect">
              <a:avLst/>
            </a:prstGeom>
            <a:noFill/>
            <a:ln>
              <a:noFill/>
            </a:ln>
          </p:spPr>
          <p:txBody>
            <a:bodyPr wrap="none" lIns="0" tIns="0" rIns="0" bIns="0" anchor="t" anchorCtr="0">
              <a:spAutoFit/>
            </a:bodyPr>
            <a:lstStyle/>
            <a:p>
              <a:pPr algn="ctr"/>
              <a:r>
                <a:rPr lang="zh-Hant-TW" sz="1350" dirty="0">
                  <a:solidFill>
                    <a:schemeClr val="accent5"/>
                  </a:solidFill>
                  <a:latin typeface="+mn-lt"/>
                  <a:ea typeface="+mn-ea"/>
                  <a:cs typeface="+mn-cs"/>
                </a:rPr>
                <a:t>App ／ 官網 ／ 門市</a:t>
              </a:r>
            </a:p>
          </p:txBody>
        </p:sp>
        <p:sp>
          <p:nvSpPr>
            <p:cNvPr id="10" name="TextBox 10"/>
            <p:cNvSpPr txBox="1"/>
            <p:nvPr/>
          </p:nvSpPr>
          <p:spPr>
            <a:xfrm>
              <a:off x="4007358" y="2263140"/>
              <a:ext cx="1472184" cy="352044"/>
            </a:xfrm>
            <a:prstGeom prst="rect">
              <a:avLst/>
            </a:prstGeom>
            <a:noFill/>
            <a:ln>
              <a:noFill/>
            </a:ln>
          </p:spPr>
          <p:txBody>
            <a:bodyPr wrap="none" lIns="0" tIns="0" rIns="0" bIns="0" anchor="t" anchorCtr="0">
              <a:spAutoFit/>
            </a:bodyPr>
            <a:lstStyle/>
            <a:p>
              <a:pPr algn="ctr"/>
              <a:r>
                <a:rPr lang="zh-Hant-TW" sz="1800" b="1" dirty="0">
                  <a:solidFill>
                    <a:srgbClr val="FF6B6B"/>
                  </a:solidFill>
                  <a:latin typeface="+mn-lt"/>
                  <a:ea typeface="+mn-ea"/>
                  <a:cs typeface="+mn-cs"/>
                </a:rPr>
                <a:t>附件夾帶指令</a:t>
              </a:r>
            </a:p>
          </p:txBody>
        </p:sp>
        <p:sp>
          <p:nvSpPr>
            <p:cNvPr id="11" name="TextBox 11"/>
            <p:cNvSpPr txBox="1"/>
            <p:nvPr/>
          </p:nvSpPr>
          <p:spPr>
            <a:xfrm>
              <a:off x="4026103" y="2616518"/>
              <a:ext cx="1434694" cy="264033"/>
            </a:xfrm>
            <a:prstGeom prst="rect">
              <a:avLst/>
            </a:prstGeom>
            <a:noFill/>
            <a:ln>
              <a:noFill/>
            </a:ln>
          </p:spPr>
          <p:txBody>
            <a:bodyPr wrap="none" lIns="0" tIns="0" rIns="0" bIns="0" anchor="t" anchorCtr="0">
              <a:spAutoFit/>
            </a:bodyPr>
            <a:lstStyle/>
            <a:p>
              <a:pPr algn="ctr"/>
              <a:r>
                <a:rPr lang="zh-Hant-TW" sz="1350" dirty="0">
                  <a:solidFill>
                    <a:srgbClr val="FF6B6B"/>
                  </a:solidFill>
                  <a:latin typeface="+mn-lt"/>
                  <a:ea typeface="+mn-ea"/>
                  <a:cs typeface="+mn-cs"/>
                </a:rPr>
                <a:t>發票 PDF 第 3 頁</a:t>
              </a:r>
            </a:p>
          </p:txBody>
        </p:sp>
        <p:sp>
          <p:nvSpPr>
            <p:cNvPr id="12" name="TextBox 12"/>
            <p:cNvSpPr txBox="1"/>
            <p:nvPr/>
          </p:nvSpPr>
          <p:spPr>
            <a:xfrm>
              <a:off x="6518422" y="2263140"/>
              <a:ext cx="1745955" cy="352044"/>
            </a:xfrm>
            <a:prstGeom prst="rect">
              <a:avLst/>
            </a:prstGeom>
            <a:noFill/>
            <a:ln>
              <a:noFill/>
            </a:ln>
          </p:spPr>
          <p:txBody>
            <a:bodyPr wrap="none" lIns="0" tIns="0" rIns="0" bIns="0" anchor="t" anchorCtr="0">
              <a:spAutoFit/>
            </a:bodyPr>
            <a:lstStyle/>
            <a:p>
              <a:pPr algn="ctr"/>
              <a:r>
                <a:rPr lang="zh-Hant-TW" sz="1800" dirty="0">
                  <a:solidFill>
                    <a:schemeClr val="dk1"/>
                  </a:solidFill>
                  <a:latin typeface="+mn-lt"/>
                  <a:ea typeface="+mn-ea"/>
                  <a:cs typeface="+mn-cs"/>
                </a:rPr>
                <a:t>Agent 讀進脈絡</a:t>
              </a:r>
            </a:p>
          </p:txBody>
        </p:sp>
        <p:sp>
          <p:nvSpPr>
            <p:cNvPr id="13" name="TextBox 13"/>
            <p:cNvSpPr txBox="1"/>
            <p:nvPr/>
          </p:nvSpPr>
          <p:spPr>
            <a:xfrm>
              <a:off x="6566726" y="2616518"/>
              <a:ext cx="1649349" cy="264033"/>
            </a:xfrm>
            <a:prstGeom prst="rect">
              <a:avLst/>
            </a:prstGeom>
            <a:noFill/>
            <a:ln>
              <a:noFill/>
            </a:ln>
          </p:spPr>
          <p:txBody>
            <a:bodyPr wrap="none" lIns="0" tIns="0" rIns="0" bIns="0" anchor="t" anchorCtr="0">
              <a:spAutoFit/>
            </a:bodyPr>
            <a:lstStyle/>
            <a:p>
              <a:pPr algn="ctr"/>
              <a:r>
                <a:rPr lang="zh-Hant-TW" sz="1350" dirty="0">
                  <a:solidFill>
                    <a:schemeClr val="accent5"/>
                  </a:solidFill>
                  <a:latin typeface="+mn-lt"/>
                  <a:ea typeface="+mn-ea"/>
                  <a:cs typeface="+mn-cs"/>
                </a:rPr>
                <a:t>工單對話與附件原文</a:t>
              </a:r>
            </a:p>
          </p:txBody>
        </p:sp>
        <p:sp>
          <p:nvSpPr>
            <p:cNvPr id="14" name="TextBox 14"/>
            <p:cNvSpPr txBox="1"/>
            <p:nvPr/>
          </p:nvSpPr>
          <p:spPr>
            <a:xfrm>
              <a:off x="9303258" y="2263140"/>
              <a:ext cx="1472184" cy="352044"/>
            </a:xfrm>
            <a:prstGeom prst="rect">
              <a:avLst/>
            </a:prstGeom>
            <a:noFill/>
            <a:ln>
              <a:noFill/>
            </a:ln>
          </p:spPr>
          <p:txBody>
            <a:bodyPr wrap="none" lIns="0" tIns="0" rIns="0" bIns="0" anchor="t" anchorCtr="0">
              <a:spAutoFit/>
            </a:bodyPr>
            <a:lstStyle/>
            <a:p>
              <a:pPr algn="ctr"/>
              <a:r>
                <a:rPr lang="zh-Hant-TW" sz="1800" dirty="0">
                  <a:solidFill>
                    <a:schemeClr val="dk1"/>
                  </a:solidFill>
                  <a:latin typeface="+mn-lt"/>
                  <a:ea typeface="+mn-ea"/>
                  <a:cs typeface="+mn-cs"/>
                </a:rPr>
                <a:t>呼叫越權工具</a:t>
              </a:r>
            </a:p>
          </p:txBody>
        </p:sp>
        <p:sp>
          <p:nvSpPr>
            <p:cNvPr id="15" name="TextBox 15"/>
            <p:cNvSpPr txBox="1"/>
            <p:nvPr/>
          </p:nvSpPr>
          <p:spPr>
            <a:xfrm>
              <a:off x="9305544" y="2616518"/>
              <a:ext cx="1467612" cy="264033"/>
            </a:xfrm>
            <a:prstGeom prst="rect">
              <a:avLst/>
            </a:prstGeom>
            <a:noFill/>
            <a:ln>
              <a:noFill/>
            </a:ln>
          </p:spPr>
          <p:txBody>
            <a:bodyPr wrap="none" lIns="0" tIns="0" rIns="0" bIns="0" anchor="t" anchorCtr="0">
              <a:spAutoFit/>
            </a:bodyPr>
            <a:lstStyle/>
            <a:p>
              <a:pPr algn="ctr"/>
              <a:r>
                <a:rPr lang="zh-Hant-TW" sz="1350" dirty="0">
                  <a:solidFill>
                    <a:schemeClr val="accent5"/>
                  </a:solidFill>
                  <a:latin typeface="+mn-lt"/>
                  <a:ea typeface="+mn-ea"/>
                  <a:cs typeface="+mn-cs"/>
                </a:rPr>
                <a:t>批次匯出客戶資料</a:t>
              </a:r>
            </a:p>
          </p:txBody>
        </p:sp>
      </p:grpSp>
      <p:grpSp>
        <p:nvGrpSpPr>
          <p:cNvPr id="26" name="Group 26"/>
          <p:cNvGrpSpPr/>
          <p:nvPr/>
        </p:nvGrpSpPr>
        <p:grpSpPr>
          <a:xfrm>
            <a:off x="685800" y="3638550"/>
            <a:ext cx="5343144" cy="1604201"/>
            <a:chOff x="685800" y="3638550"/>
            <a:chExt cx="5343144" cy="1604201"/>
          </a:xfrm>
        </p:grpSpPr>
        <p:sp>
          <p:nvSpPr>
            <p:cNvPr id="17" name="Rectangle 17"/>
            <p:cNvSpPr/>
            <p:nvPr/>
          </p:nvSpPr>
          <p:spPr>
            <a:xfrm>
              <a:off x="685800" y="3638550"/>
              <a:ext cx="38100" cy="1562100"/>
            </a:xfrm>
            <a:prstGeom prst="rect">
              <a:avLst/>
            </a:prstGeom>
            <a:solidFill>
              <a:srgbClr val="FF6B6B"/>
            </a:solidFill>
            <a:ln>
              <a:noFill/>
            </a:ln>
          </p:spPr>
        </p:sp>
        <p:grpSp>
          <p:nvGrpSpPr>
            <p:cNvPr id="22" name="Group 22"/>
            <p:cNvGrpSpPr/>
            <p:nvPr/>
          </p:nvGrpSpPr>
          <p:grpSpPr>
            <a:xfrm>
              <a:off x="1050131" y="3712369"/>
              <a:ext cx="190501" cy="226219"/>
              <a:chOff x="1050131" y="3712369"/>
              <a:chExt cx="190501" cy="226219"/>
            </a:xfrm>
          </p:grpSpPr>
          <p:sp>
            <p:nvSpPr>
              <p:cNvPr id="18" name="Freeform 18"/>
              <p:cNvSpPr/>
              <p:nvPr/>
            </p:nvSpPr>
            <p:spPr>
              <a:xfrm>
                <a:off x="1157288" y="371236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FF6B6B"/>
                </a:solidFill>
              </a:ln>
            </p:spPr>
          </p:sp>
          <p:sp>
            <p:nvSpPr>
              <p:cNvPr id="19" name="Freeform 19"/>
              <p:cNvSpPr/>
              <p:nvPr/>
            </p:nvSpPr>
            <p:spPr>
              <a:xfrm>
                <a:off x="1050131" y="3712369"/>
                <a:ext cx="166688" cy="214312"/>
              </a:xfrm>
              <a:custGeom>
                <a:avLst/>
                <a:gdLst/>
                <a:ahLst/>
                <a:cxnLst/>
                <a:rect l="l" t="t" r="r" b="b"/>
                <a:pathLst>
                  <a:path w="166688" h="214312">
                    <a:moveTo>
                      <a:pt x="83344"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13109"/>
                    </a:lnTo>
                  </a:path>
                </a:pathLst>
              </a:custGeom>
              <a:noFill/>
              <a:ln w="23812">
                <a:solidFill>
                  <a:srgbClr val="FF6B6B"/>
                </a:solidFill>
              </a:ln>
            </p:spPr>
          </p:sp>
          <p:sp>
            <p:nvSpPr>
              <p:cNvPr id="20" name="Freeform 20"/>
              <p:cNvSpPr/>
              <p:nvPr/>
            </p:nvSpPr>
            <p:spPr>
              <a:xfrm>
                <a:off x="1157288" y="3855244"/>
                <a:ext cx="59531" cy="59531"/>
              </a:xfrm>
              <a:custGeom>
                <a:avLst/>
                <a:gdLst/>
                <a:ahLst/>
                <a:cxnLst/>
                <a:rect l="l" t="t" r="r" b="b"/>
                <a:pathLst>
                  <a:path w="59531" h="59531">
                    <a:moveTo>
                      <a:pt x="0" y="29766"/>
                    </a:moveTo>
                    <a:cubicBezTo>
                      <a:pt x="0" y="46205"/>
                      <a:pt x="13327" y="59531"/>
                      <a:pt x="29766" y="59531"/>
                    </a:cubicBezTo>
                    <a:cubicBezTo>
                      <a:pt x="46205" y="59531"/>
                      <a:pt x="59531" y="46205"/>
                      <a:pt x="59531" y="29766"/>
                    </a:cubicBezTo>
                    <a:cubicBezTo>
                      <a:pt x="59531" y="13327"/>
                      <a:pt x="46205" y="0"/>
                      <a:pt x="29766" y="0"/>
                    </a:cubicBezTo>
                    <a:cubicBezTo>
                      <a:pt x="13327" y="0"/>
                      <a:pt x="0" y="13327"/>
                      <a:pt x="0" y="29766"/>
                    </a:cubicBezTo>
                  </a:path>
                </a:pathLst>
              </a:custGeom>
              <a:noFill/>
              <a:ln w="23812">
                <a:solidFill>
                  <a:srgbClr val="FF6B6B"/>
                </a:solidFill>
              </a:ln>
            </p:spPr>
          </p:sp>
          <p:sp>
            <p:nvSpPr>
              <p:cNvPr id="21" name="Freeform 21"/>
              <p:cNvSpPr/>
              <p:nvPr/>
            </p:nvSpPr>
            <p:spPr>
              <a:xfrm>
                <a:off x="1210866" y="3908822"/>
                <a:ext cx="29766" cy="29766"/>
              </a:xfrm>
              <a:custGeom>
                <a:avLst/>
                <a:gdLst/>
                <a:ahLst/>
                <a:cxnLst/>
                <a:rect l="l" t="t" r="r" b="b"/>
                <a:pathLst>
                  <a:path w="29766" h="29766">
                    <a:moveTo>
                      <a:pt x="0" y="0"/>
                    </a:moveTo>
                    <a:lnTo>
                      <a:pt x="29766" y="29766"/>
                    </a:lnTo>
                  </a:path>
                </a:pathLst>
              </a:custGeom>
              <a:noFill/>
              <a:ln w="23812">
                <a:solidFill>
                  <a:srgbClr val="FF6B6B"/>
                </a:solidFill>
              </a:ln>
            </p:spPr>
          </p:sp>
        </p:grpSp>
        <p:sp>
          <p:nvSpPr>
            <p:cNvPr id="23" name="TextBox 23"/>
            <p:cNvSpPr txBox="1"/>
            <p:nvPr/>
          </p:nvSpPr>
          <p:spPr>
            <a:xfrm>
              <a:off x="1383792" y="3740468"/>
              <a:ext cx="4450818"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Demo 步驟 3：PDF 第 3 頁夾帶「匯出所有客戶資料」</a:t>
              </a:r>
            </a:p>
          </p:txBody>
        </p:sp>
        <p:sp>
          <p:nvSpPr>
            <p:cNvPr id="24" name="TextBox 24"/>
            <p:cNvSpPr txBox="1"/>
            <p:nvPr/>
          </p:nvSpPr>
          <p:spPr>
            <a:xfrm>
              <a:off x="981456" y="4053840"/>
              <a:ext cx="5047488" cy="675894"/>
            </a:xfrm>
            <a:prstGeom prst="rect">
              <a:avLst/>
            </a:prstGeom>
            <a:noFill/>
            <a:ln>
              <a:noFill/>
            </a:ln>
          </p:spPr>
          <p:txBody>
            <a:bodyPr wrap="none" lIns="0" tIns="0" rIns="0" bIns="0" anchor="t" anchorCtr="0">
              <a:spAutoFit/>
            </a:bodyPr>
            <a:lstStyle/>
            <a:p>
              <a:pPr algn="l">
                <a:lnSpc>
                  <a:spcPts val="2550"/>
                </a:lnSpc>
              </a:pPr>
              <a:r>
                <a:rPr lang="zh-Hant-TW" sz="1800" dirty="0">
                  <a:solidFill>
                    <a:schemeClr val="dk1"/>
                  </a:solidFill>
                  <a:latin typeface="+mn-lt"/>
                  <a:ea typeface="+mn-ea"/>
                  <a:cs typeface="+mn-cs"/>
                </a:rPr>
                <a:t>動作風險「禁止級」超過來源鏈可授權上限「低」</a:t>
              </a:r>
              <a:br/>
              <a:r>
                <a:rPr lang="zh-Hant-TW" sz="1800" dirty="0">
                  <a:solidFill>
                    <a:schemeClr val="dk1"/>
                  </a:solidFill>
                  <a:latin typeface="+mn-lt"/>
                  <a:ea typeface="+mn-ea"/>
                  <a:cs typeface="+mn-cs"/>
                </a:rPr>
                <a:t>最弱環節：使用者上傳的發票 PDF，第 3 頁</a:t>
              </a:r>
            </a:p>
          </p:txBody>
        </p:sp>
        <p:sp>
          <p:nvSpPr>
            <p:cNvPr id="25" name="TextBox 25"/>
            <p:cNvSpPr txBox="1"/>
            <p:nvPr/>
          </p:nvSpPr>
          <p:spPr>
            <a:xfrm>
              <a:off x="983742" y="4731068"/>
              <a:ext cx="4745736" cy="51168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攔截點 G0 ｜ 閘門延遲 0.6 ms ｜ 全程無需任何模型判斷</a:t>
              </a:r>
              <a:br/>
              <a:r>
                <a:rPr lang="zh-Hant-TW" sz="1350" dirty="0">
                  <a:solidFill>
                    <a:schemeClr val="accent5"/>
                  </a:solidFill>
                  <a:latin typeface="+mn-lt"/>
                  <a:ea typeface="+mn-ea"/>
                  <a:cs typeface="+mn-cs"/>
                </a:rPr>
                <a:t>真 gpt-4o-mini 讀完 PDF 後自行發出匯出四個個資欄位的請求</a:t>
              </a:r>
            </a:p>
          </p:txBody>
        </p:sp>
      </p:grpSp>
      <p:grpSp>
        <p:nvGrpSpPr>
          <p:cNvPr id="30" name="Group 30"/>
          <p:cNvGrpSpPr/>
          <p:nvPr/>
        </p:nvGrpSpPr>
        <p:grpSpPr>
          <a:xfrm>
            <a:off x="678180" y="5397818"/>
            <a:ext cx="2909011" cy="1260538"/>
            <a:chOff x="678180" y="5397818"/>
            <a:chExt cx="2909011" cy="1260538"/>
          </a:xfrm>
        </p:grpSpPr>
        <p:sp>
          <p:nvSpPr>
            <p:cNvPr id="27" name="TextBox 27"/>
            <p:cNvSpPr txBox="1"/>
            <p:nvPr/>
          </p:nvSpPr>
          <p:spPr>
            <a:xfrm>
              <a:off x="678942" y="5397818"/>
              <a:ext cx="1769969"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為什麼不靠偵測措辭</a:t>
              </a:r>
            </a:p>
          </p:txBody>
        </p:sp>
        <p:sp>
          <p:nvSpPr>
            <p:cNvPr id="28" name="TextBox 28"/>
            <p:cNvSpPr txBox="1"/>
            <p:nvPr/>
          </p:nvSpPr>
          <p:spPr>
            <a:xfrm>
              <a:off x="678180" y="5686425"/>
              <a:ext cx="2872740" cy="560070"/>
            </a:xfrm>
            <a:prstGeom prst="rect">
              <a:avLst/>
            </a:prstGeom>
            <a:noFill/>
            <a:ln>
              <a:noFill/>
            </a:ln>
          </p:spPr>
          <p:txBody>
            <a:bodyPr wrap="none" lIns="0" tIns="0" rIns="0" bIns="0" anchor="t" anchorCtr="0">
              <a:spAutoFit/>
            </a:bodyPr>
            <a:lstStyle/>
            <a:p>
              <a:pPr algn="l">
                <a:lnSpc>
                  <a:spcPts val="2100"/>
                </a:lnSpc>
              </a:pPr>
              <a:r>
                <a:rPr lang="zh-Hant-TW" sz="1500" dirty="0">
                  <a:solidFill>
                    <a:schemeClr val="dk1"/>
                  </a:solidFill>
                  <a:latin typeface="+mn-lt"/>
                  <a:ea typeface="+mn-ea"/>
                  <a:cs typeface="+mn-cs"/>
                </a:rPr>
                <a:t>攻擊者可以改寫措辭，但改不掉</a:t>
              </a:r>
              <a:br/>
              <a:r>
                <a:rPr lang="zh-Hant-TW" sz="1500" dirty="0">
                  <a:solidFill>
                    <a:schemeClr val="dk1"/>
                  </a:solidFill>
                  <a:latin typeface="+mn-lt"/>
                  <a:ea typeface="+mn-ea"/>
                  <a:cs typeface="+mn-cs"/>
                </a:rPr>
                <a:t>「指令從上傳文件進來」的事實。</a:t>
              </a:r>
            </a:p>
          </p:txBody>
        </p:sp>
        <p:sp>
          <p:nvSpPr>
            <p:cNvPr id="29" name="TextBox 29"/>
            <p:cNvSpPr txBox="1"/>
            <p:nvPr/>
          </p:nvSpPr>
          <p:spPr>
            <a:xfrm>
              <a:off x="679704" y="6423660"/>
              <a:ext cx="2907487"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AgentDojo 銀行情境：注入 66.7% → 0%</a:t>
              </a:r>
            </a:p>
          </p:txBody>
        </p:sp>
      </p:grpSp>
      <p:grpSp>
        <p:nvGrpSpPr>
          <p:cNvPr id="33" name="Group 33"/>
          <p:cNvGrpSpPr/>
          <p:nvPr/>
        </p:nvGrpSpPr>
        <p:grpSpPr>
          <a:xfrm>
            <a:off x="3916680" y="5397818"/>
            <a:ext cx="2158365" cy="1115377"/>
            <a:chOff x="3916680" y="5397818"/>
            <a:chExt cx="2158365" cy="1115377"/>
          </a:xfrm>
        </p:grpSpPr>
        <p:sp>
          <p:nvSpPr>
            <p:cNvPr id="31" name="TextBox 31"/>
            <p:cNvSpPr txBox="1"/>
            <p:nvPr/>
          </p:nvSpPr>
          <p:spPr>
            <a:xfrm>
              <a:off x="3917442" y="5397818"/>
              <a:ext cx="785896"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明確不做</a:t>
              </a:r>
            </a:p>
          </p:txBody>
        </p:sp>
        <p:sp>
          <p:nvSpPr>
            <p:cNvPr id="32" name="TextBox 32"/>
            <p:cNvSpPr txBox="1"/>
            <p:nvPr/>
          </p:nvSpPr>
          <p:spPr>
            <a:xfrm>
              <a:off x="3916680" y="5686425"/>
              <a:ext cx="2158365" cy="826770"/>
            </a:xfrm>
            <a:prstGeom prst="rect">
              <a:avLst/>
            </a:prstGeom>
            <a:noFill/>
            <a:ln>
              <a:noFill/>
            </a:ln>
          </p:spPr>
          <p:txBody>
            <a:bodyPr wrap="none" lIns="0" tIns="0" rIns="0" bIns="0" anchor="t" anchorCtr="0">
              <a:spAutoFit/>
            </a:bodyPr>
            <a:lstStyle/>
            <a:p>
              <a:pPr algn="l">
                <a:lnSpc>
                  <a:spcPts val="2100"/>
                </a:lnSpc>
              </a:pPr>
              <a:r>
                <a:rPr lang="zh-Hant-TW" sz="1500" dirty="0">
                  <a:solidFill>
                    <a:schemeClr val="dk1"/>
                  </a:solidFill>
                  <a:latin typeface="+mn-lt"/>
                  <a:ea typeface="+mn-ea"/>
                  <a:cs typeface="+mn-cs"/>
                </a:rPr>
                <a:t>不做內容安全過濾。</a:t>
              </a:r>
              <a:br/>
              <a:r>
                <a:rPr lang="zh-Hant-TW" sz="1500" dirty="0">
                  <a:solidFill>
                    <a:schemeClr val="dk1"/>
                  </a:solidFill>
                  <a:latin typeface="+mn-lt"/>
                  <a:ea typeface="+mn-ea"/>
                  <a:cs typeface="+mn-cs"/>
                </a:rPr>
                <a:t>AgentGate 管的是</a:t>
              </a:r>
              <a:r>
                <a:rPr lang="zh-Hant-TW" sz="1500" dirty="0">
                  <a:solidFill>
                    <a:schemeClr val="accent1"/>
                  </a:solidFill>
                  <a:latin typeface="+mn-lt"/>
                  <a:ea typeface="+mn-ea"/>
                  <a:cs typeface="+mn-cs"/>
                </a:rPr>
                <a:t>動作</a:t>
              </a:r>
              <a:r>
                <a:rPr lang="zh-Hant-TW" sz="1500" dirty="0">
                  <a:solidFill>
                    <a:schemeClr val="dk1"/>
                  </a:solidFill>
                  <a:latin typeface="+mn-lt"/>
                  <a:ea typeface="+mn-ea"/>
                  <a:cs typeface="+mn-cs"/>
                </a:rPr>
                <a:t>，</a:t>
              </a:r>
              <a:br/>
              <a:r>
                <a:rPr lang="zh-Hant-TW" sz="1500" dirty="0">
                  <a:solidFill>
                    <a:schemeClr val="dk1"/>
                  </a:solidFill>
                  <a:latin typeface="+mn-lt"/>
                  <a:ea typeface="+mn-ea"/>
                  <a:cs typeface="+mn-cs"/>
                </a:rPr>
                <a:t>不是文字。</a:t>
              </a:r>
            </a:p>
          </p:txBody>
        </p:sp>
      </p:grpSp>
      <p:grpSp>
        <p:nvGrpSpPr>
          <p:cNvPr id="37" name="Group 37"/>
          <p:cNvGrpSpPr/>
          <p:nvPr/>
        </p:nvGrpSpPr>
        <p:grpSpPr>
          <a:xfrm>
            <a:off x="7042404" y="3356610"/>
            <a:ext cx="4463796" cy="3120390"/>
            <a:chOff x="7042404" y="3356610"/>
            <a:chExt cx="4463796" cy="3120390"/>
          </a:xfrm>
        </p:grpSpPr>
        <p:sp>
          <p:nvSpPr>
            <p:cNvPr id="34" name="TextBox 34"/>
            <p:cNvSpPr txBox="1"/>
            <p:nvPr/>
          </p:nvSpPr>
          <p:spPr>
            <a:xfrm>
              <a:off x="7042404" y="3356610"/>
              <a:ext cx="4443794"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真 LLM Agent 實際畫面（gpt-4o-mini，2026-09-06 擷取）</a:t>
              </a:r>
            </a:p>
          </p:txBody>
        </p:sp>
        <p:pic>
          <p:nvPicPr>
            <p:cNvPr id="35" name="Image 35"/>
            <p:cNvPicPr>
              <a:picLocks noChangeAspect="1"/>
            </p:cNvPicPr>
            <p:nvPr/>
          </p:nvPicPr>
          <p:blipFill>
            <a:blip r:embed="rId2"/>
            <a:stretch>
              <a:fillRect/>
            </a:stretch>
          </p:blipFill>
          <p:spPr>
            <a:xfrm>
              <a:off x="7048500" y="3638550"/>
              <a:ext cx="4457700" cy="2838450"/>
            </a:xfrm>
            <a:prstGeom prst="rect">
              <a:avLst/>
            </a:prstGeom>
          </p:spPr>
        </p:pic>
        <p:sp>
          <p:nvSpPr>
            <p:cNvPr id="36" name="Rectangle 36"/>
            <p:cNvSpPr/>
            <p:nvPr/>
          </p:nvSpPr>
          <p:spPr>
            <a:xfrm>
              <a:off x="7048500" y="3638550"/>
              <a:ext cx="4457700" cy="2838450"/>
            </a:xfrm>
            <a:prstGeom prst="rect">
              <a:avLst/>
            </a:prstGeom>
            <a:noFill/>
            <a:ln w="9525">
              <a:solidFill>
                <a:schemeClr val="accent6"/>
              </a:solidFill>
            </a:ln>
          </p:spPr>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alphaModFix amt="85000"/>
          </a:blip>
          <a:srcRect l="0" t="7812" r="0" b="7813"/>
          <a:stretch>
            <a:fillRect/>
          </a:stretch>
        </p:blipFill>
        <p:spPr>
          <a:xfrm>
            <a:off x="0" y="0"/>
            <a:ext cx="12192000" cy="6858000"/>
          </a:xfrm>
          <a:prstGeom prst="rect">
            <a:avLst/>
          </a:prstGeom>
        </p:spPr>
      </p:pic>
      <p:grpSp>
        <p:nvGrpSpPr>
          <p:cNvPr id="4" name="Group 4"/>
          <p:cNvGrpSpPr/>
          <p:nvPr/>
        </p:nvGrpSpPr>
        <p:grpSpPr>
          <a:xfrm>
            <a:off x="669798" y="726758"/>
            <a:ext cx="8937117" cy="616077"/>
            <a:chOff x="669798" y="726758"/>
            <a:chExt cx="8937117" cy="616077"/>
          </a:xfrm>
        </p:grpSpPr>
        <p:sp>
          <p:nvSpPr>
            <p:cNvPr id="3" name="TextBox 3"/>
            <p:cNvSpPr txBox="1"/>
            <p:nvPr/>
          </p:nvSpPr>
          <p:spPr>
            <a:xfrm>
              <a:off x="669798" y="726758"/>
              <a:ext cx="8937117"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任何一關都可以否決，而</a:t>
              </a:r>
              <a:r>
                <a:rPr lang="zh-Hant-TW" sz="3150" b="1" dirty="0">
                  <a:solidFill>
                    <a:srgbClr val="FF6B6B"/>
                  </a:solidFill>
                  <a:latin typeface="+mj-lt"/>
                  <a:ea typeface="+mj-ea"/>
                  <a:cs typeface="+mj-cs"/>
                </a:rPr>
                <a:t>否決本身也是稽核事件</a:t>
              </a:r>
            </a:p>
          </p:txBody>
        </p:sp>
      </p:grpSp>
      <p:grpSp>
        <p:nvGrpSpPr>
          <p:cNvPr id="6" name="Group 6"/>
          <p:cNvGrpSpPr/>
          <p:nvPr/>
        </p:nvGrpSpPr>
        <p:grpSpPr>
          <a:xfrm>
            <a:off x="673608" y="1436370"/>
            <a:ext cx="7555870" cy="469392"/>
            <a:chOff x="673608" y="1436370"/>
            <a:chExt cx="7555870" cy="469392"/>
          </a:xfrm>
        </p:grpSpPr>
        <p:sp>
          <p:nvSpPr>
            <p:cNvPr id="5" name="TextBox 5"/>
            <p:cNvSpPr txBox="1"/>
            <p:nvPr/>
          </p:nvSpPr>
          <p:spPr>
            <a:xfrm>
              <a:off x="673608" y="1436370"/>
              <a:ext cx="7555870" cy="469392"/>
            </a:xfrm>
            <a:prstGeom prst="rect">
              <a:avLst/>
            </a:prstGeom>
            <a:noFill/>
            <a:ln>
              <a:noFill/>
            </a:ln>
          </p:spPr>
          <p:txBody>
            <a:bodyPr wrap="none" lIns="0" tIns="0" rIns="0" bIns="0" anchor="t" anchorCtr="0">
              <a:spAutoFit/>
            </a:bodyPr>
            <a:lstStyle/>
            <a:p>
              <a:pPr algn="l"/>
              <a:r>
                <a:rPr lang="zh-Hant-TW" sz="2400" dirty="0">
                  <a:solidFill>
                    <a:schemeClr val="accent5"/>
                  </a:solidFill>
                  <a:latin typeface="+mn-lt"/>
                  <a:ea typeface="+mn-ea"/>
                  <a:cs typeface="+mn-cs"/>
                </a:rPr>
                <a:t>Agent 不再直接呼叫工具，改為提出結構化動作請求</a:t>
              </a:r>
            </a:p>
          </p:txBody>
        </p:sp>
      </p:grpSp>
      <p:sp>
        <p:nvSpPr>
          <p:cNvPr id="7" name="Freeform 7"/>
          <p:cNvSpPr/>
          <p:nvPr/>
        </p:nvSpPr>
        <p:spPr>
          <a:xfrm>
            <a:off x="685800" y="2095500"/>
            <a:ext cx="1828800" cy="914400"/>
          </a:xfrm>
          <a:prstGeom prst="chevron">
            <a:avLst/>
          </a:prstGeom>
          <a:solidFill>
            <a:srgbClr val="182337"/>
          </a:solidFill>
          <a:ln w="14288">
            <a:solidFill>
              <a:schemeClr val="accent1"/>
            </a:solidFill>
          </a:ln>
        </p:spPr>
      </p:sp>
      <p:sp>
        <p:nvSpPr>
          <p:cNvPr id="8" name="Freeform 8"/>
          <p:cNvSpPr/>
          <p:nvPr/>
        </p:nvSpPr>
        <p:spPr>
          <a:xfrm>
            <a:off x="2419350" y="2095500"/>
            <a:ext cx="1828800" cy="914400"/>
          </a:xfrm>
          <a:prstGeom prst="chevron">
            <a:avLst/>
          </a:prstGeom>
          <a:solidFill>
            <a:srgbClr val="182337"/>
          </a:solidFill>
          <a:ln w="14288">
            <a:solidFill>
              <a:schemeClr val="accent1"/>
            </a:solidFill>
          </a:ln>
        </p:spPr>
      </p:sp>
      <p:sp>
        <p:nvSpPr>
          <p:cNvPr id="9" name="Freeform 9"/>
          <p:cNvSpPr/>
          <p:nvPr/>
        </p:nvSpPr>
        <p:spPr>
          <a:xfrm>
            <a:off x="4152900" y="2095500"/>
            <a:ext cx="1828800" cy="914400"/>
          </a:xfrm>
          <a:prstGeom prst="chevron">
            <a:avLst/>
          </a:prstGeom>
          <a:solidFill>
            <a:srgbClr val="182337"/>
          </a:solidFill>
          <a:ln w="14288">
            <a:solidFill>
              <a:schemeClr val="accent1"/>
            </a:solidFill>
          </a:ln>
        </p:spPr>
      </p:sp>
      <p:sp>
        <p:nvSpPr>
          <p:cNvPr id="10" name="Freeform 10"/>
          <p:cNvSpPr/>
          <p:nvPr/>
        </p:nvSpPr>
        <p:spPr>
          <a:xfrm>
            <a:off x="5886450" y="2095500"/>
            <a:ext cx="1828800" cy="914400"/>
          </a:xfrm>
          <a:prstGeom prst="chevron">
            <a:avLst/>
          </a:prstGeom>
          <a:solidFill>
            <a:srgbClr val="182337"/>
          </a:solidFill>
          <a:ln w="14288">
            <a:solidFill>
              <a:schemeClr val="accent1"/>
            </a:solidFill>
          </a:ln>
        </p:spPr>
      </p:sp>
      <p:sp>
        <p:nvSpPr>
          <p:cNvPr id="11" name="Freeform 11"/>
          <p:cNvSpPr/>
          <p:nvPr/>
        </p:nvSpPr>
        <p:spPr>
          <a:xfrm>
            <a:off x="7620000" y="2095500"/>
            <a:ext cx="1828800" cy="914400"/>
          </a:xfrm>
          <a:prstGeom prst="chevron">
            <a:avLst/>
          </a:prstGeom>
          <a:solidFill>
            <a:srgbClr val="182337"/>
          </a:solidFill>
          <a:ln w="14288">
            <a:solidFill>
              <a:schemeClr val="accent2"/>
            </a:solidFill>
          </a:ln>
        </p:spPr>
      </p:sp>
      <p:sp>
        <p:nvSpPr>
          <p:cNvPr id="12" name="Freeform 12"/>
          <p:cNvSpPr/>
          <p:nvPr/>
        </p:nvSpPr>
        <p:spPr>
          <a:xfrm>
            <a:off x="9353550" y="2095500"/>
            <a:ext cx="1828800" cy="914400"/>
          </a:xfrm>
          <a:prstGeom prst="chevron">
            <a:avLst/>
          </a:prstGeom>
          <a:solidFill>
            <a:srgbClr val="182337"/>
          </a:solidFill>
          <a:ln w="14288">
            <a:solidFill>
              <a:schemeClr val="accent3"/>
            </a:solidFill>
          </a:ln>
        </p:spPr>
      </p:sp>
      <p:grpSp>
        <p:nvGrpSpPr>
          <p:cNvPr id="25" name="Group 25"/>
          <p:cNvGrpSpPr/>
          <p:nvPr/>
        </p:nvGrpSpPr>
        <p:grpSpPr>
          <a:xfrm>
            <a:off x="1229868" y="2279332"/>
            <a:ext cx="9408414" cy="582169"/>
            <a:chOff x="1229868" y="2279332"/>
            <a:chExt cx="9408414" cy="582169"/>
          </a:xfrm>
        </p:grpSpPr>
        <p:sp>
          <p:nvSpPr>
            <p:cNvPr id="13" name="TextBox 13"/>
            <p:cNvSpPr txBox="1"/>
            <p:nvPr/>
          </p:nvSpPr>
          <p:spPr>
            <a:xfrm>
              <a:off x="145628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1"/>
                  </a:solidFill>
                  <a:latin typeface="Consolas"/>
                  <a:ea typeface="Consolas"/>
                  <a:cs typeface="Consolas"/>
                </a:rPr>
                <a:t>G1</a:t>
              </a:r>
            </a:p>
          </p:txBody>
        </p:sp>
        <p:sp>
          <p:nvSpPr>
            <p:cNvPr id="14" name="TextBox 14"/>
            <p:cNvSpPr txBox="1"/>
            <p:nvPr/>
          </p:nvSpPr>
          <p:spPr>
            <a:xfrm>
              <a:off x="122986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動作解析</a:t>
              </a:r>
            </a:p>
          </p:txBody>
        </p:sp>
        <p:sp>
          <p:nvSpPr>
            <p:cNvPr id="15" name="TextBox 15"/>
            <p:cNvSpPr txBox="1"/>
            <p:nvPr/>
          </p:nvSpPr>
          <p:spPr>
            <a:xfrm>
              <a:off x="318983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1"/>
                  </a:solidFill>
                  <a:latin typeface="Consolas"/>
                  <a:ea typeface="Consolas"/>
                  <a:cs typeface="Consolas"/>
                </a:rPr>
                <a:t>G0</a:t>
              </a:r>
            </a:p>
          </p:txBody>
        </p:sp>
        <p:sp>
          <p:nvSpPr>
            <p:cNvPr id="16" name="TextBox 16"/>
            <p:cNvSpPr txBox="1"/>
            <p:nvPr/>
          </p:nvSpPr>
          <p:spPr>
            <a:xfrm>
              <a:off x="296341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來源信任</a:t>
              </a:r>
            </a:p>
          </p:txBody>
        </p:sp>
        <p:sp>
          <p:nvSpPr>
            <p:cNvPr id="17" name="TextBox 17"/>
            <p:cNvSpPr txBox="1"/>
            <p:nvPr/>
          </p:nvSpPr>
          <p:spPr>
            <a:xfrm>
              <a:off x="492338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1"/>
                  </a:solidFill>
                  <a:latin typeface="Consolas"/>
                  <a:ea typeface="Consolas"/>
                  <a:cs typeface="Consolas"/>
                </a:rPr>
                <a:t>G2</a:t>
              </a:r>
            </a:p>
          </p:txBody>
        </p:sp>
        <p:sp>
          <p:nvSpPr>
            <p:cNvPr id="18" name="TextBox 18"/>
            <p:cNvSpPr txBox="1"/>
            <p:nvPr/>
          </p:nvSpPr>
          <p:spPr>
            <a:xfrm>
              <a:off x="469696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政策裁決</a:t>
              </a:r>
            </a:p>
          </p:txBody>
        </p:sp>
        <p:sp>
          <p:nvSpPr>
            <p:cNvPr id="19" name="TextBox 19"/>
            <p:cNvSpPr txBox="1"/>
            <p:nvPr/>
          </p:nvSpPr>
          <p:spPr>
            <a:xfrm>
              <a:off x="665693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1"/>
                  </a:solidFill>
                  <a:latin typeface="Consolas"/>
                  <a:ea typeface="Consolas"/>
                  <a:cs typeface="Consolas"/>
                </a:rPr>
                <a:t>G3</a:t>
              </a:r>
            </a:p>
          </p:txBody>
        </p:sp>
        <p:sp>
          <p:nvSpPr>
            <p:cNvPr id="20" name="TextBox 20"/>
            <p:cNvSpPr txBox="1"/>
            <p:nvPr/>
          </p:nvSpPr>
          <p:spPr>
            <a:xfrm>
              <a:off x="643051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後果預演</a:t>
              </a:r>
            </a:p>
          </p:txBody>
        </p:sp>
        <p:sp>
          <p:nvSpPr>
            <p:cNvPr id="21" name="TextBox 21"/>
            <p:cNvSpPr txBox="1"/>
            <p:nvPr/>
          </p:nvSpPr>
          <p:spPr>
            <a:xfrm>
              <a:off x="839048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2"/>
                  </a:solidFill>
                  <a:latin typeface="Consolas"/>
                  <a:ea typeface="Consolas"/>
                  <a:cs typeface="Consolas"/>
                </a:rPr>
                <a:t>G4</a:t>
              </a:r>
            </a:p>
          </p:txBody>
        </p:sp>
        <p:sp>
          <p:nvSpPr>
            <p:cNvPr id="22" name="TextBox 22"/>
            <p:cNvSpPr txBox="1"/>
            <p:nvPr/>
          </p:nvSpPr>
          <p:spPr>
            <a:xfrm>
              <a:off x="816406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人工核准</a:t>
              </a:r>
            </a:p>
          </p:txBody>
        </p:sp>
        <p:sp>
          <p:nvSpPr>
            <p:cNvPr id="23" name="TextBox 23"/>
            <p:cNvSpPr txBox="1"/>
            <p:nvPr/>
          </p:nvSpPr>
          <p:spPr>
            <a:xfrm>
              <a:off x="10124031" y="2279332"/>
              <a:ext cx="287838" cy="322707"/>
            </a:xfrm>
            <a:prstGeom prst="rect">
              <a:avLst/>
            </a:prstGeom>
            <a:noFill/>
            <a:ln>
              <a:noFill/>
            </a:ln>
          </p:spPr>
          <p:txBody>
            <a:bodyPr wrap="none" lIns="0" tIns="0" rIns="0" bIns="0" anchor="t" anchorCtr="0">
              <a:spAutoFit/>
            </a:bodyPr>
            <a:lstStyle/>
            <a:p>
              <a:pPr algn="ctr"/>
              <a:r>
                <a:rPr lang="zh-Hant-TW" sz="1650" b="1" dirty="0">
                  <a:solidFill>
                    <a:schemeClr val="accent3"/>
                  </a:solidFill>
                  <a:latin typeface="Consolas"/>
                  <a:ea typeface="Consolas"/>
                  <a:cs typeface="Consolas"/>
                </a:rPr>
                <a:t>G5</a:t>
              </a:r>
            </a:p>
          </p:txBody>
        </p:sp>
        <p:sp>
          <p:nvSpPr>
            <p:cNvPr id="24" name="TextBox 24"/>
            <p:cNvSpPr txBox="1"/>
            <p:nvPr/>
          </p:nvSpPr>
          <p:spPr>
            <a:xfrm>
              <a:off x="9897618" y="2597468"/>
              <a:ext cx="740664" cy="264033"/>
            </a:xfrm>
            <a:prstGeom prst="rect">
              <a:avLst/>
            </a:prstGeom>
            <a:noFill/>
            <a:ln>
              <a:noFill/>
            </a:ln>
          </p:spPr>
          <p:txBody>
            <a:bodyPr wrap="none" lIns="0" tIns="0" rIns="0" bIns="0" anchor="t" anchorCtr="0">
              <a:spAutoFit/>
            </a:bodyPr>
            <a:lstStyle/>
            <a:p>
              <a:pPr algn="ctr"/>
              <a:r>
                <a:rPr lang="zh-Hant-TW" sz="1350" dirty="0">
                  <a:solidFill>
                    <a:schemeClr val="dk1"/>
                  </a:solidFill>
                  <a:latin typeface="+mn-lt"/>
                  <a:ea typeface="+mn-ea"/>
                  <a:cs typeface="+mn-cs"/>
                </a:rPr>
                <a:t>執行封存</a:t>
              </a:r>
            </a:p>
          </p:txBody>
        </p:sp>
      </p:grpSp>
      <p:grpSp>
        <p:nvGrpSpPr>
          <p:cNvPr id="32" name="Group 32"/>
          <p:cNvGrpSpPr/>
          <p:nvPr/>
        </p:nvGrpSpPr>
        <p:grpSpPr>
          <a:xfrm>
            <a:off x="678942" y="3245168"/>
            <a:ext cx="9735883" cy="759333"/>
            <a:chOff x="678942" y="3245168"/>
            <a:chExt cx="9735883" cy="759333"/>
          </a:xfrm>
        </p:grpSpPr>
        <p:sp>
          <p:nvSpPr>
            <p:cNvPr id="26" name="TextBox 26"/>
            <p:cNvSpPr txBox="1"/>
            <p:nvPr/>
          </p:nvSpPr>
          <p:spPr>
            <a:xfrm>
              <a:off x="678942" y="3245168"/>
              <a:ext cx="1042416"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工具呼叫轉為</a:t>
              </a:r>
              <a:br/>
              <a:r>
                <a:rPr lang="zh-Hant-TW" sz="1350" dirty="0">
                  <a:solidFill>
                    <a:schemeClr val="accent5"/>
                  </a:solidFill>
                  <a:latin typeface="+mn-lt"/>
                  <a:ea typeface="+mn-ea"/>
                  <a:cs typeface="+mn-cs"/>
                </a:rPr>
                <a:t>結構化動作</a:t>
              </a:r>
              <a:br/>
              <a:r>
                <a:rPr lang="zh-Hant-TW" sz="1350" dirty="0">
                  <a:solidFill>
                    <a:schemeClr val="accent5"/>
                  </a:solidFill>
                  <a:latin typeface="+mn-lt"/>
                  <a:ea typeface="+mn-ea"/>
                  <a:cs typeface="+mn-cs"/>
                </a:rPr>
                <a:t>並驗證參數</a:t>
              </a:r>
            </a:p>
          </p:txBody>
        </p:sp>
        <p:sp>
          <p:nvSpPr>
            <p:cNvPr id="27" name="TextBox 27"/>
            <p:cNvSpPr txBox="1"/>
            <p:nvPr/>
          </p:nvSpPr>
          <p:spPr>
            <a:xfrm>
              <a:off x="2412492" y="3245168"/>
              <a:ext cx="1213866"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最弱環節定上限</a:t>
              </a:r>
              <a:br/>
              <a:r>
                <a:rPr lang="zh-Hant-TW" sz="1350" dirty="0">
                  <a:solidFill>
                    <a:schemeClr val="accent5"/>
                  </a:solidFill>
                  <a:latin typeface="+mn-lt"/>
                  <a:ea typeface="+mn-ea"/>
                  <a:cs typeface="+mn-cs"/>
                </a:rPr>
                <a:t>指紋相符的確認</a:t>
              </a:r>
              <a:br/>
              <a:r>
                <a:rPr lang="zh-Hant-TW" sz="1350" dirty="0">
                  <a:solidFill>
                    <a:schemeClr val="accent5"/>
                  </a:solidFill>
                  <a:latin typeface="+mn-lt"/>
                  <a:ea typeface="+mn-ea"/>
                  <a:cs typeface="+mn-cs"/>
                </a:rPr>
                <a:t>節點才可提升</a:t>
              </a:r>
            </a:p>
          </p:txBody>
        </p:sp>
        <p:sp>
          <p:nvSpPr>
            <p:cNvPr id="28" name="TextBox 28"/>
            <p:cNvSpPr txBox="1"/>
            <p:nvPr/>
          </p:nvSpPr>
          <p:spPr>
            <a:xfrm>
              <a:off x="4146042" y="3245168"/>
              <a:ext cx="1205294"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7 動作權限表</a:t>
              </a:r>
              <a:br/>
              <a:r>
                <a:rPr lang="zh-Hant-TW" sz="1350" dirty="0">
                  <a:solidFill>
                    <a:schemeClr val="accent5"/>
                  </a:solidFill>
                  <a:latin typeface="+mn-lt"/>
                  <a:ea typeface="+mn-ea"/>
                  <a:cs typeface="+mn-cs"/>
                </a:rPr>
                <a:t>+ 13 條 AG 規則</a:t>
              </a:r>
              <a:br/>
              <a:r>
                <a:rPr lang="zh-Hant-TW" sz="1350" dirty="0">
                  <a:solidFill>
                    <a:schemeClr val="accent5"/>
                  </a:solidFill>
                  <a:latin typeface="+mn-lt"/>
                  <a:ea typeface="+mn-ea"/>
                  <a:cs typeface="+mn-cs"/>
                </a:rPr>
                <a:t>動態升級風險</a:t>
              </a:r>
            </a:p>
          </p:txBody>
        </p:sp>
        <p:sp>
          <p:nvSpPr>
            <p:cNvPr id="29" name="TextBox 29"/>
            <p:cNvSpPr txBox="1"/>
            <p:nvPr/>
          </p:nvSpPr>
          <p:spPr>
            <a:xfrm>
              <a:off x="5879592" y="3245168"/>
              <a:ext cx="1042416"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影子環境乾跑</a:t>
              </a:r>
              <a:br/>
              <a:r>
                <a:rPr lang="zh-Hant-TW" sz="1350" dirty="0">
                  <a:solidFill>
                    <a:schemeClr val="accent5"/>
                  </a:solidFill>
                  <a:latin typeface="+mn-lt"/>
                  <a:ea typeface="+mn-ea"/>
                  <a:cs typeface="+mn-cs"/>
                </a:rPr>
                <a:t>實測影響範圍</a:t>
              </a:r>
              <a:br/>
              <a:r>
                <a:rPr lang="zh-Hant-TW" sz="1350" dirty="0">
                  <a:solidFill>
                    <a:schemeClr val="accent5"/>
                  </a:solidFill>
                  <a:latin typeface="+mn-lt"/>
                  <a:ea typeface="+mn-ea"/>
                  <a:cs typeface="+mn-cs"/>
                </a:rPr>
                <a:t>與可回復性</a:t>
              </a:r>
            </a:p>
          </p:txBody>
        </p:sp>
        <p:sp>
          <p:nvSpPr>
            <p:cNvPr id="30" name="TextBox 30"/>
            <p:cNvSpPr txBox="1"/>
            <p:nvPr/>
          </p:nvSpPr>
          <p:spPr>
            <a:xfrm>
              <a:off x="7613142" y="3245168"/>
              <a:ext cx="1042416"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15 秒證據包</a:t>
              </a:r>
              <a:br/>
              <a:r>
                <a:rPr lang="zh-Hant-TW" sz="1350" dirty="0">
                  <a:solidFill>
                    <a:schemeClr val="accent5"/>
                  </a:solidFill>
                  <a:latin typeface="+mn-lt"/>
                  <a:ea typeface="+mn-ea"/>
                  <a:cs typeface="+mn-cs"/>
                </a:rPr>
                <a:t>綁定經驗證的</a:t>
              </a:r>
              <a:br/>
              <a:r>
                <a:rPr lang="zh-Hant-TW" sz="1350" dirty="0">
                  <a:solidFill>
                    <a:schemeClr val="accent5"/>
                  </a:solidFill>
                  <a:latin typeface="+mn-lt"/>
                  <a:ea typeface="+mn-ea"/>
                  <a:cs typeface="+mn-cs"/>
                </a:rPr>
                <a:t>核准者身分</a:t>
              </a:r>
            </a:p>
          </p:txBody>
        </p:sp>
        <p:sp>
          <p:nvSpPr>
            <p:cNvPr id="31" name="TextBox 31"/>
            <p:cNvSpPr txBox="1"/>
            <p:nvPr/>
          </p:nvSpPr>
          <p:spPr>
            <a:xfrm>
              <a:off x="9346692" y="3245168"/>
              <a:ext cx="1068133" cy="759333"/>
            </a:xfrm>
            <a:prstGeom prst="rect">
              <a:avLst/>
            </a:prstGeom>
            <a:noFill/>
            <a:ln>
              <a:noFill/>
            </a:ln>
          </p:spPr>
          <p:txBody>
            <a:bodyPr wrap="none" lIns="0" tIns="0" rIns="0" bIns="0" anchor="t" anchorCtr="0">
              <a:spAutoFit/>
            </a:bodyPr>
            <a:lstStyle/>
            <a:p>
              <a:pPr algn="l">
                <a:lnSpc>
                  <a:spcPts val="1950"/>
                </a:lnSpc>
              </a:pPr>
              <a:r>
                <a:rPr lang="zh-Hant-TW" sz="1350" dirty="0">
                  <a:solidFill>
                    <a:schemeClr val="accent5"/>
                  </a:solidFill>
                  <a:latin typeface="+mn-lt"/>
                  <a:ea typeface="+mn-ea"/>
                  <a:cs typeface="+mn-cs"/>
                </a:rPr>
                <a:t>執行 + 雜湊鏈</a:t>
              </a:r>
              <a:br/>
              <a:r>
                <a:rPr lang="zh-Hant-TW" sz="1350" dirty="0">
                  <a:solidFill>
                    <a:schemeClr val="accent5"/>
                  </a:solidFill>
                  <a:latin typeface="+mn-lt"/>
                  <a:ea typeface="+mn-ea"/>
                  <a:cs typeface="+mn-cs"/>
                </a:rPr>
                <a:t>封存，可驗證</a:t>
              </a:r>
              <a:br/>
              <a:r>
                <a:rPr lang="zh-Hant-TW" sz="1350" dirty="0">
                  <a:solidFill>
                    <a:schemeClr val="accent5"/>
                  </a:solidFill>
                  <a:latin typeface="+mn-lt"/>
                  <a:ea typeface="+mn-ea"/>
                  <a:cs typeface="+mn-cs"/>
                </a:rPr>
                <a:t>竄改</a:t>
              </a:r>
            </a:p>
          </p:txBody>
        </p:sp>
      </p:grpSp>
      <p:sp>
        <p:nvSpPr>
          <p:cNvPr id="33" name="Freeform 33"/>
          <p:cNvSpPr/>
          <p:nvPr/>
        </p:nvSpPr>
        <p:spPr>
          <a:xfrm>
            <a:off x="4095750" y="4438650"/>
            <a:ext cx="4000500" cy="590550"/>
          </a:xfrm>
          <a:prstGeom prst="snip2DiagRect">
            <a:avLst>
              <a:gd name="adj1" fmla="val 20000"/>
              <a:gd name="adj2" fmla="val 16667"/>
            </a:avLst>
          </a:prstGeom>
          <a:solidFill>
            <a:srgbClr val="2A1620"/>
          </a:solidFill>
          <a:ln w="14288">
            <a:solidFill>
              <a:srgbClr val="FF6B6B"/>
            </a:solidFill>
          </a:ln>
        </p:spPr>
      </p:sp>
      <p:grpSp>
        <p:nvGrpSpPr>
          <p:cNvPr id="41" name="Group 41"/>
          <p:cNvGrpSpPr/>
          <p:nvPr/>
        </p:nvGrpSpPr>
        <p:grpSpPr>
          <a:xfrm>
            <a:off x="1600200" y="4133850"/>
            <a:ext cx="5465556" cy="811339"/>
            <a:chOff x="1600200" y="4133850"/>
            <a:chExt cx="5465556" cy="811339"/>
          </a:xfrm>
        </p:grpSpPr>
        <p:sp>
          <p:nvSpPr>
            <p:cNvPr id="34" name="Line 34"/>
            <p:cNvSpPr/>
            <p:nvPr/>
          </p:nvSpPr>
          <p:spPr>
            <a:xfrm>
              <a:off x="1600200" y="4133850"/>
              <a:ext cx="9525" cy="171450"/>
            </a:xfrm>
            <a:custGeom>
              <a:avLst/>
              <a:gdLst/>
              <a:ahLst/>
              <a:cxnLst/>
              <a:rect l="l" t="t" r="r" b="b"/>
              <a:pathLst>
                <a:path w="9525" h="171450">
                  <a:moveTo>
                    <a:pt x="0" y="0"/>
                  </a:moveTo>
                  <a:lnTo>
                    <a:pt x="0" y="171450"/>
                  </a:lnTo>
                </a:path>
              </a:pathLst>
            </a:custGeom>
            <a:noFill/>
            <a:ln w="14288">
              <a:solidFill>
                <a:srgbClr val="FF6B6B"/>
              </a:solidFill>
              <a:prstDash val="dash"/>
            </a:ln>
          </p:spPr>
        </p:sp>
        <p:sp>
          <p:nvSpPr>
            <p:cNvPr id="35" name="Line 35"/>
            <p:cNvSpPr/>
            <p:nvPr/>
          </p:nvSpPr>
          <p:spPr>
            <a:xfrm>
              <a:off x="3333750" y="4133850"/>
              <a:ext cx="9525" cy="171450"/>
            </a:xfrm>
            <a:custGeom>
              <a:avLst/>
              <a:gdLst/>
              <a:ahLst/>
              <a:cxnLst/>
              <a:rect l="l" t="t" r="r" b="b"/>
              <a:pathLst>
                <a:path w="9525" h="171450">
                  <a:moveTo>
                    <a:pt x="0" y="0"/>
                  </a:moveTo>
                  <a:lnTo>
                    <a:pt x="0" y="171450"/>
                  </a:lnTo>
                </a:path>
              </a:pathLst>
            </a:custGeom>
            <a:noFill/>
            <a:ln w="14288">
              <a:solidFill>
                <a:srgbClr val="FF6B6B"/>
              </a:solidFill>
              <a:prstDash val="dash"/>
            </a:ln>
          </p:spPr>
        </p:sp>
        <p:sp>
          <p:nvSpPr>
            <p:cNvPr id="36" name="Line 36"/>
            <p:cNvSpPr/>
            <p:nvPr/>
          </p:nvSpPr>
          <p:spPr>
            <a:xfrm>
              <a:off x="5067300" y="4133850"/>
              <a:ext cx="9525" cy="171450"/>
            </a:xfrm>
            <a:custGeom>
              <a:avLst/>
              <a:gdLst/>
              <a:ahLst/>
              <a:cxnLst/>
              <a:rect l="l" t="t" r="r" b="b"/>
              <a:pathLst>
                <a:path w="9525" h="171450">
                  <a:moveTo>
                    <a:pt x="0" y="0"/>
                  </a:moveTo>
                  <a:lnTo>
                    <a:pt x="0" y="171450"/>
                  </a:lnTo>
                </a:path>
              </a:pathLst>
            </a:custGeom>
            <a:noFill/>
            <a:ln w="14288">
              <a:solidFill>
                <a:srgbClr val="FF6B6B"/>
              </a:solidFill>
              <a:prstDash val="dash"/>
            </a:ln>
          </p:spPr>
        </p:sp>
        <p:sp>
          <p:nvSpPr>
            <p:cNvPr id="37" name="Line 37"/>
            <p:cNvSpPr/>
            <p:nvPr/>
          </p:nvSpPr>
          <p:spPr>
            <a:xfrm>
              <a:off x="6800850" y="4133850"/>
              <a:ext cx="9525" cy="171450"/>
            </a:xfrm>
            <a:custGeom>
              <a:avLst/>
              <a:gdLst/>
              <a:ahLst/>
              <a:cxnLst/>
              <a:rect l="l" t="t" r="r" b="b"/>
              <a:pathLst>
                <a:path w="9525" h="171450">
                  <a:moveTo>
                    <a:pt x="0" y="0"/>
                  </a:moveTo>
                  <a:lnTo>
                    <a:pt x="0" y="171450"/>
                  </a:lnTo>
                </a:path>
              </a:pathLst>
            </a:custGeom>
            <a:noFill/>
            <a:ln w="14288">
              <a:solidFill>
                <a:srgbClr val="FF6B6B"/>
              </a:solidFill>
              <a:prstDash val="dash"/>
            </a:ln>
          </p:spPr>
        </p:sp>
        <p:sp>
          <p:nvSpPr>
            <p:cNvPr id="38" name="Line 38"/>
            <p:cNvSpPr/>
            <p:nvPr/>
          </p:nvSpPr>
          <p:spPr>
            <a:xfrm>
              <a:off x="1600200" y="4305300"/>
              <a:ext cx="5200650" cy="9525"/>
            </a:xfrm>
            <a:custGeom>
              <a:avLst/>
              <a:gdLst/>
              <a:ahLst/>
              <a:cxnLst/>
              <a:rect l="l" t="t" r="r" b="b"/>
              <a:pathLst>
                <a:path w="5200650" h="9525">
                  <a:moveTo>
                    <a:pt x="0" y="0"/>
                  </a:moveTo>
                  <a:lnTo>
                    <a:pt x="5200650" y="0"/>
                  </a:lnTo>
                </a:path>
              </a:pathLst>
            </a:custGeom>
            <a:noFill/>
            <a:ln w="14288">
              <a:solidFill>
                <a:srgbClr val="FF6B6B"/>
              </a:solidFill>
            </a:ln>
          </p:spPr>
        </p:sp>
        <p:sp>
          <p:nvSpPr>
            <p:cNvPr id="39" name="Line 39"/>
            <p:cNvSpPr/>
            <p:nvPr/>
          </p:nvSpPr>
          <p:spPr>
            <a:xfrm>
              <a:off x="4200525" y="4305300"/>
              <a:ext cx="9525" cy="133350"/>
            </a:xfrm>
            <a:custGeom>
              <a:avLst/>
              <a:gdLst/>
              <a:ahLst/>
              <a:cxnLst/>
              <a:rect l="l" t="t" r="r" b="b"/>
              <a:pathLst>
                <a:path w="9525" h="133350">
                  <a:moveTo>
                    <a:pt x="0" y="0"/>
                  </a:moveTo>
                  <a:lnTo>
                    <a:pt x="0" y="133350"/>
                  </a:lnTo>
                </a:path>
              </a:pathLst>
            </a:custGeom>
            <a:noFill/>
            <a:ln w="14288">
              <a:solidFill>
                <a:srgbClr val="FF6B6B"/>
              </a:solidFill>
            </a:ln>
          </p:spPr>
        </p:sp>
        <p:sp>
          <p:nvSpPr>
            <p:cNvPr id="40" name="TextBox 40"/>
            <p:cNvSpPr txBox="1"/>
            <p:nvPr/>
          </p:nvSpPr>
          <p:spPr>
            <a:xfrm>
              <a:off x="5126245" y="4622482"/>
              <a:ext cx="1939511" cy="322707"/>
            </a:xfrm>
            <a:prstGeom prst="rect">
              <a:avLst/>
            </a:prstGeom>
            <a:noFill/>
            <a:ln>
              <a:noFill/>
            </a:ln>
          </p:spPr>
          <p:txBody>
            <a:bodyPr wrap="none" lIns="0" tIns="0" rIns="0" bIns="0" anchor="t" anchorCtr="0">
              <a:spAutoFit/>
            </a:bodyPr>
            <a:lstStyle/>
            <a:p>
              <a:pPr algn="ctr"/>
              <a:r>
                <a:rPr lang="zh-Hant-TW" sz="1650" b="1" dirty="0">
                  <a:solidFill>
                    <a:srgbClr val="FF6B6B"/>
                  </a:solidFill>
                  <a:latin typeface="Consolas"/>
                  <a:ea typeface="Microsoft YaHei"/>
                  <a:cs typeface="Consolas"/>
                </a:rPr>
                <a:t>BLOCK ／ REJECT</a:t>
              </a:r>
            </a:p>
          </p:txBody>
        </p:sp>
      </p:grpSp>
      <p:grpSp>
        <p:nvGrpSpPr>
          <p:cNvPr id="45" name="Group 45"/>
          <p:cNvGrpSpPr/>
          <p:nvPr/>
        </p:nvGrpSpPr>
        <p:grpSpPr>
          <a:xfrm>
            <a:off x="676656" y="5330190"/>
            <a:ext cx="9319565" cy="998411"/>
            <a:chOff x="676656" y="5330190"/>
            <a:chExt cx="9319565" cy="998411"/>
          </a:xfrm>
        </p:grpSpPr>
        <p:sp>
          <p:nvSpPr>
            <p:cNvPr id="42" name="TextBox 42"/>
            <p:cNvSpPr txBox="1"/>
            <p:nvPr/>
          </p:nvSpPr>
          <p:spPr>
            <a:xfrm>
              <a:off x="676656" y="5330190"/>
              <a:ext cx="9319565"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被擋下的動作與被執行的動作，留下</a:t>
              </a:r>
              <a:r>
                <a:rPr lang="zh-Hant-TW" sz="1800" dirty="0">
                  <a:solidFill>
                    <a:schemeClr val="accent1"/>
                  </a:solidFill>
                  <a:latin typeface="+mn-lt"/>
                  <a:ea typeface="+mn-ea"/>
                  <a:cs typeface="+mn-cs"/>
                </a:rPr>
                <a:t>同等完整</a:t>
              </a:r>
              <a:r>
                <a:rPr lang="zh-Hant-TW" sz="1800" dirty="0">
                  <a:solidFill>
                    <a:schemeClr val="dk1"/>
                  </a:solidFill>
                  <a:latin typeface="+mn-lt"/>
                  <a:ea typeface="+mn-ea"/>
                  <a:cs typeface="+mn-cs"/>
                </a:rPr>
                <a:t>的紀錄；G5 之後才寫入影子電信後台。</a:t>
              </a:r>
            </a:p>
          </p:txBody>
        </p:sp>
        <p:sp>
          <p:nvSpPr>
            <p:cNvPr id="43" name="TextBox 43"/>
            <p:cNvSpPr txBox="1"/>
            <p:nvPr/>
          </p:nvSpPr>
          <p:spPr>
            <a:xfrm>
              <a:off x="676656" y="5692140"/>
              <a:ext cx="6318504"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整條管線只有一個入口與一個出口，回傳同一份裁決結果。</a:t>
              </a:r>
            </a:p>
          </p:txBody>
        </p:sp>
        <p:sp>
          <p:nvSpPr>
            <p:cNvPr id="44" name="TextBox 44"/>
            <p:cNvSpPr txBox="1"/>
            <p:nvPr/>
          </p:nvSpPr>
          <p:spPr>
            <a:xfrm>
              <a:off x="678942" y="6064568"/>
              <a:ext cx="8818016"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六道關卡中只有 G1 的格式轉換允許使用 LLM，而且它的輸出必須先通過參數驗證，才進得了政策裁決。</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8572500" y="533400"/>
            <a:ext cx="2857500" cy="133350"/>
            <a:chOff x="8572500" y="533400"/>
            <a:chExt cx="2857500" cy="133350"/>
          </a:xfrm>
        </p:grpSpPr>
        <p:sp>
          <p:nvSpPr>
            <p:cNvPr id="2" name="Rectangle 2"/>
            <p:cNvSpPr/>
            <p:nvPr/>
          </p:nvSpPr>
          <p:spPr>
            <a:xfrm>
              <a:off x="8572500" y="533400"/>
              <a:ext cx="381000" cy="133350"/>
            </a:xfrm>
            <a:prstGeom prst="rect">
              <a:avLst/>
            </a:prstGeom>
            <a:solidFill>
              <a:srgbClr val="1E2B42"/>
            </a:solidFill>
            <a:ln>
              <a:noFill/>
            </a:ln>
          </p:spPr>
        </p:sp>
        <p:sp>
          <p:nvSpPr>
            <p:cNvPr id="3" name="Rectangle 3"/>
            <p:cNvSpPr/>
            <p:nvPr/>
          </p:nvSpPr>
          <p:spPr>
            <a:xfrm>
              <a:off x="9067800" y="533400"/>
              <a:ext cx="381000" cy="133350"/>
            </a:xfrm>
            <a:prstGeom prst="rect">
              <a:avLst/>
            </a:prstGeom>
            <a:solidFill>
              <a:schemeClr val="accent1"/>
            </a:solidFill>
            <a:ln>
              <a:noFill/>
            </a:ln>
          </p:spPr>
        </p:sp>
        <p:sp>
          <p:nvSpPr>
            <p:cNvPr id="4" name="Rectangle 4"/>
            <p:cNvSpPr/>
            <p:nvPr/>
          </p:nvSpPr>
          <p:spPr>
            <a:xfrm>
              <a:off x="9563100" y="533400"/>
              <a:ext cx="381000" cy="133350"/>
            </a:xfrm>
            <a:prstGeom prst="rect">
              <a:avLst/>
            </a:prstGeom>
            <a:solidFill>
              <a:srgbClr val="1E2B42"/>
            </a:solidFill>
            <a:ln>
              <a:noFill/>
            </a:ln>
          </p:spPr>
        </p:sp>
        <p:sp>
          <p:nvSpPr>
            <p:cNvPr id="5" name="Rectangle 5"/>
            <p:cNvSpPr/>
            <p:nvPr/>
          </p:nvSpPr>
          <p:spPr>
            <a:xfrm>
              <a:off x="10058400" y="533400"/>
              <a:ext cx="381000" cy="133350"/>
            </a:xfrm>
            <a:prstGeom prst="rect">
              <a:avLst/>
            </a:prstGeom>
            <a:solidFill>
              <a:srgbClr val="1E2B42"/>
            </a:solidFill>
            <a:ln>
              <a:noFill/>
            </a:ln>
          </p:spPr>
        </p:sp>
        <p:sp>
          <p:nvSpPr>
            <p:cNvPr id="6" name="Rectangle 6"/>
            <p:cNvSpPr/>
            <p:nvPr/>
          </p:nvSpPr>
          <p:spPr>
            <a:xfrm>
              <a:off x="10553700" y="533400"/>
              <a:ext cx="381000" cy="133350"/>
            </a:xfrm>
            <a:prstGeom prst="rect">
              <a:avLst/>
            </a:prstGeom>
            <a:solidFill>
              <a:srgbClr val="1E2B42"/>
            </a:solidFill>
            <a:ln>
              <a:noFill/>
            </a:ln>
          </p:spPr>
        </p:sp>
        <p:sp>
          <p:nvSpPr>
            <p:cNvPr id="7" name="Rectangle 7"/>
            <p:cNvSpPr/>
            <p:nvPr/>
          </p:nvSpPr>
          <p:spPr>
            <a:xfrm>
              <a:off x="11049000" y="533400"/>
              <a:ext cx="381000" cy="133350"/>
            </a:xfrm>
            <a:prstGeom prst="rect">
              <a:avLst/>
            </a:prstGeom>
            <a:solidFill>
              <a:srgbClr val="1E2B42"/>
            </a:solidFill>
            <a:ln>
              <a:noFill/>
            </a:ln>
          </p:spPr>
        </p:sp>
      </p:grpSp>
      <p:grpSp>
        <p:nvGrpSpPr>
          <p:cNvPr id="10" name="Group 10"/>
          <p:cNvGrpSpPr/>
          <p:nvPr/>
        </p:nvGrpSpPr>
        <p:grpSpPr>
          <a:xfrm>
            <a:off x="669798" y="726758"/>
            <a:ext cx="5777722" cy="1130427"/>
            <a:chOff x="669798" y="726758"/>
            <a:chExt cx="5777722" cy="1130427"/>
          </a:xfrm>
        </p:grpSpPr>
        <p:sp>
          <p:nvSpPr>
            <p:cNvPr id="9" name="TextBox 9"/>
            <p:cNvSpPr txBox="1"/>
            <p:nvPr/>
          </p:nvSpPr>
          <p:spPr>
            <a:xfrm>
              <a:off x="669798" y="726758"/>
              <a:ext cx="5777722" cy="1130427"/>
            </a:xfrm>
            <a:prstGeom prst="rect">
              <a:avLst/>
            </a:prstGeom>
            <a:noFill/>
            <a:ln>
              <a:noFill/>
            </a:ln>
          </p:spPr>
          <p:txBody>
            <a:bodyPr wrap="none" lIns="0" tIns="0" rIns="0" bIns="0" anchor="t" anchorCtr="0">
              <a:spAutoFit/>
            </a:bodyPr>
            <a:lstStyle/>
            <a:p>
              <a:pPr algn="l">
                <a:lnSpc>
                  <a:spcPts val="4050"/>
                </a:lnSpc>
              </a:pPr>
              <a:r>
                <a:rPr lang="zh-Hant-TW" sz="3150" b="1" dirty="0">
                  <a:solidFill>
                    <a:schemeClr val="dk1"/>
                  </a:solidFill>
                  <a:latin typeface="+mj-lt"/>
                  <a:ea typeface="+mj-ea"/>
                  <a:cs typeface="+mj-cs"/>
                </a:rPr>
                <a:t>已驗證用戶把 PDF 內容轉述一次</a:t>
              </a:r>
              <a:br/>
              <a:r>
                <a:rPr lang="zh-Hant-TW" sz="3150" b="1" dirty="0">
                  <a:solidFill>
                    <a:schemeClr val="dk1"/>
                  </a:solidFill>
                  <a:latin typeface="+mj-lt"/>
                  <a:ea typeface="+mj-ea"/>
                  <a:cs typeface="+mj-cs"/>
                </a:rPr>
                <a:t>不會把</a:t>
              </a:r>
              <a:r>
                <a:rPr lang="zh-Hant-TW" sz="3150" b="1" dirty="0">
                  <a:solidFill>
                    <a:srgbClr val="FF6B6B"/>
                  </a:solidFill>
                  <a:latin typeface="+mj-lt"/>
                  <a:ea typeface="+mj-ea"/>
                  <a:cs typeface="+mj-cs"/>
                </a:rPr>
                <a:t>不可信</a:t>
              </a:r>
              <a:r>
                <a:rPr lang="zh-Hant-TW" sz="3150" b="1" dirty="0">
                  <a:solidFill>
                    <a:schemeClr val="dk1"/>
                  </a:solidFill>
                  <a:latin typeface="+mj-lt"/>
                  <a:ea typeface="+mj-ea"/>
                  <a:cs typeface="+mj-cs"/>
                </a:rPr>
                <a:t>洗成</a:t>
              </a:r>
              <a:r>
                <a:rPr lang="zh-Hant-TW" sz="3150" b="1" dirty="0">
                  <a:solidFill>
                    <a:schemeClr val="accent3"/>
                  </a:solidFill>
                  <a:latin typeface="+mj-lt"/>
                  <a:ea typeface="+mj-ea"/>
                  <a:cs typeface="+mj-cs"/>
                </a:rPr>
                <a:t>可信</a:t>
              </a:r>
            </a:p>
          </p:txBody>
        </p:sp>
      </p:grpSp>
      <p:grpSp>
        <p:nvGrpSpPr>
          <p:cNvPr id="24" name="Group 24"/>
          <p:cNvGrpSpPr/>
          <p:nvPr/>
        </p:nvGrpSpPr>
        <p:grpSpPr>
          <a:xfrm>
            <a:off x="676656" y="2055533"/>
            <a:ext cx="5228844" cy="2026501"/>
            <a:chOff x="676656" y="2055533"/>
            <a:chExt cx="5228844" cy="2026501"/>
          </a:xfrm>
        </p:grpSpPr>
        <p:grpSp>
          <p:nvGrpSpPr>
            <p:cNvPr id="14" name="Group 14"/>
            <p:cNvGrpSpPr/>
            <p:nvPr/>
          </p:nvGrpSpPr>
          <p:grpSpPr>
            <a:xfrm>
              <a:off x="727073" y="2055533"/>
              <a:ext cx="170128" cy="175162"/>
              <a:chOff x="727073" y="2055533"/>
              <a:chExt cx="170128" cy="175162"/>
            </a:xfrm>
          </p:grpSpPr>
          <p:sp>
            <p:nvSpPr>
              <p:cNvPr id="11" name="Freeform 11"/>
              <p:cNvSpPr/>
              <p:nvPr/>
            </p:nvSpPr>
            <p:spPr>
              <a:xfrm>
                <a:off x="778668" y="2112168"/>
                <a:ext cx="61912" cy="61912"/>
              </a:xfrm>
              <a:custGeom>
                <a:avLst/>
                <a:gdLst/>
                <a:ahLst/>
                <a:cxnLst/>
                <a:rect l="l" t="t" r="r" b="b"/>
                <a:pathLst>
                  <a:path w="61912" h="61912">
                    <a:moveTo>
                      <a:pt x="0" y="61912"/>
                    </a:moveTo>
                    <a:lnTo>
                      <a:pt x="61912" y="0"/>
                    </a:lnTo>
                  </a:path>
                </a:pathLst>
              </a:custGeom>
              <a:noFill/>
              <a:ln w="20637">
                <a:solidFill>
                  <a:srgbClr val="94A5BC"/>
                </a:solidFill>
              </a:ln>
            </p:spPr>
          </p:sp>
          <p:sp>
            <p:nvSpPr>
              <p:cNvPr id="12" name="Freeform 12"/>
              <p:cNvSpPr/>
              <p:nvPr/>
            </p:nvSpPr>
            <p:spPr>
              <a:xfrm>
                <a:off x="799306" y="2055533"/>
                <a:ext cx="97895" cy="97910"/>
              </a:xfrm>
              <a:custGeom>
                <a:avLst/>
                <a:gdLst/>
                <a:ahLst/>
                <a:cxnLst/>
                <a:rect l="l" t="t" r="r" b="b"/>
                <a:pathLst>
                  <a:path w="97895" h="97910">
                    <a:moveTo>
                      <a:pt x="0" y="25679"/>
                    </a:moveTo>
                    <a:lnTo>
                      <a:pt x="4778" y="20148"/>
                    </a:lnTo>
                    <a:cubicBezTo>
                      <a:pt x="24929" y="0"/>
                      <a:pt x="57598" y="2"/>
                      <a:pt x="77746" y="20154"/>
                    </a:cubicBezTo>
                    <a:cubicBezTo>
                      <a:pt x="97895" y="40305"/>
                      <a:pt x="97892" y="72974"/>
                      <a:pt x="77741" y="93122"/>
                    </a:cubicBezTo>
                    <a:lnTo>
                      <a:pt x="72231" y="97910"/>
                    </a:lnTo>
                  </a:path>
                </a:pathLst>
              </a:custGeom>
              <a:noFill/>
              <a:ln w="20637">
                <a:solidFill>
                  <a:srgbClr val="94A5BC"/>
                </a:solidFill>
              </a:ln>
            </p:spPr>
          </p:sp>
          <p:sp>
            <p:nvSpPr>
              <p:cNvPr id="13" name="Freeform 13"/>
              <p:cNvSpPr/>
              <p:nvPr/>
            </p:nvSpPr>
            <p:spPr>
              <a:xfrm>
                <a:off x="727073" y="2132806"/>
                <a:ext cx="92870" cy="97889"/>
              </a:xfrm>
              <a:custGeom>
                <a:avLst/>
                <a:gdLst/>
                <a:ahLst/>
                <a:cxnLst/>
                <a:rect l="l" t="t" r="r" b="b"/>
                <a:pathLst>
                  <a:path w="92870" h="97889">
                    <a:moveTo>
                      <a:pt x="92870" y="72231"/>
                    </a:moveTo>
                    <a:lnTo>
                      <a:pt x="88773" y="77741"/>
                    </a:lnTo>
                    <a:cubicBezTo>
                      <a:pt x="68399" y="97889"/>
                      <a:pt x="35606" y="97889"/>
                      <a:pt x="15232" y="77741"/>
                    </a:cubicBezTo>
                    <a:cubicBezTo>
                      <a:pt x="5485" y="68104"/>
                      <a:pt x="0" y="54966"/>
                      <a:pt x="0" y="41259"/>
                    </a:cubicBezTo>
                    <a:cubicBezTo>
                      <a:pt x="0" y="27552"/>
                      <a:pt x="5485" y="14415"/>
                      <a:pt x="15232" y="4778"/>
                    </a:cubicBezTo>
                    <a:lnTo>
                      <a:pt x="20639" y="0"/>
                    </a:lnTo>
                  </a:path>
                </a:pathLst>
              </a:custGeom>
              <a:noFill/>
              <a:ln w="20637">
                <a:solidFill>
                  <a:srgbClr val="94A5BC"/>
                </a:solidFill>
              </a:ln>
            </p:spPr>
          </p:sp>
        </p:grpSp>
        <p:sp>
          <p:nvSpPr>
            <p:cNvPr id="15" name="TextBox 15"/>
            <p:cNvSpPr txBox="1"/>
            <p:nvPr/>
          </p:nvSpPr>
          <p:spPr>
            <a:xfrm>
              <a:off x="1040892" y="2064068"/>
              <a:ext cx="1831086"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這個動作的指令來源鏈</a:t>
              </a:r>
            </a:p>
          </p:txBody>
        </p:sp>
        <p:sp>
          <p:nvSpPr>
            <p:cNvPr id="16" name="Rectangle 16"/>
            <p:cNvSpPr/>
            <p:nvPr/>
          </p:nvSpPr>
          <p:spPr>
            <a:xfrm>
              <a:off x="685800" y="2324100"/>
              <a:ext cx="5219700" cy="514350"/>
            </a:xfrm>
            <a:prstGeom prst="rect">
              <a:avLst/>
            </a:prstGeom>
            <a:solidFill>
              <a:srgbClr val="182337"/>
            </a:solidFill>
            <a:ln>
              <a:noFill/>
            </a:ln>
          </p:spPr>
        </p:sp>
        <p:sp>
          <p:nvSpPr>
            <p:cNvPr id="17" name="TextBox 17"/>
            <p:cNvSpPr txBox="1"/>
            <p:nvPr/>
          </p:nvSpPr>
          <p:spPr>
            <a:xfrm>
              <a:off x="905256" y="2434590"/>
              <a:ext cx="195681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已驗證用戶的對話</a:t>
              </a:r>
            </a:p>
          </p:txBody>
        </p:sp>
        <p:sp>
          <p:nvSpPr>
            <p:cNvPr id="18" name="TextBox 18"/>
            <p:cNvSpPr txBox="1"/>
            <p:nvPr/>
          </p:nvSpPr>
          <p:spPr>
            <a:xfrm>
              <a:off x="4383481" y="2434590"/>
              <a:ext cx="1302563" cy="352044"/>
            </a:xfrm>
            <a:prstGeom prst="rect">
              <a:avLst/>
            </a:prstGeom>
            <a:noFill/>
            <a:ln>
              <a:noFill/>
            </a:ln>
          </p:spPr>
          <p:txBody>
            <a:bodyPr wrap="none" lIns="0" tIns="0" rIns="0" bIns="0" anchor="t" anchorCtr="0">
              <a:spAutoFit/>
            </a:bodyPr>
            <a:lstStyle/>
            <a:p>
              <a:pPr algn="r"/>
              <a:r>
                <a:rPr lang="zh-Hant-TW" sz="1800" dirty="0">
                  <a:solidFill>
                    <a:schemeClr val="accent3"/>
                  </a:solidFill>
                  <a:latin typeface="+mn-lt"/>
                  <a:ea typeface="+mn-ea"/>
                  <a:cs typeface="+mn-cs"/>
                </a:rPr>
                <a:t>可授權至 高</a:t>
              </a:r>
            </a:p>
          </p:txBody>
        </p:sp>
        <p:sp>
          <p:nvSpPr>
            <p:cNvPr id="19" name="Rectangle 19"/>
            <p:cNvSpPr/>
            <p:nvPr/>
          </p:nvSpPr>
          <p:spPr>
            <a:xfrm>
              <a:off x="685800" y="2933700"/>
              <a:ext cx="5219700" cy="514350"/>
            </a:xfrm>
            <a:prstGeom prst="rect">
              <a:avLst/>
            </a:prstGeom>
            <a:solidFill>
              <a:srgbClr val="2A1620"/>
            </a:solidFill>
            <a:ln>
              <a:noFill/>
            </a:ln>
          </p:spPr>
        </p:sp>
        <p:sp>
          <p:nvSpPr>
            <p:cNvPr id="20" name="Rectangle 20"/>
            <p:cNvSpPr/>
            <p:nvPr/>
          </p:nvSpPr>
          <p:spPr>
            <a:xfrm>
              <a:off x="685800" y="2933700"/>
              <a:ext cx="38100" cy="514350"/>
            </a:xfrm>
            <a:prstGeom prst="rect">
              <a:avLst/>
            </a:prstGeom>
            <a:solidFill>
              <a:srgbClr val="FF6B6B"/>
            </a:solidFill>
            <a:ln>
              <a:noFill/>
            </a:ln>
          </p:spPr>
        </p:sp>
        <p:sp>
          <p:nvSpPr>
            <p:cNvPr id="21" name="TextBox 21"/>
            <p:cNvSpPr txBox="1"/>
            <p:nvPr/>
          </p:nvSpPr>
          <p:spPr>
            <a:xfrm>
              <a:off x="905256" y="3044190"/>
              <a:ext cx="2441448" cy="352044"/>
            </a:xfrm>
            <a:prstGeom prst="rect">
              <a:avLst/>
            </a:prstGeom>
            <a:noFill/>
            <a:ln>
              <a:noFill/>
            </a:ln>
          </p:spPr>
          <p:txBody>
            <a:bodyPr wrap="none" lIns="0" tIns="0" rIns="0" bIns="0" anchor="t" anchorCtr="0">
              <a:spAutoFit/>
            </a:bodyPr>
            <a:lstStyle/>
            <a:p>
              <a:pPr algn="l"/>
              <a:r>
                <a:rPr lang="zh-Hant-TW" sz="1800" dirty="0">
                  <a:solidFill>
                    <a:srgbClr val="FF6B6B"/>
                  </a:solidFill>
                  <a:latin typeface="+mn-lt"/>
                  <a:ea typeface="+mn-ea"/>
                  <a:cs typeface="+mn-cs"/>
                </a:rPr>
                <a:t>使用者上傳的檔案內容</a:t>
              </a:r>
            </a:p>
          </p:txBody>
        </p:sp>
        <p:sp>
          <p:nvSpPr>
            <p:cNvPr id="22" name="TextBox 22"/>
            <p:cNvSpPr txBox="1"/>
            <p:nvPr/>
          </p:nvSpPr>
          <p:spPr>
            <a:xfrm>
              <a:off x="4868113" y="3044190"/>
              <a:ext cx="817931" cy="352044"/>
            </a:xfrm>
            <a:prstGeom prst="rect">
              <a:avLst/>
            </a:prstGeom>
            <a:noFill/>
            <a:ln>
              <a:noFill/>
            </a:ln>
          </p:spPr>
          <p:txBody>
            <a:bodyPr wrap="none" lIns="0" tIns="0" rIns="0" bIns="0" anchor="t" anchorCtr="0">
              <a:spAutoFit/>
            </a:bodyPr>
            <a:lstStyle/>
            <a:p>
              <a:pPr algn="r"/>
              <a:r>
                <a:rPr lang="zh-Hant-TW" sz="1800" dirty="0">
                  <a:solidFill>
                    <a:srgbClr val="FF6B6B"/>
                  </a:solidFill>
                  <a:latin typeface="+mn-lt"/>
                  <a:ea typeface="+mn-ea"/>
                  <a:cs typeface="+mn-cs"/>
                </a:rPr>
                <a:t>僅至 低</a:t>
              </a:r>
            </a:p>
          </p:txBody>
        </p:sp>
        <p:sp>
          <p:nvSpPr>
            <p:cNvPr id="23" name="TextBox 23"/>
            <p:cNvSpPr txBox="1"/>
            <p:nvPr/>
          </p:nvSpPr>
          <p:spPr>
            <a:xfrm>
              <a:off x="676656" y="3444240"/>
              <a:ext cx="2761488" cy="637794"/>
            </a:xfrm>
            <a:prstGeom prst="rect">
              <a:avLst/>
            </a:prstGeom>
            <a:noFill/>
            <a:ln>
              <a:noFill/>
            </a:ln>
          </p:spPr>
          <p:txBody>
            <a:bodyPr wrap="none" lIns="0" tIns="0" rIns="0" bIns="0" anchor="t" anchorCtr="0">
              <a:spAutoFit/>
            </a:bodyPr>
            <a:lstStyle/>
            <a:p>
              <a:pPr algn="l">
                <a:lnSpc>
                  <a:spcPts val="2250"/>
                </a:lnSpc>
              </a:pPr>
              <a:r>
                <a:rPr lang="zh-Hant-TW" sz="1800" dirty="0">
                  <a:solidFill>
                    <a:schemeClr val="dk1"/>
                  </a:solidFill>
                  <a:latin typeface="+mn-lt"/>
                  <a:ea typeface="+mn-ea"/>
                  <a:cs typeface="+mn-cs"/>
                </a:rPr>
                <a:t xml:space="preserve">整條鏈的授權上限 = </a:t>
              </a:r>
              <a:r>
                <a:rPr lang="zh-Hant-TW" sz="1800" b="1" dirty="0">
                  <a:solidFill>
                    <a:srgbClr val="FF6B6B"/>
                  </a:solidFill>
                  <a:latin typeface="+mn-lt"/>
                  <a:ea typeface="+mn-ea"/>
                  <a:cs typeface="+mn-cs"/>
                </a:rPr>
                <a:t>低</a:t>
              </a:r>
              <a:br/>
              <a:r>
                <a:rPr lang="zh-Hant-TW" sz="1800" dirty="0">
                  <a:solidFill>
                    <a:schemeClr val="accent5"/>
                  </a:solidFill>
                  <a:latin typeface="+mn-lt"/>
                  <a:ea typeface="+mn-ea"/>
                  <a:cs typeface="+mn-cs"/>
                </a:rPr>
                <a:t>取最弱環節，不取最後一手</a:t>
              </a:r>
            </a:p>
          </p:txBody>
        </p:sp>
      </p:grpSp>
      <p:grpSp>
        <p:nvGrpSpPr>
          <p:cNvPr id="30" name="Group 30"/>
          <p:cNvGrpSpPr/>
          <p:nvPr/>
        </p:nvGrpSpPr>
        <p:grpSpPr>
          <a:xfrm>
            <a:off x="6277356" y="2064068"/>
            <a:ext cx="4682414" cy="2037016"/>
            <a:chOff x="6277356" y="2064068"/>
            <a:chExt cx="4682414" cy="2037016"/>
          </a:xfrm>
        </p:grpSpPr>
        <p:sp>
          <p:nvSpPr>
            <p:cNvPr id="25" name="TextBox 25"/>
            <p:cNvSpPr txBox="1"/>
            <p:nvPr/>
          </p:nvSpPr>
          <p:spPr>
            <a:xfrm>
              <a:off x="6279642" y="2064068"/>
              <a:ext cx="1179525"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四個直接推論</a:t>
              </a:r>
            </a:p>
          </p:txBody>
        </p:sp>
        <p:sp>
          <p:nvSpPr>
            <p:cNvPr id="26" name="TextBox 26"/>
            <p:cNvSpPr txBox="1"/>
            <p:nvPr/>
          </p:nvSpPr>
          <p:spPr>
            <a:xfrm>
              <a:off x="6277356" y="2396490"/>
              <a:ext cx="4270934" cy="352044"/>
            </a:xfrm>
            <a:prstGeom prst="rect">
              <a:avLst/>
            </a:prstGeom>
            <a:noFill/>
            <a:ln>
              <a:noFill/>
            </a:ln>
          </p:spPr>
          <p:txBody>
            <a:bodyPr wrap="none" lIns="0" tIns="0" rIns="0" bIns="0" anchor="t" anchorCtr="0">
              <a:spAutoFit/>
            </a:bodyPr>
            <a:lstStyle/>
            <a:p>
              <a:pPr algn="l"/>
              <a:r>
                <a:rPr lang="zh-Hant-TW" sz="1800" dirty="0">
                  <a:solidFill>
                    <a:schemeClr val="accent1"/>
                  </a:solidFill>
                  <a:latin typeface="+mn-lt"/>
                  <a:ea typeface="+mn-ea"/>
                  <a:cs typeface="+mn-cs"/>
                </a:rPr>
                <a:t xml:space="preserve">1　</a:t>
              </a:r>
              <a:r>
                <a:rPr lang="zh-Hant-TW" sz="1800" dirty="0">
                  <a:solidFill>
                    <a:schemeClr val="dk1"/>
                  </a:solidFill>
                  <a:latin typeface="+mn-lt"/>
                  <a:ea typeface="+mn-ea"/>
                  <a:cs typeface="+mn-cs"/>
                </a:rPr>
                <a:t>已驗證用戶轉述一次，不會洗白來源</a:t>
              </a:r>
            </a:p>
          </p:txBody>
        </p:sp>
        <p:sp>
          <p:nvSpPr>
            <p:cNvPr id="27" name="TextBox 27"/>
            <p:cNvSpPr txBox="1"/>
            <p:nvPr/>
          </p:nvSpPr>
          <p:spPr>
            <a:xfrm>
              <a:off x="6277356" y="2853690"/>
              <a:ext cx="3059354" cy="352044"/>
            </a:xfrm>
            <a:prstGeom prst="rect">
              <a:avLst/>
            </a:prstGeom>
            <a:noFill/>
            <a:ln>
              <a:noFill/>
            </a:ln>
          </p:spPr>
          <p:txBody>
            <a:bodyPr wrap="none" lIns="0" tIns="0" rIns="0" bIns="0" anchor="t" anchorCtr="0">
              <a:spAutoFit/>
            </a:bodyPr>
            <a:lstStyle/>
            <a:p>
              <a:pPr algn="l"/>
              <a:r>
                <a:rPr lang="zh-Hant-TW" sz="1800" dirty="0">
                  <a:solidFill>
                    <a:schemeClr val="accent1"/>
                  </a:solidFill>
                  <a:latin typeface="+mn-lt"/>
                  <a:ea typeface="+mn-ea"/>
                  <a:cs typeface="+mn-cs"/>
                </a:rPr>
                <a:t xml:space="preserve">2　</a:t>
              </a:r>
              <a:r>
                <a:rPr lang="zh-Hant-TW" sz="1800" dirty="0">
                  <a:solidFill>
                    <a:schemeClr val="dk1"/>
                  </a:solidFill>
                  <a:latin typeface="+mn-lt"/>
                  <a:ea typeface="+mn-ea"/>
                  <a:cs typeface="+mn-cs"/>
                </a:rPr>
                <a:t>空來源鏈視同完全不可信</a:t>
              </a:r>
            </a:p>
          </p:txBody>
        </p:sp>
        <p:sp>
          <p:nvSpPr>
            <p:cNvPr id="28" name="TextBox 28"/>
            <p:cNvSpPr txBox="1"/>
            <p:nvPr/>
          </p:nvSpPr>
          <p:spPr>
            <a:xfrm>
              <a:off x="6277356" y="3310890"/>
              <a:ext cx="3543986" cy="352044"/>
            </a:xfrm>
            <a:prstGeom prst="rect">
              <a:avLst/>
            </a:prstGeom>
            <a:noFill/>
            <a:ln>
              <a:noFill/>
            </a:ln>
          </p:spPr>
          <p:txBody>
            <a:bodyPr wrap="none" lIns="0" tIns="0" rIns="0" bIns="0" anchor="t" anchorCtr="0">
              <a:spAutoFit/>
            </a:bodyPr>
            <a:lstStyle/>
            <a:p>
              <a:pPr algn="l"/>
              <a:r>
                <a:rPr lang="zh-Hant-TW" sz="1800" dirty="0">
                  <a:solidFill>
                    <a:schemeClr val="accent1"/>
                  </a:solidFill>
                  <a:latin typeface="+mn-lt"/>
                  <a:ea typeface="+mn-ea"/>
                  <a:cs typeface="+mn-cs"/>
                </a:rPr>
                <a:t xml:space="preserve">3　</a:t>
              </a:r>
              <a:r>
                <a:rPr lang="zh-Hant-TW" sz="1800" dirty="0">
                  <a:solidFill>
                    <a:schemeClr val="dk1"/>
                  </a:solidFill>
                  <a:latin typeface="+mn-lt"/>
                  <a:ea typeface="+mn-ea"/>
                  <a:cs typeface="+mn-cs"/>
                </a:rPr>
                <a:t>結構性規則，不依賴偵測措辭</a:t>
              </a:r>
            </a:p>
          </p:txBody>
        </p:sp>
        <p:sp>
          <p:nvSpPr>
            <p:cNvPr id="29" name="TextBox 29"/>
            <p:cNvSpPr txBox="1"/>
            <p:nvPr/>
          </p:nvSpPr>
          <p:spPr>
            <a:xfrm>
              <a:off x="6277356" y="3749040"/>
              <a:ext cx="4682414" cy="352044"/>
            </a:xfrm>
            <a:prstGeom prst="rect">
              <a:avLst/>
            </a:prstGeom>
            <a:noFill/>
            <a:ln>
              <a:noFill/>
            </a:ln>
          </p:spPr>
          <p:txBody>
            <a:bodyPr wrap="none" lIns="0" tIns="0" rIns="0" bIns="0" anchor="t" anchorCtr="0">
              <a:spAutoFit/>
            </a:bodyPr>
            <a:lstStyle/>
            <a:p>
              <a:pPr algn="l"/>
              <a:r>
                <a:rPr lang="zh-Hant-TW" sz="1800" dirty="0">
                  <a:solidFill>
                    <a:schemeClr val="accent1"/>
                  </a:solidFill>
                  <a:latin typeface="+mn-lt"/>
                  <a:ea typeface="+mn-ea"/>
                  <a:cs typeface="+mn-cs"/>
                </a:rPr>
                <a:t xml:space="preserve">4　</a:t>
              </a:r>
              <a:r>
                <a:rPr lang="zh-Hant-TW" sz="1800" dirty="0">
                  <a:solidFill>
                    <a:schemeClr val="dk1"/>
                  </a:solidFill>
                  <a:latin typeface="+mn-lt"/>
                  <a:ea typeface="+mn-ea"/>
                  <a:cs typeface="+mn-cs"/>
                </a:rPr>
                <a:t>G0-R2：指紋相符的獨立確認才可提升</a:t>
              </a:r>
            </a:p>
          </p:txBody>
        </p:sp>
      </p:grpSp>
      <p:grpSp>
        <p:nvGrpSpPr>
          <p:cNvPr id="35" name="Group 35"/>
          <p:cNvGrpSpPr/>
          <p:nvPr/>
        </p:nvGrpSpPr>
        <p:grpSpPr>
          <a:xfrm>
            <a:off x="685800" y="4114800"/>
            <a:ext cx="8094574" cy="1053084"/>
            <a:chOff x="685800" y="4114800"/>
            <a:chExt cx="8094574" cy="1053084"/>
          </a:xfrm>
        </p:grpSpPr>
        <p:sp>
          <p:nvSpPr>
            <p:cNvPr id="31" name="Rectangle 31"/>
            <p:cNvSpPr/>
            <p:nvPr/>
          </p:nvSpPr>
          <p:spPr>
            <a:xfrm>
              <a:off x="685800" y="4114800"/>
              <a:ext cx="38100" cy="1009650"/>
            </a:xfrm>
            <a:prstGeom prst="rect">
              <a:avLst/>
            </a:prstGeom>
            <a:solidFill>
              <a:schemeClr val="accent1"/>
            </a:solidFill>
            <a:ln>
              <a:noFill/>
            </a:ln>
          </p:spPr>
        </p:sp>
        <p:sp>
          <p:nvSpPr>
            <p:cNvPr id="32" name="TextBox 32"/>
            <p:cNvSpPr txBox="1"/>
            <p:nvPr/>
          </p:nvSpPr>
          <p:spPr>
            <a:xfrm>
              <a:off x="983742" y="4140518"/>
              <a:ext cx="1769969"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一個修掉的建模錯誤</a:t>
              </a:r>
            </a:p>
          </p:txBody>
        </p:sp>
        <p:sp>
          <p:nvSpPr>
            <p:cNvPr id="33" name="TextBox 33"/>
            <p:cNvSpPr txBox="1"/>
            <p:nvPr/>
          </p:nvSpPr>
          <p:spPr>
            <a:xfrm>
              <a:off x="981456" y="4453890"/>
              <a:ext cx="559155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來源鏈只放「指令」的出處，不放「證據」的出處。</a:t>
              </a:r>
            </a:p>
          </p:txBody>
        </p:sp>
        <p:sp>
          <p:nvSpPr>
            <p:cNvPr id="34" name="TextBox 34"/>
            <p:cNvSpPr txBox="1"/>
            <p:nvPr/>
          </p:nvSpPr>
          <p:spPr>
            <a:xfrm>
              <a:off x="981456" y="4815840"/>
              <a:ext cx="7798918"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Agent 為查證而呼叫帳務系統，回傳的是事實不是命令 —— 不進來源鏈。</a:t>
              </a:r>
            </a:p>
          </p:txBody>
        </p:sp>
      </p:grpSp>
      <p:grpSp>
        <p:nvGrpSpPr>
          <p:cNvPr id="39" name="Group 39"/>
          <p:cNvGrpSpPr/>
          <p:nvPr/>
        </p:nvGrpSpPr>
        <p:grpSpPr>
          <a:xfrm>
            <a:off x="676656" y="5311140"/>
            <a:ext cx="10902391" cy="1023366"/>
            <a:chOff x="676656" y="5311140"/>
            <a:chExt cx="10902391" cy="1023366"/>
          </a:xfrm>
        </p:grpSpPr>
        <p:sp>
          <p:nvSpPr>
            <p:cNvPr id="36" name="TextBox 36"/>
            <p:cNvSpPr txBox="1"/>
            <p:nvPr/>
          </p:nvSpPr>
          <p:spPr>
            <a:xfrm>
              <a:off x="676656" y="5311140"/>
              <a:ext cx="10902391"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反之，PDF 備註、被竄改的 SOP、記憶裡的「以後都直接停話」是動作的</a:t>
              </a:r>
              <a:r>
                <a:rPr lang="zh-Hant-TW" sz="1800" dirty="0">
                  <a:solidFill>
                    <a:schemeClr val="accent1"/>
                  </a:solidFill>
                  <a:latin typeface="+mn-lt"/>
                  <a:ea typeface="+mn-ea"/>
                  <a:cs typeface="+mn-cs"/>
                </a:rPr>
                <a:t>理由來源</a:t>
              </a:r>
              <a:r>
                <a:rPr lang="zh-Hant-TW" sz="1800" dirty="0">
                  <a:solidFill>
                    <a:schemeClr val="dk1"/>
                  </a:solidFill>
                  <a:latin typeface="+mn-lt"/>
                  <a:ea typeface="+mn-ea"/>
                  <a:cs typeface="+mn-cs"/>
                </a:rPr>
                <a:t>，一定要進鏈。</a:t>
              </a:r>
            </a:p>
          </p:txBody>
        </p:sp>
        <p:sp>
          <p:nvSpPr>
            <p:cNvPr id="37" name="TextBox 37"/>
            <p:cNvSpPr txBox="1"/>
            <p:nvPr/>
          </p:nvSpPr>
          <p:spPr>
            <a:xfrm>
              <a:off x="676656" y="5692140"/>
              <a:ext cx="10257488"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來源鏈與確認指紋由 runtime 注入，LLM 自報只能縮小信任、不能擴大；具名迴歸測試守著。</a:t>
              </a:r>
            </a:p>
          </p:txBody>
        </p:sp>
        <p:sp>
          <p:nvSpPr>
            <p:cNvPr id="38" name="TextBox 38"/>
            <p:cNvSpPr txBox="1"/>
            <p:nvPr/>
          </p:nvSpPr>
          <p:spPr>
            <a:xfrm>
              <a:off x="679704" y="6099810"/>
              <a:ext cx="6910121"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攻擊者可以改寫措辭，但改不掉指令是從一份上傳文件進來的這個事實 —— 這條規則不依賴偵測。</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8572500" y="533400"/>
            <a:ext cx="2857500" cy="133350"/>
            <a:chOff x="8572500" y="533400"/>
            <a:chExt cx="2857500" cy="133350"/>
          </a:xfrm>
        </p:grpSpPr>
        <p:sp>
          <p:nvSpPr>
            <p:cNvPr id="2" name="Rectangle 2"/>
            <p:cNvSpPr/>
            <p:nvPr/>
          </p:nvSpPr>
          <p:spPr>
            <a:xfrm>
              <a:off x="8572500" y="533400"/>
              <a:ext cx="381000" cy="133350"/>
            </a:xfrm>
            <a:prstGeom prst="rect">
              <a:avLst/>
            </a:prstGeom>
            <a:solidFill>
              <a:srgbClr val="1E2B42"/>
            </a:solidFill>
            <a:ln>
              <a:noFill/>
            </a:ln>
          </p:spPr>
        </p:sp>
        <p:sp>
          <p:nvSpPr>
            <p:cNvPr id="3" name="Rectangle 3"/>
            <p:cNvSpPr/>
            <p:nvPr/>
          </p:nvSpPr>
          <p:spPr>
            <a:xfrm>
              <a:off x="9067800" y="533400"/>
              <a:ext cx="381000" cy="133350"/>
            </a:xfrm>
            <a:prstGeom prst="rect">
              <a:avLst/>
            </a:prstGeom>
            <a:solidFill>
              <a:srgbClr val="1E2B42"/>
            </a:solidFill>
            <a:ln>
              <a:noFill/>
            </a:ln>
          </p:spPr>
        </p:sp>
        <p:sp>
          <p:nvSpPr>
            <p:cNvPr id="4" name="Rectangle 4"/>
            <p:cNvSpPr/>
            <p:nvPr/>
          </p:nvSpPr>
          <p:spPr>
            <a:xfrm>
              <a:off x="9563100" y="533400"/>
              <a:ext cx="381000" cy="133350"/>
            </a:xfrm>
            <a:prstGeom prst="rect">
              <a:avLst/>
            </a:prstGeom>
            <a:solidFill>
              <a:schemeClr val="accent1"/>
            </a:solidFill>
            <a:ln>
              <a:noFill/>
            </a:ln>
          </p:spPr>
        </p:sp>
        <p:sp>
          <p:nvSpPr>
            <p:cNvPr id="5" name="Rectangle 5"/>
            <p:cNvSpPr/>
            <p:nvPr/>
          </p:nvSpPr>
          <p:spPr>
            <a:xfrm>
              <a:off x="10058400" y="533400"/>
              <a:ext cx="381000" cy="133350"/>
            </a:xfrm>
            <a:prstGeom prst="rect">
              <a:avLst/>
            </a:prstGeom>
            <a:solidFill>
              <a:srgbClr val="1E2B42"/>
            </a:solidFill>
            <a:ln>
              <a:noFill/>
            </a:ln>
          </p:spPr>
        </p:sp>
        <p:sp>
          <p:nvSpPr>
            <p:cNvPr id="6" name="Rectangle 6"/>
            <p:cNvSpPr/>
            <p:nvPr/>
          </p:nvSpPr>
          <p:spPr>
            <a:xfrm>
              <a:off x="10553700" y="533400"/>
              <a:ext cx="381000" cy="133350"/>
            </a:xfrm>
            <a:prstGeom prst="rect">
              <a:avLst/>
            </a:prstGeom>
            <a:solidFill>
              <a:srgbClr val="1E2B42"/>
            </a:solidFill>
            <a:ln>
              <a:noFill/>
            </a:ln>
          </p:spPr>
        </p:sp>
        <p:sp>
          <p:nvSpPr>
            <p:cNvPr id="7" name="Rectangle 7"/>
            <p:cNvSpPr/>
            <p:nvPr/>
          </p:nvSpPr>
          <p:spPr>
            <a:xfrm>
              <a:off x="11049000" y="533400"/>
              <a:ext cx="381000" cy="133350"/>
            </a:xfrm>
            <a:prstGeom prst="rect">
              <a:avLst/>
            </a:prstGeom>
            <a:solidFill>
              <a:srgbClr val="1E2B42"/>
            </a:solidFill>
            <a:ln>
              <a:noFill/>
            </a:ln>
          </p:spPr>
        </p:sp>
      </p:grpSp>
      <p:grpSp>
        <p:nvGrpSpPr>
          <p:cNvPr id="10" name="Group 10"/>
          <p:cNvGrpSpPr/>
          <p:nvPr/>
        </p:nvGrpSpPr>
        <p:grpSpPr>
          <a:xfrm>
            <a:off x="669798" y="764858"/>
            <a:ext cx="7852821" cy="616077"/>
            <a:chOff x="669798" y="764858"/>
            <a:chExt cx="7852821" cy="616077"/>
          </a:xfrm>
        </p:grpSpPr>
        <p:sp>
          <p:nvSpPr>
            <p:cNvPr id="9" name="TextBox 9"/>
            <p:cNvSpPr txBox="1"/>
            <p:nvPr/>
          </p:nvSpPr>
          <p:spPr>
            <a:xfrm>
              <a:off x="669798" y="764858"/>
              <a:ext cx="7852821"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用 LLM 守 LLM，等於把</a:t>
              </a:r>
              <a:r>
                <a:rPr lang="zh-Hant-TW" sz="3150" b="1" dirty="0">
                  <a:solidFill>
                    <a:srgbClr val="FF6B6B"/>
                  </a:solidFill>
                  <a:latin typeface="+mj-lt"/>
                  <a:ea typeface="+mj-ea"/>
                  <a:cs typeface="+mj-cs"/>
                </a:rPr>
                <a:t>攻擊面留在原地</a:t>
              </a:r>
            </a:p>
          </p:txBody>
        </p:sp>
      </p:grpSp>
      <p:grpSp>
        <p:nvGrpSpPr>
          <p:cNvPr id="19" name="Group 19"/>
          <p:cNvGrpSpPr/>
          <p:nvPr/>
        </p:nvGrpSpPr>
        <p:grpSpPr>
          <a:xfrm>
            <a:off x="673608" y="1871662"/>
            <a:ext cx="2535936" cy="1829372"/>
            <a:chOff x="673608" y="1871662"/>
            <a:chExt cx="2535936" cy="1829372"/>
          </a:xfrm>
        </p:grpSpPr>
        <p:grpSp>
          <p:nvGrpSpPr>
            <p:cNvPr id="16" name="Group 16"/>
            <p:cNvGrpSpPr/>
            <p:nvPr/>
          </p:nvGrpSpPr>
          <p:grpSpPr>
            <a:xfrm>
              <a:off x="728662" y="1871662"/>
              <a:ext cx="257175" cy="252413"/>
              <a:chOff x="728662" y="1871662"/>
              <a:chExt cx="257175" cy="252413"/>
            </a:xfrm>
          </p:grpSpPr>
          <p:sp>
            <p:nvSpPr>
              <p:cNvPr id="11" name="Freeform 11"/>
              <p:cNvSpPr/>
              <p:nvPr/>
            </p:nvSpPr>
            <p:spPr>
              <a:xfrm>
                <a:off x="785812" y="2114550"/>
                <a:ext cx="142875" cy="9525"/>
              </a:xfrm>
              <a:custGeom>
                <a:avLst/>
                <a:gdLst/>
                <a:ahLst/>
                <a:cxnLst/>
                <a:rect l="l" t="t" r="r" b="b"/>
                <a:pathLst>
                  <a:path w="142875" h="9525">
                    <a:moveTo>
                      <a:pt x="0" y="0"/>
                    </a:moveTo>
                    <a:lnTo>
                      <a:pt x="142875" y="0"/>
                    </a:lnTo>
                  </a:path>
                </a:pathLst>
              </a:custGeom>
              <a:noFill/>
              <a:ln w="28575">
                <a:solidFill>
                  <a:schemeClr val="accent1"/>
                </a:solidFill>
              </a:ln>
            </p:spPr>
          </p:sp>
          <p:sp>
            <p:nvSpPr>
              <p:cNvPr id="12" name="Freeform 12"/>
              <p:cNvSpPr/>
              <p:nvPr/>
            </p:nvSpPr>
            <p:spPr>
              <a:xfrm>
                <a:off x="771525" y="1900238"/>
                <a:ext cx="171450" cy="14288"/>
              </a:xfrm>
              <a:custGeom>
                <a:avLst/>
                <a:gdLst/>
                <a:ahLst/>
                <a:cxnLst/>
                <a:rect l="l" t="t" r="r" b="b"/>
                <a:pathLst>
                  <a:path w="171450" h="14288">
                    <a:moveTo>
                      <a:pt x="0" y="14288"/>
                    </a:moveTo>
                    <a:lnTo>
                      <a:pt x="85725" y="0"/>
                    </a:lnTo>
                    <a:lnTo>
                      <a:pt x="171450" y="14288"/>
                    </a:lnTo>
                  </a:path>
                </a:pathLst>
              </a:custGeom>
              <a:noFill/>
              <a:ln w="28575">
                <a:solidFill>
                  <a:schemeClr val="accent1"/>
                </a:solidFill>
              </a:ln>
            </p:spPr>
          </p:sp>
          <p:sp>
            <p:nvSpPr>
              <p:cNvPr id="13" name="Freeform 13"/>
              <p:cNvSpPr/>
              <p:nvPr/>
            </p:nvSpPr>
            <p:spPr>
              <a:xfrm>
                <a:off x="857250" y="1871662"/>
                <a:ext cx="9525" cy="242888"/>
              </a:xfrm>
              <a:custGeom>
                <a:avLst/>
                <a:gdLst/>
                <a:ahLst/>
                <a:cxnLst/>
                <a:rect l="l" t="t" r="r" b="b"/>
                <a:pathLst>
                  <a:path w="9525" h="242888">
                    <a:moveTo>
                      <a:pt x="0" y="0"/>
                    </a:moveTo>
                    <a:lnTo>
                      <a:pt x="0" y="242888"/>
                    </a:lnTo>
                  </a:path>
                </a:pathLst>
              </a:custGeom>
              <a:noFill/>
              <a:ln w="28575">
                <a:solidFill>
                  <a:schemeClr val="accent1"/>
                </a:solidFill>
              </a:ln>
            </p:spPr>
          </p:sp>
          <p:sp>
            <p:nvSpPr>
              <p:cNvPr id="14" name="Freeform 14"/>
              <p:cNvSpPr/>
              <p:nvPr/>
            </p:nvSpPr>
            <p:spPr>
              <a:xfrm>
                <a:off x="728662" y="191452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28575">
                <a:solidFill>
                  <a:schemeClr val="accent1"/>
                </a:solidFill>
              </a:ln>
            </p:spPr>
          </p:sp>
          <p:sp>
            <p:nvSpPr>
              <p:cNvPr id="15" name="Freeform 15"/>
              <p:cNvSpPr/>
              <p:nvPr/>
            </p:nvSpPr>
            <p:spPr>
              <a:xfrm>
                <a:off x="900112" y="191452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28575">
                <a:solidFill>
                  <a:schemeClr val="accent1"/>
                </a:solidFill>
              </a:ln>
            </p:spPr>
          </p:sp>
        </p:grpSp>
        <p:sp>
          <p:nvSpPr>
            <p:cNvPr id="17" name="TextBox 17"/>
            <p:cNvSpPr txBox="1"/>
            <p:nvPr/>
          </p:nvSpPr>
          <p:spPr>
            <a:xfrm>
              <a:off x="673608" y="2255520"/>
              <a:ext cx="993648"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可稽核</a:t>
              </a:r>
            </a:p>
          </p:txBody>
        </p:sp>
        <p:sp>
          <p:nvSpPr>
            <p:cNvPr id="18" name="TextBox 18"/>
            <p:cNvSpPr txBox="1"/>
            <p:nvPr/>
          </p:nvSpPr>
          <p:spPr>
            <a:xfrm>
              <a:off x="676656" y="2701290"/>
              <a:ext cx="2532888" cy="999744"/>
            </a:xfrm>
            <a:prstGeom prst="rect">
              <a:avLst/>
            </a:prstGeom>
            <a:noFill/>
            <a:ln>
              <a:noFill/>
            </a:ln>
          </p:spPr>
          <p:txBody>
            <a:bodyPr wrap="none" lIns="0" tIns="0" rIns="0" bIns="0" anchor="t" anchorCtr="0">
              <a:spAutoFit/>
            </a:bodyPr>
            <a:lstStyle/>
            <a:p>
              <a:pPr algn="l">
                <a:lnSpc>
                  <a:spcPts val="2550"/>
                </a:lnSpc>
              </a:pPr>
              <a:r>
                <a:rPr lang="zh-Hant-TW" sz="1800" dirty="0">
                  <a:solidFill>
                    <a:schemeClr val="accent5"/>
                  </a:solidFill>
                  <a:latin typeface="+mn-lt"/>
                  <a:ea typeface="+mn-ea"/>
                  <a:cs typeface="+mn-cs"/>
                </a:rPr>
                <a:t>主管機關要的是</a:t>
              </a:r>
              <a:br/>
              <a:r>
                <a:rPr lang="zh-Hant-TW" sz="1800" dirty="0">
                  <a:solidFill>
                    <a:schemeClr val="accent5"/>
                  </a:solidFill>
                  <a:latin typeface="+mn-lt"/>
                  <a:ea typeface="+mn-ea"/>
                  <a:cs typeface="+mn-cs"/>
                </a:rPr>
                <a:t>「依據第 X 條」，</a:t>
              </a:r>
              <a:br/>
              <a:r>
                <a:rPr lang="zh-Hant-TW" sz="1800" dirty="0">
                  <a:solidFill>
                    <a:schemeClr val="accent5"/>
                  </a:solidFill>
                  <a:latin typeface="+mn-lt"/>
                  <a:ea typeface="+mn-ea"/>
                  <a:cs typeface="+mn-cs"/>
                </a:rPr>
                <a:t>不是「模型認為風險高」</a:t>
              </a:r>
            </a:p>
          </p:txBody>
        </p:sp>
      </p:grpSp>
      <p:grpSp>
        <p:nvGrpSpPr>
          <p:cNvPr id="26" name="Group 26"/>
          <p:cNvGrpSpPr/>
          <p:nvPr/>
        </p:nvGrpSpPr>
        <p:grpSpPr>
          <a:xfrm>
            <a:off x="4407408" y="1871662"/>
            <a:ext cx="2215896" cy="1829372"/>
            <a:chOff x="4407408" y="1871662"/>
            <a:chExt cx="2215896" cy="1829372"/>
          </a:xfrm>
        </p:grpSpPr>
        <p:grpSp>
          <p:nvGrpSpPr>
            <p:cNvPr id="23" name="Group 23"/>
            <p:cNvGrpSpPr/>
            <p:nvPr/>
          </p:nvGrpSpPr>
          <p:grpSpPr>
            <a:xfrm>
              <a:off x="4491038" y="1871662"/>
              <a:ext cx="200025" cy="257175"/>
              <a:chOff x="4491038" y="1871662"/>
              <a:chExt cx="200025" cy="257175"/>
            </a:xfrm>
          </p:grpSpPr>
          <p:sp>
            <p:nvSpPr>
              <p:cNvPr id="20" name="Freeform 20"/>
              <p:cNvSpPr/>
              <p:nvPr/>
            </p:nvSpPr>
            <p:spPr>
              <a:xfrm>
                <a:off x="4491038" y="1985962"/>
                <a:ext cx="200025" cy="142875"/>
              </a:xfrm>
              <a:custGeom>
                <a:avLst/>
                <a:gdLst/>
                <a:ahLst/>
                <a:cxnLst/>
                <a:rect l="l" t="t" r="r" b="b"/>
                <a:pathLst>
                  <a:path w="200025" h="142875">
                    <a:moveTo>
                      <a:pt x="0" y="28575"/>
                    </a:moveTo>
                    <a:cubicBezTo>
                      <a:pt x="0" y="12793"/>
                      <a:pt x="12793" y="0"/>
                      <a:pt x="28575" y="0"/>
                    </a:cubicBezTo>
                    <a:lnTo>
                      <a:pt x="171450" y="0"/>
                    </a:lnTo>
                    <a:cubicBezTo>
                      <a:pt x="187232" y="0"/>
                      <a:pt x="200025" y="12793"/>
                      <a:pt x="200025" y="28575"/>
                    </a:cubicBezTo>
                    <a:lnTo>
                      <a:pt x="200025" y="114300"/>
                    </a:lnTo>
                    <a:cubicBezTo>
                      <a:pt x="200025" y="130082"/>
                      <a:pt x="187232" y="142875"/>
                      <a:pt x="171450" y="142875"/>
                    </a:cubicBezTo>
                    <a:lnTo>
                      <a:pt x="28575" y="142875"/>
                    </a:lnTo>
                    <a:cubicBezTo>
                      <a:pt x="12793" y="142875"/>
                      <a:pt x="0" y="130082"/>
                      <a:pt x="0" y="114300"/>
                    </a:cubicBezTo>
                    <a:lnTo>
                      <a:pt x="0" y="28575"/>
                    </a:lnTo>
                  </a:path>
                </a:pathLst>
              </a:custGeom>
              <a:noFill/>
              <a:ln w="28575">
                <a:solidFill>
                  <a:schemeClr val="accent1"/>
                </a:solidFill>
              </a:ln>
            </p:spPr>
          </p:sp>
          <p:sp>
            <p:nvSpPr>
              <p:cNvPr id="21" name="Freeform 21"/>
              <p:cNvSpPr/>
              <p:nvPr/>
            </p:nvSpPr>
            <p:spPr>
              <a:xfrm>
                <a:off x="4576762" y="20431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chemeClr val="accent1"/>
                </a:solidFill>
              </a:ln>
            </p:spPr>
          </p:sp>
          <p:sp>
            <p:nvSpPr>
              <p:cNvPr id="22" name="Freeform 22"/>
              <p:cNvSpPr/>
              <p:nvPr/>
            </p:nvSpPr>
            <p:spPr>
              <a:xfrm>
                <a:off x="4533900" y="1871662"/>
                <a:ext cx="114300" cy="114300"/>
              </a:xfrm>
              <a:custGeom>
                <a:avLst/>
                <a:gdLst/>
                <a:ahLst/>
                <a:cxnLst/>
                <a:rect l="l" t="t" r="r" b="b"/>
                <a:pathLst>
                  <a:path w="114300" h="114300">
                    <a:moveTo>
                      <a:pt x="0" y="114300"/>
                    </a:moveTo>
                    <a:lnTo>
                      <a:pt x="0" y="57150"/>
                    </a:lnTo>
                    <a:cubicBezTo>
                      <a:pt x="0" y="25587"/>
                      <a:pt x="25587" y="0"/>
                      <a:pt x="57150" y="0"/>
                    </a:cubicBezTo>
                    <a:cubicBezTo>
                      <a:pt x="88713" y="0"/>
                      <a:pt x="114300" y="25587"/>
                      <a:pt x="114300" y="57150"/>
                    </a:cubicBezTo>
                    <a:lnTo>
                      <a:pt x="114300" y="114300"/>
                    </a:lnTo>
                  </a:path>
                </a:pathLst>
              </a:custGeom>
              <a:noFill/>
              <a:ln w="28575">
                <a:solidFill>
                  <a:schemeClr val="accent1"/>
                </a:solidFill>
              </a:ln>
            </p:spPr>
          </p:sp>
        </p:grpSp>
        <p:sp>
          <p:nvSpPr>
            <p:cNvPr id="24" name="TextBox 24"/>
            <p:cNvSpPr txBox="1"/>
            <p:nvPr/>
          </p:nvSpPr>
          <p:spPr>
            <a:xfrm>
              <a:off x="4407408" y="2255520"/>
              <a:ext cx="1316736"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不可繞過</a:t>
              </a:r>
            </a:p>
          </p:txBody>
        </p:sp>
        <p:sp>
          <p:nvSpPr>
            <p:cNvPr id="25" name="TextBox 25"/>
            <p:cNvSpPr txBox="1"/>
            <p:nvPr/>
          </p:nvSpPr>
          <p:spPr>
            <a:xfrm>
              <a:off x="4410456" y="2701290"/>
              <a:ext cx="2212848" cy="999744"/>
            </a:xfrm>
            <a:prstGeom prst="rect">
              <a:avLst/>
            </a:prstGeom>
            <a:noFill/>
            <a:ln>
              <a:noFill/>
            </a:ln>
          </p:spPr>
          <p:txBody>
            <a:bodyPr wrap="none" lIns="0" tIns="0" rIns="0" bIns="0" anchor="t" anchorCtr="0">
              <a:spAutoFit/>
            </a:bodyPr>
            <a:lstStyle/>
            <a:p>
              <a:pPr algn="l">
                <a:lnSpc>
                  <a:spcPts val="2550"/>
                </a:lnSpc>
              </a:pPr>
              <a:r>
                <a:rPr lang="zh-Hant-TW" sz="1800" dirty="0">
                  <a:solidFill>
                    <a:schemeClr val="accent5"/>
                  </a:solidFill>
                  <a:latin typeface="+mn-lt"/>
                  <a:ea typeface="+mn-ea"/>
                  <a:cs typeface="+mn-cs"/>
                </a:rPr>
                <a:t>LLM 判斷可被提示詞</a:t>
              </a:r>
              <a:br/>
              <a:r>
                <a:rPr lang="zh-Hant-TW" sz="1800" dirty="0">
                  <a:solidFill>
                    <a:schemeClr val="accent5"/>
                  </a:solidFill>
                  <a:latin typeface="+mn-lt"/>
                  <a:ea typeface="+mn-ea"/>
                  <a:cs typeface="+mn-cs"/>
                </a:rPr>
                <a:t>影響；用 LLM 守 LLM</a:t>
              </a:r>
              <a:br/>
              <a:r>
                <a:rPr lang="zh-Hant-TW" sz="1800" dirty="0">
                  <a:solidFill>
                    <a:schemeClr val="accent5"/>
                  </a:solidFill>
                  <a:latin typeface="+mn-lt"/>
                  <a:ea typeface="+mn-ea"/>
                  <a:cs typeface="+mn-cs"/>
                </a:rPr>
                <a:t>等於留下攻擊面</a:t>
              </a:r>
            </a:p>
          </p:txBody>
        </p:sp>
      </p:grpSp>
      <p:grpSp>
        <p:nvGrpSpPr>
          <p:cNvPr id="32" name="Group 32"/>
          <p:cNvGrpSpPr/>
          <p:nvPr/>
        </p:nvGrpSpPr>
        <p:grpSpPr>
          <a:xfrm>
            <a:off x="8141208" y="1914525"/>
            <a:ext cx="1850136" cy="1786509"/>
            <a:chOff x="8141208" y="1914525"/>
            <a:chExt cx="1850136" cy="1786509"/>
          </a:xfrm>
        </p:grpSpPr>
        <p:grpSp>
          <p:nvGrpSpPr>
            <p:cNvPr id="29" name="Group 29"/>
            <p:cNvGrpSpPr/>
            <p:nvPr/>
          </p:nvGrpSpPr>
          <p:grpSpPr>
            <a:xfrm>
              <a:off x="8196262" y="1914525"/>
              <a:ext cx="257175" cy="171450"/>
              <a:chOff x="8196262" y="1914525"/>
              <a:chExt cx="257175" cy="171450"/>
            </a:xfrm>
          </p:grpSpPr>
          <p:sp>
            <p:nvSpPr>
              <p:cNvPr id="27" name="Freeform 27"/>
              <p:cNvSpPr/>
              <p:nvPr/>
            </p:nvSpPr>
            <p:spPr>
              <a:xfrm>
                <a:off x="8296275" y="197167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1"/>
                </a:solidFill>
              </a:ln>
            </p:spPr>
          </p:sp>
          <p:sp>
            <p:nvSpPr>
              <p:cNvPr id="28" name="Freeform 28"/>
              <p:cNvSpPr/>
              <p:nvPr/>
            </p:nvSpPr>
            <p:spPr>
              <a:xfrm>
                <a:off x="8196262" y="1914525"/>
                <a:ext cx="257175" cy="171450"/>
              </a:xfrm>
              <a:custGeom>
                <a:avLst/>
                <a:gdLst/>
                <a:ahLst/>
                <a:cxnLst/>
                <a:rect l="l" t="t" r="r" b="b"/>
                <a:pathLst>
                  <a:path w="257175" h="171450">
                    <a:moveTo>
                      <a:pt x="257175" y="85725"/>
                    </a:moveTo>
                    <a:cubicBezTo>
                      <a:pt x="222885" y="142875"/>
                      <a:pt x="180022" y="171450"/>
                      <a:pt x="128588" y="171450"/>
                    </a:cubicBezTo>
                    <a:cubicBezTo>
                      <a:pt x="77153" y="171450"/>
                      <a:pt x="34290" y="142875"/>
                      <a:pt x="0" y="85725"/>
                    </a:cubicBezTo>
                    <a:cubicBezTo>
                      <a:pt x="34290" y="28575"/>
                      <a:pt x="77153" y="0"/>
                      <a:pt x="128588" y="0"/>
                    </a:cubicBezTo>
                    <a:cubicBezTo>
                      <a:pt x="180022" y="0"/>
                      <a:pt x="222885" y="28575"/>
                      <a:pt x="257175" y="85725"/>
                    </a:cubicBezTo>
                  </a:path>
                </a:pathLst>
              </a:custGeom>
              <a:noFill/>
              <a:ln w="28575">
                <a:solidFill>
                  <a:schemeClr val="accent1"/>
                </a:solidFill>
              </a:ln>
            </p:spPr>
          </p:sp>
        </p:grpSp>
        <p:sp>
          <p:nvSpPr>
            <p:cNvPr id="30" name="TextBox 30"/>
            <p:cNvSpPr txBox="1"/>
            <p:nvPr/>
          </p:nvSpPr>
          <p:spPr>
            <a:xfrm>
              <a:off x="8141208" y="2255520"/>
              <a:ext cx="993648"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可重現</a:t>
              </a:r>
            </a:p>
          </p:txBody>
        </p:sp>
        <p:sp>
          <p:nvSpPr>
            <p:cNvPr id="31" name="TextBox 31"/>
            <p:cNvSpPr txBox="1"/>
            <p:nvPr/>
          </p:nvSpPr>
          <p:spPr>
            <a:xfrm>
              <a:off x="8144256" y="2701290"/>
              <a:ext cx="1847088" cy="999744"/>
            </a:xfrm>
            <a:prstGeom prst="rect">
              <a:avLst/>
            </a:prstGeom>
            <a:noFill/>
            <a:ln>
              <a:noFill/>
            </a:ln>
          </p:spPr>
          <p:txBody>
            <a:bodyPr wrap="none" lIns="0" tIns="0" rIns="0" bIns="0" anchor="t" anchorCtr="0">
              <a:spAutoFit/>
            </a:bodyPr>
            <a:lstStyle/>
            <a:p>
              <a:pPr algn="l">
                <a:lnSpc>
                  <a:spcPts val="2550"/>
                </a:lnSpc>
              </a:pPr>
              <a:r>
                <a:rPr lang="zh-Hant-TW" sz="1800" dirty="0">
                  <a:solidFill>
                    <a:schemeClr val="accent5"/>
                  </a:solidFill>
                  <a:latin typeface="+mn-lt"/>
                  <a:ea typeface="+mn-ea"/>
                  <a:cs typeface="+mn-cs"/>
                </a:rPr>
                <a:t>同輸入必然同輸出</a:t>
              </a:r>
              <a:br/>
              <a:r>
                <a:rPr lang="zh-Hant-TW" sz="1800" dirty="0">
                  <a:solidFill>
                    <a:schemeClr val="accent5"/>
                  </a:solidFill>
                  <a:latin typeface="+mn-lt"/>
                  <a:ea typeface="+mn-ea"/>
                  <a:cs typeface="+mn-cs"/>
                </a:rPr>
                <a:t>這是所有量測的</a:t>
              </a:r>
              <a:br/>
              <a:r>
                <a:rPr lang="zh-Hant-TW" sz="1800" dirty="0">
                  <a:solidFill>
                    <a:schemeClr val="accent5"/>
                  </a:solidFill>
                  <a:latin typeface="+mn-lt"/>
                  <a:ea typeface="+mn-ea"/>
                  <a:cs typeface="+mn-cs"/>
                </a:rPr>
                <a:t>前提</a:t>
              </a:r>
            </a:p>
          </p:txBody>
        </p:sp>
      </p:grpSp>
      <p:grpSp>
        <p:nvGrpSpPr>
          <p:cNvPr id="37" name="Group 37"/>
          <p:cNvGrpSpPr/>
          <p:nvPr/>
        </p:nvGrpSpPr>
        <p:grpSpPr>
          <a:xfrm>
            <a:off x="673608" y="3905250"/>
            <a:ext cx="10832592" cy="1281684"/>
            <a:chOff x="673608" y="3905250"/>
            <a:chExt cx="10832592" cy="1281684"/>
          </a:xfrm>
        </p:grpSpPr>
        <p:sp>
          <p:nvSpPr>
            <p:cNvPr id="33" name="Line 33"/>
            <p:cNvSpPr/>
            <p:nvPr/>
          </p:nvSpPr>
          <p:spPr>
            <a:xfrm>
              <a:off x="685800" y="39052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4" name="TextBox 34"/>
            <p:cNvSpPr txBox="1"/>
            <p:nvPr/>
          </p:nvSpPr>
          <p:spPr>
            <a:xfrm>
              <a:off x="673608" y="4008120"/>
              <a:ext cx="3255264"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風險是</a:t>
              </a:r>
              <a:r>
                <a:rPr lang="zh-Hant-TW" sz="2400" b="1" dirty="0">
                  <a:solidFill>
                    <a:schemeClr val="accent1"/>
                  </a:solidFill>
                  <a:latin typeface="+mj-lt"/>
                  <a:ea typeface="+mj-ea"/>
                  <a:cs typeface="+mj-cs"/>
                </a:rPr>
                <a:t>函式</a:t>
              </a:r>
              <a:r>
                <a:rPr lang="zh-Hant-TW" sz="2400" b="1" dirty="0">
                  <a:solidFill>
                    <a:schemeClr val="dk1"/>
                  </a:solidFill>
                  <a:latin typeface="+mj-lt"/>
                  <a:ea typeface="+mj-ea"/>
                  <a:cs typeface="+mj-cs"/>
                </a:rPr>
                <a:t>，不是常數</a:t>
              </a:r>
            </a:p>
          </p:txBody>
        </p:sp>
        <p:sp>
          <p:nvSpPr>
            <p:cNvPr id="35" name="TextBox 35"/>
            <p:cNvSpPr txBox="1"/>
            <p:nvPr/>
          </p:nvSpPr>
          <p:spPr>
            <a:xfrm>
              <a:off x="676656" y="4472940"/>
              <a:ext cx="7627010"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基礎風險只是起點；13 條規則各自可以升級它，最終取最高的那一級。</a:t>
              </a:r>
            </a:p>
          </p:txBody>
        </p:sp>
        <p:sp>
          <p:nvSpPr>
            <p:cNvPr id="36" name="TextBox 36"/>
            <p:cNvSpPr txBox="1"/>
            <p:nvPr/>
          </p:nvSpPr>
          <p:spPr>
            <a:xfrm>
              <a:off x="676656" y="4834890"/>
              <a:ext cx="6560820"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風險到「高」一律轉需人工核准；到「禁止」則直接不允許。</a:t>
              </a:r>
            </a:p>
          </p:txBody>
        </p:sp>
      </p:grpSp>
      <p:grpSp>
        <p:nvGrpSpPr>
          <p:cNvPr id="41" name="Group 41"/>
          <p:cNvGrpSpPr/>
          <p:nvPr/>
        </p:nvGrpSpPr>
        <p:grpSpPr>
          <a:xfrm>
            <a:off x="685800" y="5295900"/>
            <a:ext cx="5219700" cy="723900"/>
            <a:chOff x="685800" y="5295900"/>
            <a:chExt cx="5219700" cy="723900"/>
          </a:xfrm>
        </p:grpSpPr>
        <p:sp>
          <p:nvSpPr>
            <p:cNvPr id="38" name="Rectangle 38"/>
            <p:cNvSpPr/>
            <p:nvPr/>
          </p:nvSpPr>
          <p:spPr>
            <a:xfrm>
              <a:off x="685800" y="5295900"/>
              <a:ext cx="5219700" cy="723900"/>
            </a:xfrm>
            <a:prstGeom prst="rect">
              <a:avLst/>
            </a:prstGeom>
            <a:solidFill>
              <a:srgbClr val="182337"/>
            </a:solidFill>
            <a:ln>
              <a:noFill/>
            </a:ln>
          </p:spPr>
        </p:sp>
        <p:sp>
          <p:nvSpPr>
            <p:cNvPr id="39" name="Rectangle 39"/>
            <p:cNvSpPr/>
            <p:nvPr/>
          </p:nvSpPr>
          <p:spPr>
            <a:xfrm>
              <a:off x="685800" y="5295900"/>
              <a:ext cx="38100" cy="723900"/>
            </a:xfrm>
            <a:prstGeom prst="rect">
              <a:avLst/>
            </a:prstGeom>
            <a:solidFill>
              <a:schemeClr val="accent3"/>
            </a:solidFill>
            <a:ln>
              <a:noFill/>
            </a:ln>
          </p:spPr>
        </p:sp>
        <p:sp>
          <p:nvSpPr>
            <p:cNvPr id="40" name="TextBox 40"/>
            <p:cNvSpPr txBox="1"/>
            <p:nvPr/>
          </p:nvSpPr>
          <p:spPr>
            <a:xfrm>
              <a:off x="981456" y="5539740"/>
              <a:ext cx="3035122"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 xml:space="preserve">無綁約 → 變更資費 </a:t>
              </a:r>
              <a:r>
                <a:rPr lang="zh-Hant-TW" sz="1800" dirty="0">
                  <a:solidFill>
                    <a:schemeClr val="accent3"/>
                  </a:solidFill>
                  <a:latin typeface="+mn-lt"/>
                  <a:ea typeface="+mn-ea"/>
                  <a:cs typeface="+mn-cs"/>
                </a:rPr>
                <a:t>自動放行</a:t>
              </a:r>
            </a:p>
          </p:txBody>
        </p:sp>
      </p:grpSp>
      <p:grpSp>
        <p:nvGrpSpPr>
          <p:cNvPr id="45" name="Group 45"/>
          <p:cNvGrpSpPr/>
          <p:nvPr/>
        </p:nvGrpSpPr>
        <p:grpSpPr>
          <a:xfrm>
            <a:off x="6286500" y="5295900"/>
            <a:ext cx="5219700" cy="723900"/>
            <a:chOff x="6286500" y="5295900"/>
            <a:chExt cx="5219700" cy="723900"/>
          </a:xfrm>
        </p:grpSpPr>
        <p:sp>
          <p:nvSpPr>
            <p:cNvPr id="42" name="Rectangle 42"/>
            <p:cNvSpPr/>
            <p:nvPr/>
          </p:nvSpPr>
          <p:spPr>
            <a:xfrm>
              <a:off x="6286500" y="5295900"/>
              <a:ext cx="5219700" cy="723900"/>
            </a:xfrm>
            <a:prstGeom prst="rect">
              <a:avLst/>
            </a:prstGeom>
            <a:solidFill>
              <a:srgbClr val="182337"/>
            </a:solidFill>
            <a:ln>
              <a:noFill/>
            </a:ln>
          </p:spPr>
        </p:sp>
        <p:sp>
          <p:nvSpPr>
            <p:cNvPr id="43" name="Rectangle 43"/>
            <p:cNvSpPr/>
            <p:nvPr/>
          </p:nvSpPr>
          <p:spPr>
            <a:xfrm>
              <a:off x="6286500" y="5295900"/>
              <a:ext cx="38100" cy="723900"/>
            </a:xfrm>
            <a:prstGeom prst="rect">
              <a:avLst/>
            </a:prstGeom>
            <a:solidFill>
              <a:schemeClr val="accent2"/>
            </a:solidFill>
            <a:ln>
              <a:noFill/>
            </a:ln>
          </p:spPr>
        </p:sp>
        <p:sp>
          <p:nvSpPr>
            <p:cNvPr id="44" name="TextBox 44"/>
            <p:cNvSpPr txBox="1"/>
            <p:nvPr/>
          </p:nvSpPr>
          <p:spPr>
            <a:xfrm>
              <a:off x="6582156" y="5539740"/>
              <a:ext cx="3856025"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 xml:space="preserve">綁約期內 → AG-24 升 high → </a:t>
              </a:r>
              <a:r>
                <a:rPr lang="zh-Hant-TW" sz="1800" dirty="0">
                  <a:solidFill>
                    <a:schemeClr val="accent2"/>
                  </a:solidFill>
                  <a:latin typeface="+mn-lt"/>
                  <a:ea typeface="+mn-ea"/>
                  <a:cs typeface="+mn-cs"/>
                </a:rPr>
                <a:t>需核准</a:t>
              </a:r>
            </a:p>
          </p:txBody>
        </p:sp>
      </p:grpSp>
      <p:grpSp>
        <p:nvGrpSpPr>
          <p:cNvPr id="47" name="Group 47"/>
          <p:cNvGrpSpPr/>
          <p:nvPr/>
        </p:nvGrpSpPr>
        <p:grpSpPr>
          <a:xfrm>
            <a:off x="678942" y="6140768"/>
            <a:ext cx="9423806" cy="264033"/>
            <a:chOff x="678942" y="6140768"/>
            <a:chExt cx="9423806" cy="264033"/>
          </a:xfrm>
        </p:grpSpPr>
        <p:sp>
          <p:nvSpPr>
            <p:cNvPr id="46" name="TextBox 46"/>
            <p:cNvSpPr txBox="1"/>
            <p:nvPr/>
          </p:nvSpPr>
          <p:spPr>
            <a:xfrm>
              <a:off x="678942" y="6140768"/>
              <a:ext cx="9423806"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差別來自帳戶狀態，不是來自 Agent 說了什麼。LLM 只允許出現在 G1 的格式轉換，且輸出必須先通過參數驗證。</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8572500" y="533400"/>
            <a:ext cx="2857500" cy="133350"/>
            <a:chOff x="8572500" y="533400"/>
            <a:chExt cx="2857500" cy="133350"/>
          </a:xfrm>
        </p:grpSpPr>
        <p:sp>
          <p:nvSpPr>
            <p:cNvPr id="2" name="Rectangle 2"/>
            <p:cNvSpPr/>
            <p:nvPr/>
          </p:nvSpPr>
          <p:spPr>
            <a:xfrm>
              <a:off x="8572500" y="533400"/>
              <a:ext cx="381000" cy="133350"/>
            </a:xfrm>
            <a:prstGeom prst="rect">
              <a:avLst/>
            </a:prstGeom>
            <a:solidFill>
              <a:srgbClr val="1E2B42"/>
            </a:solidFill>
            <a:ln>
              <a:noFill/>
            </a:ln>
          </p:spPr>
        </p:sp>
        <p:sp>
          <p:nvSpPr>
            <p:cNvPr id="3" name="Rectangle 3"/>
            <p:cNvSpPr/>
            <p:nvPr/>
          </p:nvSpPr>
          <p:spPr>
            <a:xfrm>
              <a:off x="9067800" y="533400"/>
              <a:ext cx="381000" cy="133350"/>
            </a:xfrm>
            <a:prstGeom prst="rect">
              <a:avLst/>
            </a:prstGeom>
            <a:solidFill>
              <a:srgbClr val="1E2B42"/>
            </a:solidFill>
            <a:ln>
              <a:noFill/>
            </a:ln>
          </p:spPr>
        </p:sp>
        <p:sp>
          <p:nvSpPr>
            <p:cNvPr id="4" name="Rectangle 4"/>
            <p:cNvSpPr/>
            <p:nvPr/>
          </p:nvSpPr>
          <p:spPr>
            <a:xfrm>
              <a:off x="9563100" y="533400"/>
              <a:ext cx="381000" cy="133350"/>
            </a:xfrm>
            <a:prstGeom prst="rect">
              <a:avLst/>
            </a:prstGeom>
            <a:solidFill>
              <a:srgbClr val="1E2B42"/>
            </a:solidFill>
            <a:ln>
              <a:noFill/>
            </a:ln>
          </p:spPr>
        </p:sp>
        <p:sp>
          <p:nvSpPr>
            <p:cNvPr id="5" name="Rectangle 5"/>
            <p:cNvSpPr/>
            <p:nvPr/>
          </p:nvSpPr>
          <p:spPr>
            <a:xfrm>
              <a:off x="10058400" y="533400"/>
              <a:ext cx="381000" cy="133350"/>
            </a:xfrm>
            <a:prstGeom prst="rect">
              <a:avLst/>
            </a:prstGeom>
            <a:solidFill>
              <a:schemeClr val="accent1"/>
            </a:solidFill>
            <a:ln>
              <a:noFill/>
            </a:ln>
          </p:spPr>
        </p:sp>
        <p:sp>
          <p:nvSpPr>
            <p:cNvPr id="6" name="Rectangle 6"/>
            <p:cNvSpPr/>
            <p:nvPr/>
          </p:nvSpPr>
          <p:spPr>
            <a:xfrm>
              <a:off x="10553700" y="533400"/>
              <a:ext cx="381000" cy="133350"/>
            </a:xfrm>
            <a:prstGeom prst="rect">
              <a:avLst/>
            </a:prstGeom>
            <a:solidFill>
              <a:srgbClr val="1E2B42"/>
            </a:solidFill>
            <a:ln>
              <a:noFill/>
            </a:ln>
          </p:spPr>
        </p:sp>
        <p:sp>
          <p:nvSpPr>
            <p:cNvPr id="7" name="Rectangle 7"/>
            <p:cNvSpPr/>
            <p:nvPr/>
          </p:nvSpPr>
          <p:spPr>
            <a:xfrm>
              <a:off x="11049000" y="533400"/>
              <a:ext cx="381000" cy="133350"/>
            </a:xfrm>
            <a:prstGeom prst="rect">
              <a:avLst/>
            </a:prstGeom>
            <a:solidFill>
              <a:srgbClr val="1E2B42"/>
            </a:solidFill>
            <a:ln>
              <a:noFill/>
            </a:ln>
          </p:spPr>
        </p:sp>
      </p:grpSp>
      <p:grpSp>
        <p:nvGrpSpPr>
          <p:cNvPr id="10" name="Group 10"/>
          <p:cNvGrpSpPr/>
          <p:nvPr/>
        </p:nvGrpSpPr>
        <p:grpSpPr>
          <a:xfrm>
            <a:off x="669798" y="764858"/>
            <a:ext cx="6455347" cy="616077"/>
            <a:chOff x="669798" y="764858"/>
            <a:chExt cx="6455347" cy="616077"/>
          </a:xfrm>
        </p:grpSpPr>
        <p:sp>
          <p:nvSpPr>
            <p:cNvPr id="9" name="TextBox 9"/>
            <p:cNvSpPr txBox="1"/>
            <p:nvPr/>
          </p:nvSpPr>
          <p:spPr>
            <a:xfrm>
              <a:off x="669798" y="764858"/>
              <a:ext cx="6455347"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申報 50 筆，影子環境</a:t>
              </a:r>
              <a:r>
                <a:rPr lang="zh-Hant-TW" sz="3150" b="1" dirty="0">
                  <a:solidFill>
                    <a:srgbClr val="FF6B6B"/>
                  </a:solidFill>
                  <a:latin typeface="+mj-lt"/>
                  <a:ea typeface="+mj-ea"/>
                  <a:cs typeface="+mj-cs"/>
                </a:rPr>
                <a:t>實測 242 筆</a:t>
              </a:r>
            </a:p>
          </p:txBody>
        </p:sp>
      </p:grpSp>
      <p:grpSp>
        <p:nvGrpSpPr>
          <p:cNvPr id="24" name="Group 24"/>
          <p:cNvGrpSpPr/>
          <p:nvPr/>
        </p:nvGrpSpPr>
        <p:grpSpPr>
          <a:xfrm>
            <a:off x="666750" y="2081212"/>
            <a:ext cx="2570226" cy="1923098"/>
            <a:chOff x="666750" y="2081212"/>
            <a:chExt cx="2570226" cy="1923098"/>
          </a:xfrm>
        </p:grpSpPr>
        <p:grpSp>
          <p:nvGrpSpPr>
            <p:cNvPr id="20" name="Group 20"/>
            <p:cNvGrpSpPr/>
            <p:nvPr/>
          </p:nvGrpSpPr>
          <p:grpSpPr>
            <a:xfrm>
              <a:off x="745331" y="2081212"/>
              <a:ext cx="166688" cy="226219"/>
              <a:chOff x="745331" y="2081212"/>
              <a:chExt cx="166688" cy="226219"/>
            </a:xfrm>
          </p:grpSpPr>
          <p:sp>
            <p:nvSpPr>
              <p:cNvPr id="11" name="Freeform 11"/>
              <p:cNvSpPr/>
              <p:nvPr/>
            </p:nvSpPr>
            <p:spPr>
              <a:xfrm>
                <a:off x="757238" y="21050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rgbClr val="94A5BC"/>
                </a:solidFill>
              </a:ln>
            </p:spPr>
          </p:sp>
          <p:sp>
            <p:nvSpPr>
              <p:cNvPr id="12" name="Freeform 12"/>
              <p:cNvSpPr/>
              <p:nvPr/>
            </p:nvSpPr>
            <p:spPr>
              <a:xfrm>
                <a:off x="828675" y="2081212"/>
                <a:ext cx="9525" cy="23812"/>
              </a:xfrm>
              <a:custGeom>
                <a:avLst/>
                <a:gdLst/>
                <a:ahLst/>
                <a:cxnLst/>
                <a:rect l="l" t="t" r="r" b="b"/>
                <a:pathLst>
                  <a:path w="9525" h="23812">
                    <a:moveTo>
                      <a:pt x="0" y="0"/>
                    </a:moveTo>
                    <a:lnTo>
                      <a:pt x="0" y="23812"/>
                    </a:lnTo>
                  </a:path>
                </a:pathLst>
              </a:custGeom>
              <a:noFill/>
              <a:ln w="23812">
                <a:solidFill>
                  <a:srgbClr val="94A5BC"/>
                </a:solidFill>
              </a:ln>
            </p:spPr>
          </p:sp>
          <p:sp>
            <p:nvSpPr>
              <p:cNvPr id="13" name="Freeform 13"/>
              <p:cNvSpPr/>
              <p:nvPr/>
            </p:nvSpPr>
            <p:spPr>
              <a:xfrm>
                <a:off x="792956" y="2200275"/>
                <a:ext cx="9525" cy="107156"/>
              </a:xfrm>
              <a:custGeom>
                <a:avLst/>
                <a:gdLst/>
                <a:ahLst/>
                <a:cxnLst/>
                <a:rect l="l" t="t" r="r" b="b"/>
                <a:pathLst>
                  <a:path w="9525" h="107156">
                    <a:moveTo>
                      <a:pt x="0" y="0"/>
                    </a:moveTo>
                    <a:lnTo>
                      <a:pt x="0" y="107156"/>
                    </a:lnTo>
                  </a:path>
                </a:pathLst>
              </a:custGeom>
              <a:noFill/>
              <a:ln w="23812">
                <a:solidFill>
                  <a:srgbClr val="94A5BC"/>
                </a:solidFill>
              </a:ln>
            </p:spPr>
          </p:sp>
          <p:sp>
            <p:nvSpPr>
              <p:cNvPr id="14" name="Freeform 14"/>
              <p:cNvSpPr/>
              <p:nvPr/>
            </p:nvSpPr>
            <p:spPr>
              <a:xfrm>
                <a:off x="864394" y="2200275"/>
                <a:ext cx="9525" cy="107156"/>
              </a:xfrm>
              <a:custGeom>
                <a:avLst/>
                <a:gdLst/>
                <a:ahLst/>
                <a:cxnLst/>
                <a:rect l="l" t="t" r="r" b="b"/>
                <a:pathLst>
                  <a:path w="9525" h="107156">
                    <a:moveTo>
                      <a:pt x="0" y="0"/>
                    </a:moveTo>
                    <a:lnTo>
                      <a:pt x="0" y="107156"/>
                    </a:lnTo>
                  </a:path>
                </a:pathLst>
              </a:custGeom>
              <a:noFill/>
              <a:ln w="23812">
                <a:solidFill>
                  <a:srgbClr val="94A5BC"/>
                </a:solidFill>
              </a:ln>
            </p:spPr>
          </p:sp>
          <p:sp>
            <p:nvSpPr>
              <p:cNvPr id="15" name="Freeform 15"/>
              <p:cNvSpPr/>
              <p:nvPr/>
            </p:nvSpPr>
            <p:spPr>
              <a:xfrm>
                <a:off x="745331" y="2224088"/>
                <a:ext cx="47625" cy="23812"/>
              </a:xfrm>
              <a:custGeom>
                <a:avLst/>
                <a:gdLst/>
                <a:ahLst/>
                <a:cxnLst/>
                <a:rect l="l" t="t" r="r" b="b"/>
                <a:pathLst>
                  <a:path w="47625" h="23812">
                    <a:moveTo>
                      <a:pt x="0" y="23812"/>
                    </a:moveTo>
                    <a:lnTo>
                      <a:pt x="47625" y="0"/>
                    </a:lnTo>
                  </a:path>
                </a:pathLst>
              </a:custGeom>
              <a:noFill/>
              <a:ln w="23812">
                <a:solidFill>
                  <a:srgbClr val="94A5BC"/>
                </a:solidFill>
              </a:ln>
            </p:spPr>
          </p:sp>
          <p:sp>
            <p:nvSpPr>
              <p:cNvPr id="16" name="Freeform 16"/>
              <p:cNvSpPr/>
              <p:nvPr/>
            </p:nvSpPr>
            <p:spPr>
              <a:xfrm>
                <a:off x="864394" y="2224088"/>
                <a:ext cx="47625" cy="23812"/>
              </a:xfrm>
              <a:custGeom>
                <a:avLst/>
                <a:gdLst/>
                <a:ahLst/>
                <a:cxnLst/>
                <a:rect l="l" t="t" r="r" b="b"/>
                <a:pathLst>
                  <a:path w="47625" h="23812">
                    <a:moveTo>
                      <a:pt x="0" y="0"/>
                    </a:moveTo>
                    <a:lnTo>
                      <a:pt x="47625" y="23812"/>
                    </a:lnTo>
                  </a:path>
                </a:pathLst>
              </a:custGeom>
              <a:noFill/>
              <a:ln w="23812">
                <a:solidFill>
                  <a:srgbClr val="94A5BC"/>
                </a:solidFill>
              </a:ln>
            </p:spPr>
          </p:sp>
          <p:sp>
            <p:nvSpPr>
              <p:cNvPr id="17" name="Freeform 17"/>
              <p:cNvSpPr/>
              <p:nvPr/>
            </p:nvSpPr>
            <p:spPr>
              <a:xfrm>
                <a:off x="792956" y="2271712"/>
                <a:ext cx="71438" cy="9525"/>
              </a:xfrm>
              <a:custGeom>
                <a:avLst/>
                <a:gdLst/>
                <a:ahLst/>
                <a:cxnLst/>
                <a:rect l="l" t="t" r="r" b="b"/>
                <a:pathLst>
                  <a:path w="71438" h="9525">
                    <a:moveTo>
                      <a:pt x="0" y="0"/>
                    </a:moveTo>
                    <a:lnTo>
                      <a:pt x="71438" y="0"/>
                    </a:lnTo>
                  </a:path>
                </a:pathLst>
              </a:custGeom>
              <a:noFill/>
              <a:ln w="23812">
                <a:solidFill>
                  <a:srgbClr val="94A5BC"/>
                </a:solidFill>
              </a:ln>
            </p:spPr>
          </p:sp>
          <p:sp>
            <p:nvSpPr>
              <p:cNvPr id="18" name="Freeform 18"/>
              <p:cNvSpPr/>
              <p:nvPr/>
            </p:nvSpPr>
            <p:spPr>
              <a:xfrm>
                <a:off x="804862" y="2152650"/>
                <a:ext cx="9525" cy="9525"/>
              </a:xfrm>
              <a:custGeom>
                <a:avLst/>
                <a:gdLst/>
                <a:ahLst/>
                <a:cxnLst/>
                <a:rect l="l" t="t" r="r" b="b"/>
                <a:pathLst>
                  <a:path w="9525" h="9525">
                    <a:moveTo>
                      <a:pt x="0" y="0"/>
                    </a:moveTo>
                    <a:lnTo>
                      <a:pt x="0" y="119"/>
                    </a:lnTo>
                  </a:path>
                </a:pathLst>
              </a:custGeom>
              <a:noFill/>
              <a:ln w="23812">
                <a:solidFill>
                  <a:srgbClr val="94A5BC"/>
                </a:solidFill>
              </a:ln>
            </p:spPr>
          </p:sp>
          <p:sp>
            <p:nvSpPr>
              <p:cNvPr id="19" name="Freeform 19"/>
              <p:cNvSpPr/>
              <p:nvPr/>
            </p:nvSpPr>
            <p:spPr>
              <a:xfrm>
                <a:off x="852488" y="2152650"/>
                <a:ext cx="9525" cy="9525"/>
              </a:xfrm>
              <a:custGeom>
                <a:avLst/>
                <a:gdLst/>
                <a:ahLst/>
                <a:cxnLst/>
                <a:rect l="l" t="t" r="r" b="b"/>
                <a:pathLst>
                  <a:path w="9525" h="9525">
                    <a:moveTo>
                      <a:pt x="0" y="0"/>
                    </a:moveTo>
                    <a:lnTo>
                      <a:pt x="0" y="119"/>
                    </a:lnTo>
                  </a:path>
                </a:pathLst>
              </a:custGeom>
              <a:noFill/>
              <a:ln w="23812">
                <a:solidFill>
                  <a:srgbClr val="94A5BC"/>
                </a:solidFill>
              </a:ln>
            </p:spPr>
          </p:sp>
        </p:grpSp>
        <p:sp>
          <p:nvSpPr>
            <p:cNvPr id="21" name="TextBox 21"/>
            <p:cNvSpPr txBox="1"/>
            <p:nvPr/>
          </p:nvSpPr>
          <p:spPr>
            <a:xfrm>
              <a:off x="1078992" y="2121218"/>
              <a:ext cx="1048615"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Agent 申報</a:t>
              </a:r>
            </a:p>
          </p:txBody>
        </p:sp>
        <p:sp>
          <p:nvSpPr>
            <p:cNvPr id="22" name="TextBox 22"/>
            <p:cNvSpPr txBox="1"/>
            <p:nvPr/>
          </p:nvSpPr>
          <p:spPr>
            <a:xfrm>
              <a:off x="666750" y="2613660"/>
              <a:ext cx="1555907" cy="1390650"/>
            </a:xfrm>
            <a:prstGeom prst="rect">
              <a:avLst/>
            </a:prstGeom>
            <a:noFill/>
            <a:ln>
              <a:noFill/>
            </a:ln>
          </p:spPr>
          <p:txBody>
            <a:bodyPr wrap="none" lIns="0" tIns="0" rIns="0" bIns="0" anchor="t" anchorCtr="0">
              <a:spAutoFit/>
            </a:bodyPr>
            <a:lstStyle/>
            <a:p>
              <a:pPr algn="l"/>
              <a:r>
                <a:rPr lang="zh-Hant-TW" sz="7200" b="1" dirty="0">
                  <a:solidFill>
                    <a:schemeClr val="accent5"/>
                  </a:solidFill>
                  <a:latin typeface="+mj-lt"/>
                  <a:ea typeface="+mj-ea"/>
                  <a:cs typeface="+mj-cs"/>
                </a:rPr>
                <a:t>50</a:t>
              </a:r>
              <a:r>
                <a:rPr lang="zh-Hant-TW" sz="2250" b="1" dirty="0">
                  <a:solidFill>
                    <a:schemeClr val="accent5"/>
                  </a:solidFill>
                  <a:latin typeface="+mn-lt"/>
                  <a:ea typeface="+mn-ea"/>
                  <a:cs typeface="+mn-cs"/>
                </a:rPr>
                <a:t xml:space="preserve"> 筆</a:t>
              </a:r>
            </a:p>
          </p:txBody>
        </p:sp>
        <p:sp>
          <p:nvSpPr>
            <p:cNvPr id="23" name="TextBox 23"/>
            <p:cNvSpPr txBox="1"/>
            <p:nvPr/>
          </p:nvSpPr>
          <p:spPr>
            <a:xfrm>
              <a:off x="678942" y="3664268"/>
              <a:ext cx="2558034"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批次匯出請求上宣稱的影響筆數</a:t>
              </a:r>
            </a:p>
          </p:txBody>
        </p:sp>
      </p:grpSp>
      <p:sp>
        <p:nvSpPr>
          <p:cNvPr id="25" name="Freeform 25"/>
          <p:cNvSpPr/>
          <p:nvPr/>
        </p:nvSpPr>
        <p:spPr>
          <a:xfrm>
            <a:off x="5676900" y="2667000"/>
            <a:ext cx="838200" cy="838200"/>
          </a:xfrm>
          <a:prstGeom prst="mathNotEqual">
            <a:avLst/>
          </a:prstGeom>
          <a:solidFill>
            <a:srgbClr val="FF6B6B"/>
          </a:solidFill>
          <a:ln>
            <a:noFill/>
          </a:ln>
        </p:spPr>
      </p:sp>
      <p:grpSp>
        <p:nvGrpSpPr>
          <p:cNvPr id="30" name="Group 30"/>
          <p:cNvGrpSpPr/>
          <p:nvPr/>
        </p:nvGrpSpPr>
        <p:grpSpPr>
          <a:xfrm>
            <a:off x="6724650" y="2105025"/>
            <a:ext cx="2933700" cy="1899285"/>
            <a:chOff x="6724650" y="2105025"/>
            <a:chExt cx="2933700" cy="1899285"/>
          </a:xfrm>
        </p:grpSpPr>
        <p:sp>
          <p:nvSpPr>
            <p:cNvPr id="26" name="Freeform 26"/>
            <p:cNvSpPr/>
            <p:nvPr/>
          </p:nvSpPr>
          <p:spPr>
            <a:xfrm>
              <a:off x="6827044" y="2105025"/>
              <a:ext cx="154781" cy="190500"/>
            </a:xfrm>
            <a:custGeom>
              <a:avLst/>
              <a:gdLst/>
              <a:ahLst/>
              <a:cxnLst/>
              <a:rect l="l" t="t" r="r" b="b"/>
              <a:pathLst>
                <a:path w="154781" h="190500">
                  <a:moveTo>
                    <a:pt x="0" y="0"/>
                  </a:moveTo>
                  <a:lnTo>
                    <a:pt x="0" y="190500"/>
                  </a:lnTo>
                  <a:lnTo>
                    <a:pt x="154781" y="95250"/>
                  </a:lnTo>
                  <a:lnTo>
                    <a:pt x="0" y="0"/>
                  </a:lnTo>
                </a:path>
              </a:pathLst>
            </a:custGeom>
            <a:noFill/>
            <a:ln w="23812">
              <a:solidFill>
                <a:srgbClr val="FF6B6B"/>
              </a:solidFill>
            </a:ln>
          </p:spPr>
        </p:sp>
        <p:sp>
          <p:nvSpPr>
            <p:cNvPr id="27" name="TextBox 27"/>
            <p:cNvSpPr txBox="1"/>
            <p:nvPr/>
          </p:nvSpPr>
          <p:spPr>
            <a:xfrm>
              <a:off x="7136892" y="2121218"/>
              <a:ext cx="1179525" cy="264033"/>
            </a:xfrm>
            <a:prstGeom prst="rect">
              <a:avLst/>
            </a:prstGeom>
            <a:noFill/>
            <a:ln>
              <a:noFill/>
            </a:ln>
          </p:spPr>
          <p:txBody>
            <a:bodyPr wrap="none" lIns="0" tIns="0" rIns="0" bIns="0" anchor="t" anchorCtr="0">
              <a:spAutoFit/>
            </a:bodyPr>
            <a:lstStyle/>
            <a:p>
              <a:pPr algn="l"/>
              <a:r>
                <a:rPr lang="zh-Hant-TW" sz="1350" spc="112" dirty="0">
                  <a:solidFill>
                    <a:srgbClr val="FF6B6B"/>
                  </a:solidFill>
                  <a:latin typeface="+mn-lt"/>
                  <a:ea typeface="+mn-ea"/>
                  <a:cs typeface="+mn-cs"/>
                </a:rPr>
                <a:t>影子環境實測</a:t>
              </a:r>
            </a:p>
          </p:txBody>
        </p:sp>
        <p:sp>
          <p:nvSpPr>
            <p:cNvPr id="28" name="TextBox 28"/>
            <p:cNvSpPr txBox="1"/>
            <p:nvPr/>
          </p:nvSpPr>
          <p:spPr>
            <a:xfrm>
              <a:off x="6724650" y="2613660"/>
              <a:ext cx="2115657" cy="1390650"/>
            </a:xfrm>
            <a:prstGeom prst="rect">
              <a:avLst/>
            </a:prstGeom>
            <a:noFill/>
            <a:ln>
              <a:noFill/>
            </a:ln>
          </p:spPr>
          <p:txBody>
            <a:bodyPr wrap="none" lIns="0" tIns="0" rIns="0" bIns="0" anchor="t" anchorCtr="0">
              <a:spAutoFit/>
            </a:bodyPr>
            <a:lstStyle/>
            <a:p>
              <a:pPr algn="l"/>
              <a:r>
                <a:rPr lang="zh-Hant-TW" sz="7200" b="1" dirty="0">
                  <a:solidFill>
                    <a:srgbClr val="FF6B6B"/>
                  </a:solidFill>
                  <a:latin typeface="+mj-lt"/>
                  <a:ea typeface="+mj-ea"/>
                  <a:cs typeface="+mj-cs"/>
                </a:rPr>
                <a:t>242</a:t>
              </a:r>
              <a:r>
                <a:rPr lang="zh-Hant-TW" sz="2250" b="1" dirty="0">
                  <a:solidFill>
                    <a:srgbClr val="FF6B6B"/>
                  </a:solidFill>
                  <a:latin typeface="+mn-lt"/>
                  <a:ea typeface="+mn-ea"/>
                  <a:cs typeface="+mn-cs"/>
                </a:rPr>
                <a:t xml:space="preserve"> 筆</a:t>
              </a:r>
            </a:p>
          </p:txBody>
        </p:sp>
        <p:sp>
          <p:nvSpPr>
            <p:cNvPr id="29" name="TextBox 29"/>
            <p:cNvSpPr txBox="1"/>
            <p:nvPr/>
          </p:nvSpPr>
          <p:spPr>
            <a:xfrm>
              <a:off x="6736842" y="3664268"/>
              <a:ext cx="2921508"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影子環境乾跑時真的去撈出來的數字</a:t>
              </a:r>
            </a:p>
          </p:txBody>
        </p:sp>
      </p:grpSp>
      <p:grpSp>
        <p:nvGrpSpPr>
          <p:cNvPr id="33" name="Group 33"/>
          <p:cNvGrpSpPr/>
          <p:nvPr/>
        </p:nvGrpSpPr>
        <p:grpSpPr>
          <a:xfrm>
            <a:off x="676656" y="4358640"/>
            <a:ext cx="8147304" cy="713994"/>
            <a:chOff x="676656" y="4358640"/>
            <a:chExt cx="8147304" cy="713994"/>
          </a:xfrm>
        </p:grpSpPr>
        <p:sp>
          <p:nvSpPr>
            <p:cNvPr id="31" name="TextBox 31"/>
            <p:cNvSpPr txBox="1"/>
            <p:nvPr/>
          </p:nvSpPr>
          <p:spPr>
            <a:xfrm>
              <a:off x="676656" y="4358640"/>
              <a:ext cx="7384694"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預演不是估算，是真的去撈。</a:t>
              </a:r>
              <a:r>
                <a:rPr lang="zh-Hant-TW" sz="1800" dirty="0">
                  <a:solidFill>
                    <a:schemeClr val="accent1"/>
                  </a:solidFill>
                  <a:latin typeface="+mn-lt"/>
                  <a:ea typeface="+mn-ea"/>
                  <a:cs typeface="+mn-cs"/>
                </a:rPr>
                <a:t>申報與實測的落差本身就是攻擊訊號</a:t>
              </a:r>
              <a:r>
                <a:rPr lang="zh-Hant-TW" sz="1800" dirty="0">
                  <a:solidFill>
                    <a:schemeClr val="dk1"/>
                  </a:solidFill>
                  <a:latin typeface="+mn-lt"/>
                  <a:ea typeface="+mn-ea"/>
                  <a:cs typeface="+mn-cs"/>
                </a:rPr>
                <a:t xml:space="preserve"> ——</a:t>
              </a:r>
            </a:p>
          </p:txBody>
        </p:sp>
        <p:sp>
          <p:nvSpPr>
            <p:cNvPr id="32" name="TextBox 32"/>
            <p:cNvSpPr txBox="1"/>
            <p:nvPr/>
          </p:nvSpPr>
          <p:spPr>
            <a:xfrm>
              <a:off x="676656" y="4720590"/>
              <a:ext cx="8147304"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觸發 AG-31 範圍逃逸，G3 攔下；預演只讀不寫，核准之後才真的執行。</a:t>
              </a:r>
            </a:p>
          </p:txBody>
        </p:sp>
      </p:grpSp>
      <p:grpSp>
        <p:nvGrpSpPr>
          <p:cNvPr id="39" name="Group 39"/>
          <p:cNvGrpSpPr/>
          <p:nvPr/>
        </p:nvGrpSpPr>
        <p:grpSpPr>
          <a:xfrm>
            <a:off x="685800" y="5238750"/>
            <a:ext cx="10820400" cy="1108901"/>
            <a:chOff x="685800" y="5238750"/>
            <a:chExt cx="10820400" cy="1108901"/>
          </a:xfrm>
        </p:grpSpPr>
        <p:sp>
          <p:nvSpPr>
            <p:cNvPr id="34" name="Rectangle 34"/>
            <p:cNvSpPr/>
            <p:nvPr/>
          </p:nvSpPr>
          <p:spPr>
            <a:xfrm>
              <a:off x="685800" y="5238750"/>
              <a:ext cx="10820400" cy="1066800"/>
            </a:xfrm>
            <a:prstGeom prst="rect">
              <a:avLst/>
            </a:prstGeom>
            <a:solidFill>
              <a:srgbClr val="FF6B6B">
                <a:alpha val="8000"/>
              </a:srgbClr>
            </a:solidFill>
            <a:ln>
              <a:noFill/>
            </a:ln>
          </p:spPr>
        </p:sp>
        <p:sp>
          <p:nvSpPr>
            <p:cNvPr id="35" name="Rectangle 35"/>
            <p:cNvSpPr/>
            <p:nvPr/>
          </p:nvSpPr>
          <p:spPr>
            <a:xfrm>
              <a:off x="685800" y="5238750"/>
              <a:ext cx="38100" cy="1066800"/>
            </a:xfrm>
            <a:prstGeom prst="rect">
              <a:avLst/>
            </a:prstGeom>
            <a:solidFill>
              <a:srgbClr val="FF6B6B"/>
            </a:solidFill>
            <a:ln>
              <a:noFill/>
            </a:ln>
          </p:spPr>
        </p:sp>
        <p:sp>
          <p:nvSpPr>
            <p:cNvPr id="36" name="TextBox 36"/>
            <p:cNvSpPr txBox="1"/>
            <p:nvPr/>
          </p:nvSpPr>
          <p:spPr>
            <a:xfrm>
              <a:off x="981456" y="5368290"/>
              <a:ext cx="857846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 xml:space="preserve">拿掉 G3，低報筆數的批次匯出就會騙過申報審查 —— HAR 由 </a:t>
              </a:r>
              <a:r>
                <a:rPr lang="zh-Hant-TW" sz="1800" b="1" dirty="0">
                  <a:solidFill>
                    <a:schemeClr val="accent3"/>
                  </a:solidFill>
                  <a:latin typeface="+mn-lt"/>
                  <a:ea typeface="+mn-ea"/>
                  <a:cs typeface="+mn-cs"/>
                </a:rPr>
                <a:t>0%</a:t>
              </a:r>
              <a:r>
                <a:rPr lang="zh-Hant-TW" sz="1800" dirty="0">
                  <a:solidFill>
                    <a:schemeClr val="dk1"/>
                  </a:solidFill>
                  <a:latin typeface="+mn-lt"/>
                  <a:ea typeface="+mn-ea"/>
                  <a:cs typeface="+mn-cs"/>
                </a:rPr>
                <a:t xml:space="preserve"> 升到 </a:t>
              </a:r>
              <a:r>
                <a:rPr lang="zh-Hant-TW" sz="1800" b="1" dirty="0">
                  <a:solidFill>
                    <a:srgbClr val="FF6B6B"/>
                  </a:solidFill>
                  <a:latin typeface="+mn-lt"/>
                  <a:ea typeface="+mn-ea"/>
                  <a:cs typeface="+mn-cs"/>
                </a:rPr>
                <a:t>8.7%</a:t>
              </a:r>
              <a:r>
                <a:rPr lang="zh-Hant-TW" sz="1800" dirty="0">
                  <a:solidFill>
                    <a:schemeClr val="dk1"/>
                  </a:solidFill>
                  <a:latin typeface="+mn-lt"/>
                  <a:ea typeface="+mn-ea"/>
                  <a:cs typeface="+mn-cs"/>
                </a:rPr>
                <a:t>。</a:t>
              </a:r>
            </a:p>
          </p:txBody>
        </p:sp>
        <p:sp>
          <p:nvSpPr>
            <p:cNvPr id="37" name="TextBox 37"/>
            <p:cNvSpPr txBox="1"/>
            <p:nvPr/>
          </p:nvSpPr>
          <p:spPr>
            <a:xfrm>
              <a:off x="981456" y="5730240"/>
              <a:ext cx="6355080"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AG-30：不可回復的動作永遠需要人工核准，無論規模。</a:t>
              </a:r>
            </a:p>
          </p:txBody>
        </p:sp>
        <p:sp>
          <p:nvSpPr>
            <p:cNvPr id="38" name="TextBox 38"/>
            <p:cNvSpPr txBox="1"/>
            <p:nvPr/>
          </p:nvSpPr>
          <p:spPr>
            <a:xfrm>
              <a:off x="983742" y="6083618"/>
              <a:ext cx="8145932"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資料匯出與補發 SIM 在預演裡被標記為不可回復，連 1 筆的匯出也要人簽名；退費反而可回復。</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8572500" y="533400"/>
            <a:ext cx="2857500" cy="133350"/>
            <a:chOff x="8572500" y="533400"/>
            <a:chExt cx="2857500" cy="133350"/>
          </a:xfrm>
        </p:grpSpPr>
        <p:sp>
          <p:nvSpPr>
            <p:cNvPr id="2" name="Rectangle 2"/>
            <p:cNvSpPr/>
            <p:nvPr/>
          </p:nvSpPr>
          <p:spPr>
            <a:xfrm>
              <a:off x="8572500" y="533400"/>
              <a:ext cx="381000" cy="133350"/>
            </a:xfrm>
            <a:prstGeom prst="rect">
              <a:avLst/>
            </a:prstGeom>
            <a:solidFill>
              <a:srgbClr val="1E2B42"/>
            </a:solidFill>
            <a:ln>
              <a:noFill/>
            </a:ln>
          </p:spPr>
        </p:sp>
        <p:sp>
          <p:nvSpPr>
            <p:cNvPr id="3" name="Rectangle 3"/>
            <p:cNvSpPr/>
            <p:nvPr/>
          </p:nvSpPr>
          <p:spPr>
            <a:xfrm>
              <a:off x="9067800" y="533400"/>
              <a:ext cx="381000" cy="133350"/>
            </a:xfrm>
            <a:prstGeom prst="rect">
              <a:avLst/>
            </a:prstGeom>
            <a:solidFill>
              <a:srgbClr val="1E2B42"/>
            </a:solidFill>
            <a:ln>
              <a:noFill/>
            </a:ln>
          </p:spPr>
        </p:sp>
        <p:sp>
          <p:nvSpPr>
            <p:cNvPr id="4" name="Rectangle 4"/>
            <p:cNvSpPr/>
            <p:nvPr/>
          </p:nvSpPr>
          <p:spPr>
            <a:xfrm>
              <a:off x="9563100" y="533400"/>
              <a:ext cx="381000" cy="133350"/>
            </a:xfrm>
            <a:prstGeom prst="rect">
              <a:avLst/>
            </a:prstGeom>
            <a:solidFill>
              <a:srgbClr val="1E2B42"/>
            </a:solidFill>
            <a:ln>
              <a:noFill/>
            </a:ln>
          </p:spPr>
        </p:sp>
        <p:sp>
          <p:nvSpPr>
            <p:cNvPr id="5" name="Rectangle 5"/>
            <p:cNvSpPr/>
            <p:nvPr/>
          </p:nvSpPr>
          <p:spPr>
            <a:xfrm>
              <a:off x="10058400" y="533400"/>
              <a:ext cx="381000" cy="133350"/>
            </a:xfrm>
            <a:prstGeom prst="rect">
              <a:avLst/>
            </a:prstGeom>
            <a:solidFill>
              <a:srgbClr val="1E2B42"/>
            </a:solidFill>
            <a:ln>
              <a:noFill/>
            </a:ln>
          </p:spPr>
        </p:sp>
        <p:sp>
          <p:nvSpPr>
            <p:cNvPr id="6" name="Rectangle 6"/>
            <p:cNvSpPr/>
            <p:nvPr/>
          </p:nvSpPr>
          <p:spPr>
            <a:xfrm>
              <a:off x="10553700" y="533400"/>
              <a:ext cx="381000" cy="133350"/>
            </a:xfrm>
            <a:prstGeom prst="rect">
              <a:avLst/>
            </a:prstGeom>
            <a:solidFill>
              <a:schemeClr val="accent2"/>
            </a:solidFill>
            <a:ln>
              <a:noFill/>
            </a:ln>
          </p:spPr>
        </p:sp>
        <p:sp>
          <p:nvSpPr>
            <p:cNvPr id="7" name="Rectangle 7"/>
            <p:cNvSpPr/>
            <p:nvPr/>
          </p:nvSpPr>
          <p:spPr>
            <a:xfrm>
              <a:off x="11049000" y="533400"/>
              <a:ext cx="381000" cy="133350"/>
            </a:xfrm>
            <a:prstGeom prst="rect">
              <a:avLst/>
            </a:prstGeom>
            <a:solidFill>
              <a:schemeClr val="accent3"/>
            </a:solidFill>
            <a:ln>
              <a:noFill/>
            </a:ln>
          </p:spPr>
        </p:sp>
      </p:grpSp>
      <p:grpSp>
        <p:nvGrpSpPr>
          <p:cNvPr id="10" name="Group 10"/>
          <p:cNvGrpSpPr/>
          <p:nvPr/>
        </p:nvGrpSpPr>
        <p:grpSpPr>
          <a:xfrm>
            <a:off x="669798" y="764858"/>
            <a:ext cx="6637866" cy="616077"/>
            <a:chOff x="669798" y="764858"/>
            <a:chExt cx="6637866" cy="616077"/>
          </a:xfrm>
        </p:grpSpPr>
        <p:sp>
          <p:nvSpPr>
            <p:cNvPr id="9" name="TextBox 9"/>
            <p:cNvSpPr txBox="1"/>
            <p:nvPr/>
          </p:nvSpPr>
          <p:spPr>
            <a:xfrm>
              <a:off x="669798" y="764858"/>
              <a:ext cx="6637866"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 xml:space="preserve">證據包裡的 Agent 推理，權重是 </a:t>
              </a:r>
              <a:r>
                <a:rPr lang="zh-Hant-TW" sz="3150" b="1" dirty="0">
                  <a:solidFill>
                    <a:srgbClr val="FF6B6B"/>
                  </a:solidFill>
                  <a:latin typeface="+mj-lt"/>
                  <a:ea typeface="+mj-ea"/>
                  <a:cs typeface="+mj-cs"/>
                </a:rPr>
                <a:t>0</a:t>
              </a:r>
            </a:p>
          </p:txBody>
        </p:sp>
      </p:grpSp>
      <p:grpSp>
        <p:nvGrpSpPr>
          <p:cNvPr id="14" name="Group 14"/>
          <p:cNvGrpSpPr/>
          <p:nvPr/>
        </p:nvGrpSpPr>
        <p:grpSpPr>
          <a:xfrm>
            <a:off x="678942" y="1485900"/>
            <a:ext cx="6102858" cy="4518851"/>
            <a:chOff x="678942" y="1485900"/>
            <a:chExt cx="6102858" cy="4518851"/>
          </a:xfrm>
        </p:grpSpPr>
        <p:pic>
          <p:nvPicPr>
            <p:cNvPr id="11" name="Image 11"/>
            <p:cNvPicPr>
              <a:picLocks noChangeAspect="1"/>
            </p:cNvPicPr>
            <p:nvPr/>
          </p:nvPicPr>
          <p:blipFill>
            <a:blip r:embed="rId2"/>
            <a:stretch>
              <a:fillRect/>
            </a:stretch>
          </p:blipFill>
          <p:spPr>
            <a:xfrm>
              <a:off x="685800" y="1485900"/>
              <a:ext cx="6096000" cy="4191000"/>
            </a:xfrm>
            <a:prstGeom prst="rect">
              <a:avLst/>
            </a:prstGeom>
          </p:spPr>
        </p:pic>
        <p:sp>
          <p:nvSpPr>
            <p:cNvPr id="12" name="Rectangle 12"/>
            <p:cNvSpPr/>
            <p:nvPr/>
          </p:nvSpPr>
          <p:spPr>
            <a:xfrm>
              <a:off x="685800" y="1485900"/>
              <a:ext cx="6096000" cy="4191000"/>
            </a:xfrm>
            <a:prstGeom prst="rect">
              <a:avLst/>
            </a:prstGeom>
            <a:noFill/>
            <a:ln w="9525">
              <a:solidFill>
                <a:schemeClr val="accent6"/>
              </a:solidFill>
            </a:ln>
          </p:spPr>
        </p:sp>
        <p:sp>
          <p:nvSpPr>
            <p:cNvPr id="13" name="TextBox 13"/>
            <p:cNvSpPr txBox="1"/>
            <p:nvPr/>
          </p:nvSpPr>
          <p:spPr>
            <a:xfrm>
              <a:off x="678942" y="5740718"/>
              <a:ext cx="5320436"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核准介面實際畫面（2026-09-06 擷取）—— 主管看到的就是這一頁</a:t>
              </a:r>
            </a:p>
          </p:txBody>
        </p:sp>
      </p:grpSp>
      <p:grpSp>
        <p:nvGrpSpPr>
          <p:cNvPr id="28" name="Group 28"/>
          <p:cNvGrpSpPr/>
          <p:nvPr/>
        </p:nvGrpSpPr>
        <p:grpSpPr>
          <a:xfrm>
            <a:off x="6772656" y="1549718"/>
            <a:ext cx="4733544" cy="4169283"/>
            <a:chOff x="6772656" y="1549718"/>
            <a:chExt cx="4733544" cy="4169283"/>
          </a:xfrm>
        </p:grpSpPr>
        <p:sp>
          <p:nvSpPr>
            <p:cNvPr id="15" name="TextBox 15"/>
            <p:cNvSpPr txBox="1"/>
            <p:nvPr/>
          </p:nvSpPr>
          <p:spPr>
            <a:xfrm>
              <a:off x="6774942" y="1549718"/>
              <a:ext cx="1573154" cy="264033"/>
            </a:xfrm>
            <a:prstGeom prst="rect">
              <a:avLst/>
            </a:prstGeom>
            <a:noFill/>
            <a:ln>
              <a:noFill/>
            </a:ln>
          </p:spPr>
          <p:txBody>
            <a:bodyPr wrap="none" lIns="0" tIns="0" rIns="0" bIns="0" anchor="t" anchorCtr="0">
              <a:spAutoFit/>
            </a:bodyPr>
            <a:lstStyle/>
            <a:p>
              <a:pPr algn="l"/>
              <a:r>
                <a:rPr lang="zh-Hant-TW" sz="1350" spc="112" dirty="0">
                  <a:solidFill>
                    <a:schemeClr val="accent2"/>
                  </a:solidFill>
                  <a:latin typeface="+mn-lt"/>
                  <a:ea typeface="+mn-ea"/>
                  <a:cs typeface="+mn-cs"/>
                </a:rPr>
                <a:t>證據包的四個區塊</a:t>
              </a:r>
            </a:p>
          </p:txBody>
        </p:sp>
        <p:sp>
          <p:nvSpPr>
            <p:cNvPr id="16" name="TextBox 16"/>
            <p:cNvSpPr txBox="1"/>
            <p:nvPr/>
          </p:nvSpPr>
          <p:spPr>
            <a:xfrm>
              <a:off x="6772656" y="1920240"/>
              <a:ext cx="987552"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影響評估</a:t>
              </a:r>
            </a:p>
          </p:txBody>
        </p:sp>
        <p:sp>
          <p:nvSpPr>
            <p:cNvPr id="17" name="TextBox 17"/>
            <p:cNvSpPr txBox="1"/>
            <p:nvPr/>
          </p:nvSpPr>
          <p:spPr>
            <a:xfrm>
              <a:off x="6774942" y="2235518"/>
              <a:ext cx="3284982"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受影響主體、可回復性、金流、個資欄位</a:t>
              </a:r>
            </a:p>
          </p:txBody>
        </p:sp>
        <p:sp>
          <p:nvSpPr>
            <p:cNvPr id="18" name="TextBox 18"/>
            <p:cNvSpPr txBox="1"/>
            <p:nvPr/>
          </p:nvSpPr>
          <p:spPr>
            <a:xfrm>
              <a:off x="6772656" y="2606040"/>
              <a:ext cx="2199132"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觸發規則與條文原文</a:t>
              </a:r>
            </a:p>
          </p:txBody>
        </p:sp>
        <p:sp>
          <p:nvSpPr>
            <p:cNvPr id="19" name="TextBox 19"/>
            <p:cNvSpPr txBox="1"/>
            <p:nvPr/>
          </p:nvSpPr>
          <p:spPr>
            <a:xfrm>
              <a:off x="6774942" y="2921318"/>
              <a:ext cx="2558034"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條文原文照登，不是模型的說法</a:t>
              </a:r>
            </a:p>
          </p:txBody>
        </p:sp>
        <p:sp>
          <p:nvSpPr>
            <p:cNvPr id="20" name="TextBox 20"/>
            <p:cNvSpPr txBox="1"/>
            <p:nvPr/>
          </p:nvSpPr>
          <p:spPr>
            <a:xfrm>
              <a:off x="6772656" y="3291840"/>
              <a:ext cx="1229868"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指令來源鏈</a:t>
              </a:r>
            </a:p>
          </p:txBody>
        </p:sp>
        <p:sp>
          <p:nvSpPr>
            <p:cNvPr id="21" name="TextBox 21"/>
            <p:cNvSpPr txBox="1"/>
            <p:nvPr/>
          </p:nvSpPr>
          <p:spPr>
            <a:xfrm>
              <a:off x="6774942" y="3607118"/>
              <a:ext cx="2194560"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這個動作的理由從哪裡進來</a:t>
              </a:r>
            </a:p>
          </p:txBody>
        </p:sp>
        <p:sp>
          <p:nvSpPr>
            <p:cNvPr id="22" name="TextBox 22"/>
            <p:cNvSpPr txBox="1"/>
            <p:nvPr/>
          </p:nvSpPr>
          <p:spPr>
            <a:xfrm>
              <a:off x="6772656" y="3977640"/>
              <a:ext cx="2199315" cy="352044"/>
            </a:xfrm>
            <a:prstGeom prst="rect">
              <a:avLst/>
            </a:prstGeom>
            <a:noFill/>
            <a:ln>
              <a:noFill/>
            </a:ln>
          </p:spPr>
          <p:txBody>
            <a:bodyPr wrap="none" lIns="0" tIns="0" rIns="0" bIns="0" anchor="t" anchorCtr="0">
              <a:spAutoFit/>
            </a:bodyPr>
            <a:lstStyle/>
            <a:p>
              <a:pPr algn="l"/>
              <a:r>
                <a:rPr lang="zh-Hant-TW" sz="1800" dirty="0">
                  <a:solidFill>
                    <a:srgbClr val="FF6B6B"/>
                  </a:solidFill>
                  <a:latin typeface="+mn-lt"/>
                  <a:ea typeface="+mn-ea"/>
                  <a:cs typeface="+mn-cs"/>
                </a:rPr>
                <a:t>Agent 推理：權重 0</a:t>
              </a:r>
            </a:p>
          </p:txBody>
        </p:sp>
        <p:sp>
          <p:nvSpPr>
            <p:cNvPr id="23" name="TextBox 23"/>
            <p:cNvSpPr txBox="1"/>
            <p:nvPr/>
          </p:nvSpPr>
          <p:spPr>
            <a:xfrm>
              <a:off x="6774942" y="4292918"/>
              <a:ext cx="3284982" cy="264033"/>
            </a:xfrm>
            <a:prstGeom prst="rect">
              <a:avLst/>
            </a:prstGeom>
            <a:noFill/>
            <a:ln>
              <a:noFill/>
            </a:ln>
          </p:spPr>
          <p:txBody>
            <a:bodyPr wrap="none" lIns="0" tIns="0" rIns="0" bIns="0" anchor="t" anchorCtr="0">
              <a:spAutoFit/>
            </a:bodyPr>
            <a:lstStyle/>
            <a:p>
              <a:pPr algn="l"/>
              <a:r>
                <a:rPr lang="zh-Hant-TW" sz="1350" dirty="0">
                  <a:solidFill>
                    <a:srgbClr val="FF6B6B"/>
                  </a:solidFill>
                  <a:latin typeface="+mn-lt"/>
                  <a:ea typeface="+mn-ea"/>
                  <a:cs typeface="+mn-cs"/>
                </a:rPr>
                <a:t>未經驗證的模型輸出，不得作為唯一依據</a:t>
              </a:r>
            </a:p>
          </p:txBody>
        </p:sp>
        <p:sp>
          <p:nvSpPr>
            <p:cNvPr id="24" name="Line 24"/>
            <p:cNvSpPr/>
            <p:nvPr/>
          </p:nvSpPr>
          <p:spPr>
            <a:xfrm>
              <a:off x="6781800" y="47244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5" name="TextBox 25"/>
            <p:cNvSpPr txBox="1"/>
            <p:nvPr/>
          </p:nvSpPr>
          <p:spPr>
            <a:xfrm>
              <a:off x="6772656" y="4853940"/>
              <a:ext cx="2926080" cy="352044"/>
            </a:xfrm>
            <a:prstGeom prst="rect">
              <a:avLst/>
            </a:prstGeom>
            <a:noFill/>
            <a:ln>
              <a:noFill/>
            </a:ln>
          </p:spPr>
          <p:txBody>
            <a:bodyPr wrap="none" lIns="0" tIns="0" rIns="0" bIns="0" anchor="t" anchorCtr="0">
              <a:spAutoFit/>
            </a:bodyPr>
            <a:lstStyle/>
            <a:p>
              <a:pPr algn="l"/>
              <a:r>
                <a:rPr lang="zh-Hant-TW" sz="1800" dirty="0">
                  <a:solidFill>
                    <a:schemeClr val="accent3"/>
                  </a:solidFill>
                  <a:latin typeface="+mn-lt"/>
                  <a:ea typeface="+mn-ea"/>
                  <a:cs typeface="+mn-cs"/>
                </a:rPr>
                <a:t>封存：一條可驗證竄改的鏈</a:t>
              </a:r>
            </a:p>
          </p:txBody>
        </p:sp>
        <p:sp>
          <p:nvSpPr>
            <p:cNvPr id="26" name="TextBox 26"/>
            <p:cNvSpPr txBox="1"/>
            <p:nvPr/>
          </p:nvSpPr>
          <p:spPr>
            <a:xfrm>
              <a:off x="6774942" y="5188268"/>
              <a:ext cx="3339503"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裁決 → 主管核准 → 實際執行，三筆串起來</a:t>
              </a:r>
            </a:p>
          </p:txBody>
        </p:sp>
        <p:sp>
          <p:nvSpPr>
            <p:cNvPr id="27" name="TextBox 27"/>
            <p:cNvSpPr txBox="1"/>
            <p:nvPr/>
          </p:nvSpPr>
          <p:spPr>
            <a:xfrm>
              <a:off x="6774942" y="5454968"/>
              <a:ext cx="3466719"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完整率算的是「可回溯」，不是「有紀錄」</a:t>
              </a:r>
            </a:p>
          </p:txBody>
        </p:sp>
      </p:grpSp>
      <p:grpSp>
        <p:nvGrpSpPr>
          <p:cNvPr id="30" name="Group 30"/>
          <p:cNvGrpSpPr/>
          <p:nvPr/>
        </p:nvGrpSpPr>
        <p:grpSpPr>
          <a:xfrm>
            <a:off x="676656" y="6054090"/>
            <a:ext cx="8201299" cy="352044"/>
            <a:chOff x="676656" y="6054090"/>
            <a:chExt cx="8201299" cy="352044"/>
          </a:xfrm>
        </p:grpSpPr>
        <p:sp>
          <p:nvSpPr>
            <p:cNvPr id="29" name="TextBox 29"/>
            <p:cNvSpPr txBox="1"/>
            <p:nvPr/>
          </p:nvSpPr>
          <p:spPr>
            <a:xfrm>
              <a:off x="676656" y="6054090"/>
              <a:ext cx="8201299"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 xml:space="preserve">設計目標是主管在 </a:t>
              </a:r>
              <a:r>
                <a:rPr lang="zh-Hant-TW" sz="1800" b="1" dirty="0">
                  <a:solidFill>
                    <a:schemeClr val="accent2"/>
                  </a:solidFill>
                  <a:latin typeface="+mn-lt"/>
                  <a:ea typeface="+mn-ea"/>
                  <a:cs typeface="+mn-cs"/>
                </a:rPr>
                <a:t>15 秒</a:t>
              </a:r>
              <a:r>
                <a:rPr lang="zh-Hant-TW" sz="1800" dirty="0">
                  <a:solidFill>
                    <a:schemeClr val="dk1"/>
                  </a:solidFill>
                  <a:latin typeface="+mn-lt"/>
                  <a:ea typeface="+mn-ea"/>
                  <a:cs typeface="+mn-cs"/>
                </a:rPr>
                <a:t>內做出有依據的決定，而不是讀一段說服性的敘述。</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64858"/>
            <a:ext cx="9588198" cy="616077"/>
            <a:chOff x="669798" y="764858"/>
            <a:chExt cx="9588198" cy="616077"/>
          </a:xfrm>
        </p:grpSpPr>
        <p:sp>
          <p:nvSpPr>
            <p:cNvPr id="2" name="TextBox 2"/>
            <p:cNvSpPr txBox="1"/>
            <p:nvPr/>
          </p:nvSpPr>
          <p:spPr>
            <a:xfrm>
              <a:off x="669798" y="764858"/>
              <a:ext cx="9588198"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 xml:space="preserve">同一條管線：一筆退費走完六關，一次注入停在 </a:t>
              </a:r>
              <a:r>
                <a:rPr lang="zh-Hant-TW" sz="3150" b="1" dirty="0">
                  <a:solidFill>
                    <a:srgbClr val="FF6B6B"/>
                  </a:solidFill>
                  <a:latin typeface="+mj-lt"/>
                  <a:ea typeface="+mj-ea"/>
                  <a:cs typeface="+mj-cs"/>
                </a:rPr>
                <a:t>G0</a:t>
              </a:r>
            </a:p>
          </p:txBody>
        </p:sp>
      </p:grpSp>
      <p:grpSp>
        <p:nvGrpSpPr>
          <p:cNvPr id="21" name="Group 21"/>
          <p:cNvGrpSpPr/>
          <p:nvPr/>
        </p:nvGrpSpPr>
        <p:grpSpPr>
          <a:xfrm>
            <a:off x="677418" y="1593056"/>
            <a:ext cx="7247382" cy="4051078"/>
            <a:chOff x="677418" y="1593056"/>
            <a:chExt cx="7247382" cy="4051078"/>
          </a:xfrm>
        </p:grpSpPr>
        <p:grpSp>
          <p:nvGrpSpPr>
            <p:cNvPr id="6" name="Group 6"/>
            <p:cNvGrpSpPr/>
            <p:nvPr/>
          </p:nvGrpSpPr>
          <p:grpSpPr>
            <a:xfrm>
              <a:off x="758031" y="1593056"/>
              <a:ext cx="103187" cy="185737"/>
              <a:chOff x="758031" y="1593056"/>
              <a:chExt cx="103187" cy="185737"/>
            </a:xfrm>
          </p:grpSpPr>
          <p:sp>
            <p:nvSpPr>
              <p:cNvPr id="4" name="Freeform 4"/>
              <p:cNvSpPr/>
              <p:nvPr/>
            </p:nvSpPr>
            <p:spPr>
              <a:xfrm>
                <a:off x="758031" y="1624012"/>
                <a:ext cx="103187" cy="123825"/>
              </a:xfrm>
              <a:custGeom>
                <a:avLst/>
                <a:gdLst/>
                <a:ahLst/>
                <a:cxnLst/>
                <a:rect l="l" t="t" r="r" b="b"/>
                <a:pathLst>
                  <a:path w="103187" h="123825">
                    <a:moveTo>
                      <a:pt x="100092" y="20637"/>
                    </a:moveTo>
                    <a:cubicBezTo>
                      <a:pt x="95890" y="8715"/>
                      <a:pt x="84861" y="545"/>
                      <a:pt x="72231" y="0"/>
                    </a:cubicBezTo>
                    <a:lnTo>
                      <a:pt x="30956" y="0"/>
                    </a:lnTo>
                    <a:cubicBezTo>
                      <a:pt x="13860" y="0"/>
                      <a:pt x="0" y="13860"/>
                      <a:pt x="0" y="30956"/>
                    </a:cubicBezTo>
                    <a:cubicBezTo>
                      <a:pt x="0" y="48053"/>
                      <a:pt x="13860" y="61912"/>
                      <a:pt x="30956" y="61912"/>
                    </a:cubicBezTo>
                    <a:lnTo>
                      <a:pt x="72231" y="61912"/>
                    </a:lnTo>
                    <a:cubicBezTo>
                      <a:pt x="89328" y="61912"/>
                      <a:pt x="103187" y="75772"/>
                      <a:pt x="103187" y="92868"/>
                    </a:cubicBezTo>
                    <a:cubicBezTo>
                      <a:pt x="103187" y="109965"/>
                      <a:pt x="89328" y="123825"/>
                      <a:pt x="72231" y="123825"/>
                    </a:cubicBezTo>
                    <a:lnTo>
                      <a:pt x="30956" y="123825"/>
                    </a:lnTo>
                    <a:cubicBezTo>
                      <a:pt x="18327" y="123279"/>
                      <a:pt x="7298" y="115110"/>
                      <a:pt x="3096" y="103187"/>
                    </a:cubicBezTo>
                  </a:path>
                </a:pathLst>
              </a:custGeom>
              <a:noFill/>
              <a:ln w="20637">
                <a:solidFill>
                  <a:schemeClr val="accent1"/>
                </a:solidFill>
              </a:ln>
            </p:spPr>
          </p:sp>
          <p:sp>
            <p:nvSpPr>
              <p:cNvPr id="5" name="Freeform 5"/>
              <p:cNvSpPr/>
              <p:nvPr/>
            </p:nvSpPr>
            <p:spPr>
              <a:xfrm>
                <a:off x="809625" y="1593056"/>
                <a:ext cx="9525" cy="185737"/>
              </a:xfrm>
              <a:custGeom>
                <a:avLst/>
                <a:gdLst/>
                <a:ahLst/>
                <a:cxnLst/>
                <a:rect l="l" t="t" r="r" b="b"/>
                <a:pathLst>
                  <a:path w="9525" h="185737">
                    <a:moveTo>
                      <a:pt x="0" y="0"/>
                    </a:moveTo>
                    <a:lnTo>
                      <a:pt x="0" y="30956"/>
                    </a:lnTo>
                    <a:moveTo>
                      <a:pt x="0" y="154781"/>
                    </a:moveTo>
                    <a:lnTo>
                      <a:pt x="0" y="185737"/>
                    </a:lnTo>
                  </a:path>
                </a:pathLst>
              </a:custGeom>
              <a:noFill/>
              <a:ln w="20637">
                <a:solidFill>
                  <a:schemeClr val="accent1"/>
                </a:solidFill>
              </a:ln>
            </p:spPr>
          </p:sp>
        </p:grpSp>
        <p:sp>
          <p:nvSpPr>
            <p:cNvPr id="7" name="TextBox 7"/>
            <p:cNvSpPr txBox="1"/>
            <p:nvPr/>
          </p:nvSpPr>
          <p:spPr>
            <a:xfrm>
              <a:off x="1040892" y="1606868"/>
              <a:ext cx="2881424" cy="264033"/>
            </a:xfrm>
            <a:prstGeom prst="rect">
              <a:avLst/>
            </a:prstGeom>
            <a:noFill/>
            <a:ln>
              <a:noFill/>
            </a:ln>
          </p:spPr>
          <p:txBody>
            <a:bodyPr wrap="none" lIns="0" tIns="0" rIns="0" bIns="0" anchor="t" anchorCtr="0">
              <a:spAutoFit/>
            </a:bodyPr>
            <a:lstStyle/>
            <a:p>
              <a:pPr algn="l"/>
              <a:r>
                <a:rPr lang="zh-Hant-TW" sz="1350" spc="112" dirty="0">
                  <a:solidFill>
                    <a:schemeClr val="accent1"/>
                  </a:solidFill>
                  <a:latin typeface="+mn-lt"/>
                  <a:ea typeface="+mn-ea"/>
                  <a:cs typeface="+mn-cs"/>
                </a:rPr>
                <a:t>退費 5,000 元（Demo 步驟 2）</a:t>
              </a:r>
            </a:p>
          </p:txBody>
        </p:sp>
        <p:sp>
          <p:nvSpPr>
            <p:cNvPr id="8" name="Line 8"/>
            <p:cNvSpPr/>
            <p:nvPr/>
          </p:nvSpPr>
          <p:spPr>
            <a:xfrm>
              <a:off x="685800" y="1905000"/>
              <a:ext cx="7239000" cy="9525"/>
            </a:xfrm>
            <a:custGeom>
              <a:avLst/>
              <a:gdLst/>
              <a:ahLst/>
              <a:cxnLst/>
              <a:rect l="l" t="t" r="r" b="b"/>
              <a:pathLst>
                <a:path w="7239000" h="9525">
                  <a:moveTo>
                    <a:pt x="0" y="0"/>
                  </a:moveTo>
                  <a:lnTo>
                    <a:pt x="7239000" y="0"/>
                  </a:lnTo>
                </a:path>
              </a:pathLst>
            </a:custGeom>
            <a:noFill/>
            <a:ln w="9525">
              <a:solidFill>
                <a:schemeClr val="accent6"/>
              </a:solidFill>
            </a:ln>
          </p:spPr>
        </p:sp>
        <p:sp>
          <p:nvSpPr>
            <p:cNvPr id="9" name="TextBox 9"/>
            <p:cNvSpPr txBox="1"/>
            <p:nvPr/>
          </p:nvSpPr>
          <p:spPr>
            <a:xfrm>
              <a:off x="677418" y="1974532"/>
              <a:ext cx="274930" cy="322707"/>
            </a:xfrm>
            <a:prstGeom prst="rect">
              <a:avLst/>
            </a:prstGeom>
            <a:noFill/>
            <a:ln>
              <a:noFill/>
            </a:ln>
          </p:spPr>
          <p:txBody>
            <a:bodyPr wrap="none" lIns="0" tIns="0" rIns="0" bIns="0" anchor="t" anchorCtr="0">
              <a:spAutoFit/>
            </a:bodyPr>
            <a:lstStyle/>
            <a:p>
              <a:pPr algn="l"/>
              <a:r>
                <a:rPr lang="zh-Hant-TW" sz="1650" dirty="0">
                  <a:solidFill>
                    <a:schemeClr val="accent1"/>
                  </a:solidFill>
                  <a:latin typeface="Consolas"/>
                  <a:ea typeface="Consolas"/>
                  <a:cs typeface="Consolas"/>
                </a:rPr>
                <a:t>G1</a:t>
              </a:r>
            </a:p>
          </p:txBody>
        </p:sp>
        <p:sp>
          <p:nvSpPr>
            <p:cNvPr id="10" name="TextBox 10"/>
            <p:cNvSpPr txBox="1"/>
            <p:nvPr/>
          </p:nvSpPr>
          <p:spPr>
            <a:xfrm>
              <a:off x="1419606" y="1958340"/>
              <a:ext cx="3689375"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退費金額欄位存在且為正數 → 通過</a:t>
              </a:r>
            </a:p>
          </p:txBody>
        </p:sp>
        <p:sp>
          <p:nvSpPr>
            <p:cNvPr id="11" name="TextBox 11"/>
            <p:cNvSpPr txBox="1"/>
            <p:nvPr/>
          </p:nvSpPr>
          <p:spPr>
            <a:xfrm>
              <a:off x="677418" y="2641282"/>
              <a:ext cx="274930" cy="322707"/>
            </a:xfrm>
            <a:prstGeom prst="rect">
              <a:avLst/>
            </a:prstGeom>
            <a:noFill/>
            <a:ln>
              <a:noFill/>
            </a:ln>
          </p:spPr>
          <p:txBody>
            <a:bodyPr wrap="none" lIns="0" tIns="0" rIns="0" bIns="0" anchor="t" anchorCtr="0">
              <a:spAutoFit/>
            </a:bodyPr>
            <a:lstStyle/>
            <a:p>
              <a:pPr algn="l"/>
              <a:r>
                <a:rPr lang="zh-Hant-TW" sz="1650" dirty="0">
                  <a:solidFill>
                    <a:schemeClr val="accent1"/>
                  </a:solidFill>
                  <a:latin typeface="Consolas"/>
                  <a:ea typeface="Consolas"/>
                  <a:cs typeface="Consolas"/>
                </a:rPr>
                <a:t>G0</a:t>
              </a:r>
            </a:p>
          </p:txBody>
        </p:sp>
        <p:sp>
          <p:nvSpPr>
            <p:cNvPr id="12" name="TextBox 12"/>
            <p:cNvSpPr txBox="1"/>
            <p:nvPr/>
          </p:nvSpPr>
          <p:spPr>
            <a:xfrm>
              <a:off x="1419606" y="2625090"/>
              <a:ext cx="4416323"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來源鏈只有已驗證用戶 → 授權上限「高」</a:t>
              </a:r>
            </a:p>
          </p:txBody>
        </p:sp>
        <p:sp>
          <p:nvSpPr>
            <p:cNvPr id="13" name="TextBox 13"/>
            <p:cNvSpPr txBox="1"/>
            <p:nvPr/>
          </p:nvSpPr>
          <p:spPr>
            <a:xfrm>
              <a:off x="677418" y="3308032"/>
              <a:ext cx="274930" cy="322707"/>
            </a:xfrm>
            <a:prstGeom prst="rect">
              <a:avLst/>
            </a:prstGeom>
            <a:noFill/>
            <a:ln>
              <a:noFill/>
            </a:ln>
          </p:spPr>
          <p:txBody>
            <a:bodyPr wrap="none" lIns="0" tIns="0" rIns="0" bIns="0" anchor="t" anchorCtr="0">
              <a:spAutoFit/>
            </a:bodyPr>
            <a:lstStyle/>
            <a:p>
              <a:pPr algn="l"/>
              <a:r>
                <a:rPr lang="zh-Hant-TW" sz="1650" dirty="0">
                  <a:solidFill>
                    <a:schemeClr val="accent1"/>
                  </a:solidFill>
                  <a:latin typeface="Consolas"/>
                  <a:ea typeface="Consolas"/>
                  <a:cs typeface="Consolas"/>
                </a:rPr>
                <a:t>G2</a:t>
              </a:r>
            </a:p>
          </p:txBody>
        </p:sp>
        <p:sp>
          <p:nvSpPr>
            <p:cNvPr id="14" name="TextBox 14"/>
            <p:cNvSpPr txBox="1"/>
            <p:nvPr/>
          </p:nvSpPr>
          <p:spPr>
            <a:xfrm>
              <a:off x="1419606" y="3291840"/>
              <a:ext cx="5151730"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基礎風險「中」；AG-20 金流動作一律需核准</a:t>
              </a:r>
            </a:p>
          </p:txBody>
        </p:sp>
        <p:sp>
          <p:nvSpPr>
            <p:cNvPr id="15" name="TextBox 15"/>
            <p:cNvSpPr txBox="1"/>
            <p:nvPr/>
          </p:nvSpPr>
          <p:spPr>
            <a:xfrm>
              <a:off x="677418" y="3974782"/>
              <a:ext cx="274930" cy="322707"/>
            </a:xfrm>
            <a:prstGeom prst="rect">
              <a:avLst/>
            </a:prstGeom>
            <a:noFill/>
            <a:ln>
              <a:noFill/>
            </a:ln>
          </p:spPr>
          <p:txBody>
            <a:bodyPr wrap="none" lIns="0" tIns="0" rIns="0" bIns="0" anchor="t" anchorCtr="0">
              <a:spAutoFit/>
            </a:bodyPr>
            <a:lstStyle/>
            <a:p>
              <a:pPr algn="l"/>
              <a:r>
                <a:rPr lang="zh-Hant-TW" sz="1650" dirty="0">
                  <a:solidFill>
                    <a:schemeClr val="accent1"/>
                  </a:solidFill>
                  <a:latin typeface="Consolas"/>
                  <a:ea typeface="Consolas"/>
                  <a:cs typeface="Consolas"/>
                </a:rPr>
                <a:t>G3</a:t>
              </a:r>
            </a:p>
          </p:txBody>
        </p:sp>
        <p:sp>
          <p:nvSpPr>
            <p:cNvPr id="16" name="TextBox 16"/>
            <p:cNvSpPr txBox="1"/>
            <p:nvPr/>
          </p:nvSpPr>
          <p:spPr>
            <a:xfrm>
              <a:off x="1419606" y="3958590"/>
              <a:ext cx="5143271"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影響 1 個主體、−5,000 元、可回復（72 小時）</a:t>
              </a:r>
            </a:p>
          </p:txBody>
        </p:sp>
        <p:sp>
          <p:nvSpPr>
            <p:cNvPr id="17" name="TextBox 17"/>
            <p:cNvSpPr txBox="1"/>
            <p:nvPr/>
          </p:nvSpPr>
          <p:spPr>
            <a:xfrm>
              <a:off x="677418" y="4641532"/>
              <a:ext cx="274930" cy="322707"/>
            </a:xfrm>
            <a:prstGeom prst="rect">
              <a:avLst/>
            </a:prstGeom>
            <a:noFill/>
            <a:ln>
              <a:noFill/>
            </a:ln>
          </p:spPr>
          <p:txBody>
            <a:bodyPr wrap="none" lIns="0" tIns="0" rIns="0" bIns="0" anchor="t" anchorCtr="0">
              <a:spAutoFit/>
            </a:bodyPr>
            <a:lstStyle/>
            <a:p>
              <a:pPr algn="l"/>
              <a:r>
                <a:rPr lang="zh-Hant-TW" sz="1650" dirty="0">
                  <a:solidFill>
                    <a:schemeClr val="accent2"/>
                  </a:solidFill>
                  <a:latin typeface="Consolas"/>
                  <a:ea typeface="Consolas"/>
                  <a:cs typeface="Consolas"/>
                </a:rPr>
                <a:t>G4</a:t>
              </a:r>
            </a:p>
          </p:txBody>
        </p:sp>
        <p:sp>
          <p:nvSpPr>
            <p:cNvPr id="18" name="TextBox 18"/>
            <p:cNvSpPr txBox="1"/>
            <p:nvPr/>
          </p:nvSpPr>
          <p:spPr>
            <a:xfrm>
              <a:off x="1419606" y="4625340"/>
              <a:ext cx="3204743"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進入佇列，證據包含 6 條證據</a:t>
              </a:r>
            </a:p>
          </p:txBody>
        </p:sp>
        <p:sp>
          <p:nvSpPr>
            <p:cNvPr id="19" name="TextBox 19"/>
            <p:cNvSpPr txBox="1"/>
            <p:nvPr/>
          </p:nvSpPr>
          <p:spPr>
            <a:xfrm>
              <a:off x="677418" y="5308282"/>
              <a:ext cx="274930" cy="322707"/>
            </a:xfrm>
            <a:prstGeom prst="rect">
              <a:avLst/>
            </a:prstGeom>
            <a:noFill/>
            <a:ln>
              <a:noFill/>
            </a:ln>
          </p:spPr>
          <p:txBody>
            <a:bodyPr wrap="none" lIns="0" tIns="0" rIns="0" bIns="0" anchor="t" anchorCtr="0">
              <a:spAutoFit/>
            </a:bodyPr>
            <a:lstStyle/>
            <a:p>
              <a:pPr algn="l"/>
              <a:r>
                <a:rPr lang="zh-Hant-TW" sz="1650" dirty="0">
                  <a:solidFill>
                    <a:schemeClr val="accent3"/>
                  </a:solidFill>
                  <a:latin typeface="Consolas"/>
                  <a:ea typeface="Consolas"/>
                  <a:cs typeface="Consolas"/>
                </a:rPr>
                <a:t>G5</a:t>
              </a:r>
            </a:p>
          </p:txBody>
        </p:sp>
        <p:sp>
          <p:nvSpPr>
            <p:cNvPr id="20" name="TextBox 20"/>
            <p:cNvSpPr txBox="1"/>
            <p:nvPr/>
          </p:nvSpPr>
          <p:spPr>
            <a:xfrm>
              <a:off x="1419606" y="5292090"/>
              <a:ext cx="3653028"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主管簽核後才真的執行，兩筆入鏈</a:t>
              </a:r>
            </a:p>
          </p:txBody>
        </p:sp>
      </p:grpSp>
      <p:grpSp>
        <p:nvGrpSpPr>
          <p:cNvPr id="35" name="Group 35"/>
          <p:cNvGrpSpPr/>
          <p:nvPr/>
        </p:nvGrpSpPr>
        <p:grpSpPr>
          <a:xfrm>
            <a:off x="8487156" y="1589628"/>
            <a:ext cx="3019044" cy="4054506"/>
            <a:chOff x="8487156" y="1589628"/>
            <a:chExt cx="3019044" cy="4054506"/>
          </a:xfrm>
        </p:grpSpPr>
        <p:grpSp>
          <p:nvGrpSpPr>
            <p:cNvPr id="25" name="Group 25"/>
            <p:cNvGrpSpPr/>
            <p:nvPr/>
          </p:nvGrpSpPr>
          <p:grpSpPr>
            <a:xfrm>
              <a:off x="8516059" y="1589628"/>
              <a:ext cx="208123" cy="178805"/>
              <a:chOff x="8516059" y="1589628"/>
              <a:chExt cx="208123" cy="178805"/>
            </a:xfrm>
          </p:grpSpPr>
          <p:sp>
            <p:nvSpPr>
              <p:cNvPr id="22" name="Freeform 22"/>
              <p:cNvSpPr/>
              <p:nvPr/>
            </p:nvSpPr>
            <p:spPr>
              <a:xfrm>
                <a:off x="8620125" y="1654968"/>
                <a:ext cx="9525" cy="41275"/>
              </a:xfrm>
              <a:custGeom>
                <a:avLst/>
                <a:gdLst/>
                <a:ahLst/>
                <a:cxnLst/>
                <a:rect l="l" t="t" r="r" b="b"/>
                <a:pathLst>
                  <a:path w="9525" h="41275">
                    <a:moveTo>
                      <a:pt x="0" y="0"/>
                    </a:moveTo>
                    <a:lnTo>
                      <a:pt x="0" y="41275"/>
                    </a:lnTo>
                  </a:path>
                </a:pathLst>
              </a:custGeom>
              <a:noFill/>
              <a:ln w="20637">
                <a:solidFill>
                  <a:srgbClr val="FF6B6B"/>
                </a:solidFill>
              </a:ln>
            </p:spPr>
          </p:sp>
          <p:sp>
            <p:nvSpPr>
              <p:cNvPr id="23" name="Freeform 23"/>
              <p:cNvSpPr/>
              <p:nvPr/>
            </p:nvSpPr>
            <p:spPr>
              <a:xfrm>
                <a:off x="8516059" y="1589628"/>
                <a:ext cx="208123" cy="178805"/>
              </a:xfrm>
              <a:custGeom>
                <a:avLst/>
                <a:gdLst/>
                <a:ahLst/>
                <a:cxnLst/>
                <a:rect l="l" t="t" r="r" b="b"/>
                <a:pathLst>
                  <a:path w="208123" h="178805">
                    <a:moveTo>
                      <a:pt x="87174" y="9526"/>
                    </a:moveTo>
                    <a:lnTo>
                      <a:pt x="3530" y="149180"/>
                    </a:lnTo>
                    <a:cubicBezTo>
                      <a:pt x="21" y="155256"/>
                      <a:pt x="0" y="162738"/>
                      <a:pt x="3474" y="168834"/>
                    </a:cubicBezTo>
                    <a:cubicBezTo>
                      <a:pt x="6948" y="174931"/>
                      <a:pt x="13395" y="178726"/>
                      <a:pt x="20412" y="178805"/>
                    </a:cubicBezTo>
                    <a:lnTo>
                      <a:pt x="187719" y="178805"/>
                    </a:lnTo>
                    <a:cubicBezTo>
                      <a:pt x="194732" y="178724"/>
                      <a:pt x="201176" y="174930"/>
                      <a:pt x="204650" y="168837"/>
                    </a:cubicBezTo>
                    <a:cubicBezTo>
                      <a:pt x="208123" y="162744"/>
                      <a:pt x="208104" y="155266"/>
                      <a:pt x="204601" y="149190"/>
                    </a:cubicBezTo>
                    <a:lnTo>
                      <a:pt x="120957" y="9516"/>
                    </a:lnTo>
                    <a:cubicBezTo>
                      <a:pt x="117378" y="3609"/>
                      <a:pt x="110973" y="0"/>
                      <a:pt x="104065" y="0"/>
                    </a:cubicBezTo>
                    <a:cubicBezTo>
                      <a:pt x="97158" y="0"/>
                      <a:pt x="90753" y="3609"/>
                      <a:pt x="87174" y="9516"/>
                    </a:cubicBezTo>
                  </a:path>
                </a:pathLst>
              </a:custGeom>
              <a:noFill/>
              <a:ln w="20637">
                <a:solidFill>
                  <a:srgbClr val="FF6B6B"/>
                </a:solidFill>
              </a:ln>
            </p:spPr>
          </p:sp>
          <p:sp>
            <p:nvSpPr>
              <p:cNvPr id="24" name="Freeform 24"/>
              <p:cNvSpPr/>
              <p:nvPr/>
            </p:nvSpPr>
            <p:spPr>
              <a:xfrm>
                <a:off x="8620125" y="1727199"/>
                <a:ext cx="9525" cy="9525"/>
              </a:xfrm>
              <a:custGeom>
                <a:avLst/>
                <a:gdLst/>
                <a:ahLst/>
                <a:cxnLst/>
                <a:rect l="l" t="t" r="r" b="b"/>
                <a:pathLst>
                  <a:path w="9525" h="9525">
                    <a:moveTo>
                      <a:pt x="0" y="0"/>
                    </a:moveTo>
                    <a:lnTo>
                      <a:pt x="103" y="0"/>
                    </a:lnTo>
                  </a:path>
                </a:pathLst>
              </a:custGeom>
              <a:noFill/>
              <a:ln w="20637">
                <a:solidFill>
                  <a:srgbClr val="FF6B6B"/>
                </a:solidFill>
              </a:ln>
            </p:spPr>
          </p:sp>
        </p:grpSp>
        <p:sp>
          <p:nvSpPr>
            <p:cNvPr id="26" name="TextBox 26"/>
            <p:cNvSpPr txBox="1"/>
            <p:nvPr/>
          </p:nvSpPr>
          <p:spPr>
            <a:xfrm>
              <a:off x="8851392" y="1606868"/>
              <a:ext cx="1891640" cy="264033"/>
            </a:xfrm>
            <a:prstGeom prst="rect">
              <a:avLst/>
            </a:prstGeom>
            <a:noFill/>
            <a:ln>
              <a:noFill/>
            </a:ln>
          </p:spPr>
          <p:txBody>
            <a:bodyPr wrap="none" lIns="0" tIns="0" rIns="0" bIns="0" anchor="t" anchorCtr="0">
              <a:spAutoFit/>
            </a:bodyPr>
            <a:lstStyle/>
            <a:p>
              <a:pPr algn="l"/>
              <a:r>
                <a:rPr lang="zh-Hant-TW" sz="1350" spc="112" dirty="0">
                  <a:solidFill>
                    <a:srgbClr val="FF6B6B"/>
                  </a:solidFill>
                  <a:latin typeface="+mn-lt"/>
                  <a:ea typeface="+mn-ea"/>
                  <a:cs typeface="+mn-cs"/>
                </a:rPr>
                <a:t>對照：PDF 夾帶匯出</a:t>
              </a:r>
            </a:p>
          </p:txBody>
        </p:sp>
        <p:sp>
          <p:nvSpPr>
            <p:cNvPr id="27" name="Line 27"/>
            <p:cNvSpPr/>
            <p:nvPr/>
          </p:nvSpPr>
          <p:spPr>
            <a:xfrm>
              <a:off x="8496300" y="1905000"/>
              <a:ext cx="3009900" cy="9525"/>
            </a:xfrm>
            <a:custGeom>
              <a:avLst/>
              <a:gdLst/>
              <a:ahLst/>
              <a:cxnLst/>
              <a:rect l="l" t="t" r="r" b="b"/>
              <a:pathLst>
                <a:path w="3009900" h="9525">
                  <a:moveTo>
                    <a:pt x="0" y="0"/>
                  </a:moveTo>
                  <a:lnTo>
                    <a:pt x="3009900" y="0"/>
                  </a:lnTo>
                </a:path>
              </a:pathLst>
            </a:custGeom>
            <a:noFill/>
            <a:ln w="9525">
              <a:solidFill>
                <a:schemeClr val="accent6"/>
              </a:solidFill>
            </a:ln>
          </p:spPr>
        </p:sp>
        <p:sp>
          <p:nvSpPr>
            <p:cNvPr id="28" name="TextBox 28"/>
            <p:cNvSpPr txBox="1"/>
            <p:nvPr/>
          </p:nvSpPr>
          <p:spPr>
            <a:xfrm>
              <a:off x="8487156" y="1958340"/>
              <a:ext cx="502920" cy="352044"/>
            </a:xfrm>
            <a:prstGeom prst="rect">
              <a:avLst/>
            </a:prstGeom>
            <a:noFill/>
            <a:ln>
              <a:noFill/>
            </a:ln>
          </p:spPr>
          <p:txBody>
            <a:bodyPr wrap="none" lIns="0" tIns="0" rIns="0" bIns="0" anchor="t" anchorCtr="0">
              <a:spAutoFit/>
            </a:bodyPr>
            <a:lstStyle/>
            <a:p>
              <a:pPr algn="l"/>
              <a:r>
                <a:rPr lang="zh-Hant-TW" sz="1800" dirty="0">
                  <a:solidFill>
                    <a:schemeClr val="accent5"/>
                  </a:solidFill>
                  <a:latin typeface="+mn-lt"/>
                  <a:ea typeface="+mn-ea"/>
                  <a:cs typeface="+mn-cs"/>
                </a:rPr>
                <a:t>通過</a:t>
              </a:r>
            </a:p>
          </p:txBody>
        </p:sp>
        <p:sp>
          <p:nvSpPr>
            <p:cNvPr id="29" name="Rectangle 29"/>
            <p:cNvSpPr/>
            <p:nvPr/>
          </p:nvSpPr>
          <p:spPr>
            <a:xfrm>
              <a:off x="8496300" y="2533650"/>
              <a:ext cx="3009900" cy="438150"/>
            </a:xfrm>
            <a:prstGeom prst="rect">
              <a:avLst/>
            </a:prstGeom>
            <a:solidFill>
              <a:srgbClr val="2A1620"/>
            </a:solidFill>
            <a:ln>
              <a:noFill/>
            </a:ln>
          </p:spPr>
        </p:sp>
        <p:sp>
          <p:nvSpPr>
            <p:cNvPr id="30" name="TextBox 30"/>
            <p:cNvSpPr txBox="1"/>
            <p:nvPr/>
          </p:nvSpPr>
          <p:spPr>
            <a:xfrm>
              <a:off x="8677656" y="2625090"/>
              <a:ext cx="502920" cy="352044"/>
            </a:xfrm>
            <a:prstGeom prst="rect">
              <a:avLst/>
            </a:prstGeom>
            <a:noFill/>
            <a:ln>
              <a:noFill/>
            </a:ln>
          </p:spPr>
          <p:txBody>
            <a:bodyPr wrap="none" lIns="0" tIns="0" rIns="0" bIns="0" anchor="t" anchorCtr="0">
              <a:spAutoFit/>
            </a:bodyPr>
            <a:lstStyle/>
            <a:p>
              <a:pPr algn="l"/>
              <a:r>
                <a:rPr lang="zh-Hant-TW" sz="1800" b="1" dirty="0">
                  <a:solidFill>
                    <a:srgbClr val="FF6B6B"/>
                  </a:solidFill>
                  <a:latin typeface="+mn-lt"/>
                  <a:ea typeface="+mn-ea"/>
                  <a:cs typeface="+mn-cs"/>
                </a:rPr>
                <a:t>阻斷</a:t>
              </a:r>
            </a:p>
          </p:txBody>
        </p:sp>
        <p:sp>
          <p:nvSpPr>
            <p:cNvPr id="31" name="TextBox 31"/>
            <p:cNvSpPr txBox="1"/>
            <p:nvPr/>
          </p:nvSpPr>
          <p:spPr>
            <a:xfrm>
              <a:off x="8487156" y="3291840"/>
              <a:ext cx="745236" cy="352044"/>
            </a:xfrm>
            <a:prstGeom prst="rect">
              <a:avLst/>
            </a:prstGeom>
            <a:noFill/>
            <a:ln>
              <a:noFill/>
            </a:ln>
          </p:spPr>
          <p:txBody>
            <a:bodyPr wrap="none" lIns="0" tIns="0" rIns="0" bIns="0" anchor="t" anchorCtr="0">
              <a:spAutoFit/>
            </a:bodyPr>
            <a:lstStyle/>
            <a:p>
              <a:pPr algn="l"/>
              <a:r>
                <a:rPr lang="zh-Hant-TW" sz="1800" dirty="0">
                  <a:solidFill>
                    <a:schemeClr val="accent6"/>
                  </a:solidFill>
                  <a:latin typeface="+mn-lt"/>
                  <a:ea typeface="+mn-ea"/>
                  <a:cs typeface="+mn-cs"/>
                </a:rPr>
                <a:t>未執行</a:t>
              </a:r>
            </a:p>
          </p:txBody>
        </p:sp>
        <p:sp>
          <p:nvSpPr>
            <p:cNvPr id="32" name="TextBox 32"/>
            <p:cNvSpPr txBox="1"/>
            <p:nvPr/>
          </p:nvSpPr>
          <p:spPr>
            <a:xfrm>
              <a:off x="8487156" y="3958590"/>
              <a:ext cx="745236" cy="352044"/>
            </a:xfrm>
            <a:prstGeom prst="rect">
              <a:avLst/>
            </a:prstGeom>
            <a:noFill/>
            <a:ln>
              <a:noFill/>
            </a:ln>
          </p:spPr>
          <p:txBody>
            <a:bodyPr wrap="none" lIns="0" tIns="0" rIns="0" bIns="0" anchor="t" anchorCtr="0">
              <a:spAutoFit/>
            </a:bodyPr>
            <a:lstStyle/>
            <a:p>
              <a:pPr algn="l"/>
              <a:r>
                <a:rPr lang="zh-Hant-TW" sz="1800" dirty="0">
                  <a:solidFill>
                    <a:schemeClr val="accent6"/>
                  </a:solidFill>
                  <a:latin typeface="+mn-lt"/>
                  <a:ea typeface="+mn-ea"/>
                  <a:cs typeface="+mn-cs"/>
                </a:rPr>
                <a:t>未執行</a:t>
              </a:r>
            </a:p>
          </p:txBody>
        </p:sp>
        <p:sp>
          <p:nvSpPr>
            <p:cNvPr id="33" name="TextBox 33"/>
            <p:cNvSpPr txBox="1"/>
            <p:nvPr/>
          </p:nvSpPr>
          <p:spPr>
            <a:xfrm>
              <a:off x="8487156" y="4625340"/>
              <a:ext cx="745236" cy="352044"/>
            </a:xfrm>
            <a:prstGeom prst="rect">
              <a:avLst/>
            </a:prstGeom>
            <a:noFill/>
            <a:ln>
              <a:noFill/>
            </a:ln>
          </p:spPr>
          <p:txBody>
            <a:bodyPr wrap="none" lIns="0" tIns="0" rIns="0" bIns="0" anchor="t" anchorCtr="0">
              <a:spAutoFit/>
            </a:bodyPr>
            <a:lstStyle/>
            <a:p>
              <a:pPr algn="l"/>
              <a:r>
                <a:rPr lang="zh-Hant-TW" sz="1800" dirty="0">
                  <a:solidFill>
                    <a:schemeClr val="accent6"/>
                  </a:solidFill>
                  <a:latin typeface="+mn-lt"/>
                  <a:ea typeface="+mn-ea"/>
                  <a:cs typeface="+mn-cs"/>
                </a:rPr>
                <a:t>未執行</a:t>
              </a:r>
            </a:p>
          </p:txBody>
        </p:sp>
        <p:sp>
          <p:nvSpPr>
            <p:cNvPr id="34" name="TextBox 34"/>
            <p:cNvSpPr txBox="1"/>
            <p:nvPr/>
          </p:nvSpPr>
          <p:spPr>
            <a:xfrm>
              <a:off x="8487156" y="5292090"/>
              <a:ext cx="745236" cy="352044"/>
            </a:xfrm>
            <a:prstGeom prst="rect">
              <a:avLst/>
            </a:prstGeom>
            <a:noFill/>
            <a:ln>
              <a:noFill/>
            </a:ln>
          </p:spPr>
          <p:txBody>
            <a:bodyPr wrap="none" lIns="0" tIns="0" rIns="0" bIns="0" anchor="t" anchorCtr="0">
              <a:spAutoFit/>
            </a:bodyPr>
            <a:lstStyle/>
            <a:p>
              <a:pPr algn="l"/>
              <a:r>
                <a:rPr lang="zh-Hant-TW" sz="1800" dirty="0">
                  <a:solidFill>
                    <a:schemeClr val="accent6"/>
                  </a:solidFill>
                  <a:latin typeface="+mn-lt"/>
                  <a:ea typeface="+mn-ea"/>
                  <a:cs typeface="+mn-cs"/>
                </a:rPr>
                <a:t>未執行</a:t>
              </a:r>
            </a:p>
          </p:txBody>
        </p:sp>
      </p:grpSp>
      <p:grpSp>
        <p:nvGrpSpPr>
          <p:cNvPr id="38" name="Group 38"/>
          <p:cNvGrpSpPr/>
          <p:nvPr/>
        </p:nvGrpSpPr>
        <p:grpSpPr>
          <a:xfrm>
            <a:off x="676656" y="5825490"/>
            <a:ext cx="8738616" cy="585216"/>
            <a:chOff x="676656" y="5825490"/>
            <a:chExt cx="8738616" cy="585216"/>
          </a:xfrm>
        </p:grpSpPr>
        <p:sp>
          <p:nvSpPr>
            <p:cNvPr id="36" name="TextBox 36"/>
            <p:cNvSpPr txBox="1"/>
            <p:nvPr/>
          </p:nvSpPr>
          <p:spPr>
            <a:xfrm>
              <a:off x="676656" y="5825490"/>
              <a:ext cx="801471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兩個結果都來自同一段程式碼與同一條管線，差別只在</a:t>
              </a:r>
              <a:r>
                <a:rPr lang="zh-Hant-TW" sz="1800" dirty="0">
                  <a:solidFill>
                    <a:schemeClr val="accent1"/>
                  </a:solidFill>
                  <a:latin typeface="+mn-lt"/>
                  <a:ea typeface="+mn-ea"/>
                  <a:cs typeface="+mn-cs"/>
                </a:rPr>
                <a:t>來源鏈與規則命中</a:t>
              </a:r>
              <a:r>
                <a:rPr lang="zh-Hant-TW" sz="1800" dirty="0">
                  <a:solidFill>
                    <a:schemeClr val="dk1"/>
                  </a:solidFill>
                  <a:latin typeface="+mn-lt"/>
                  <a:ea typeface="+mn-ea"/>
                  <a:cs typeface="+mn-cs"/>
                </a:rPr>
                <a:t>。</a:t>
              </a:r>
            </a:p>
          </p:txBody>
        </p:sp>
        <p:sp>
          <p:nvSpPr>
            <p:cNvPr id="37" name="TextBox 37"/>
            <p:cNvSpPr txBox="1"/>
            <p:nvPr/>
          </p:nvSpPr>
          <p:spPr>
            <a:xfrm>
              <a:off x="679704" y="6176010"/>
              <a:ext cx="8735568"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注入案例：動作風險「禁止級」超過來源鏈可授權的上限「低」｜ 攔截點 G0 ｜ 決策延遲 0.09 ms ｜ 無需任何模型判斷</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64858"/>
            <a:ext cx="5544693" cy="616077"/>
            <a:chOff x="669798" y="764858"/>
            <a:chExt cx="5544693" cy="616077"/>
          </a:xfrm>
        </p:grpSpPr>
        <p:sp>
          <p:nvSpPr>
            <p:cNvPr id="2" name="TextBox 2"/>
            <p:cNvSpPr txBox="1"/>
            <p:nvPr/>
          </p:nvSpPr>
          <p:spPr>
            <a:xfrm>
              <a:off x="669798" y="764858"/>
              <a:ext cx="5544693"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打開就是一個</a:t>
              </a:r>
              <a:r>
                <a:rPr lang="zh-Hant-TW" sz="3150" b="1" dirty="0">
                  <a:solidFill>
                    <a:schemeClr val="accent1"/>
                  </a:solidFill>
                  <a:latin typeface="+mj-lt"/>
                  <a:ea typeface="+mj-ea"/>
                  <a:cs typeface="+mj-cs"/>
                </a:rPr>
                <a:t>進行中的值班台</a:t>
              </a:r>
            </a:p>
          </p:txBody>
        </p:sp>
      </p:grpSp>
      <p:grpSp>
        <p:nvGrpSpPr>
          <p:cNvPr id="5" name="Group 5"/>
          <p:cNvGrpSpPr/>
          <p:nvPr/>
        </p:nvGrpSpPr>
        <p:grpSpPr>
          <a:xfrm>
            <a:off x="678942" y="1473518"/>
            <a:ext cx="8528094" cy="264033"/>
            <a:chOff x="678942" y="1473518"/>
            <a:chExt cx="8528094" cy="264033"/>
          </a:xfrm>
        </p:grpSpPr>
        <p:sp>
          <p:nvSpPr>
            <p:cNvPr id="4" name="TextBox 4"/>
            <p:cNvSpPr txBox="1"/>
            <p:nvPr/>
          </p:nvSpPr>
          <p:spPr>
            <a:xfrm>
              <a:off x="678942" y="1473518"/>
              <a:ext cx="8528094"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服務啟動即回填 45 分鐘當班歷史，之後每分鐘約 9 件工單持續進來；每一列裁決都點得開它的來源工單。</a:t>
              </a:r>
            </a:p>
          </p:txBody>
        </p:sp>
      </p:grpSp>
      <p:grpSp>
        <p:nvGrpSpPr>
          <p:cNvPr id="8" name="Group 8"/>
          <p:cNvGrpSpPr/>
          <p:nvPr/>
        </p:nvGrpSpPr>
        <p:grpSpPr>
          <a:xfrm>
            <a:off x="1476375" y="1905000"/>
            <a:ext cx="9239250" cy="4076700"/>
            <a:chOff x="1476375" y="1905000"/>
            <a:chExt cx="9239250" cy="4076700"/>
          </a:xfrm>
        </p:grpSpPr>
        <p:pic>
          <p:nvPicPr>
            <p:cNvPr id="6" name="Image 6"/>
            <p:cNvPicPr>
              <a:picLocks noChangeAspect="1"/>
            </p:cNvPicPr>
            <p:nvPr/>
          </p:nvPicPr>
          <p:blipFill>
            <a:blip r:embed="rId2"/>
            <a:stretch>
              <a:fillRect/>
            </a:stretch>
          </p:blipFill>
          <p:spPr>
            <a:xfrm>
              <a:off x="1476375" y="1905000"/>
              <a:ext cx="9239250" cy="4076700"/>
            </a:xfrm>
            <a:prstGeom prst="rect">
              <a:avLst/>
            </a:prstGeom>
          </p:spPr>
        </p:pic>
        <p:sp>
          <p:nvSpPr>
            <p:cNvPr id="7" name="Rectangle 7"/>
            <p:cNvSpPr/>
            <p:nvPr/>
          </p:nvSpPr>
          <p:spPr>
            <a:xfrm>
              <a:off x="1476375" y="1905000"/>
              <a:ext cx="9239250" cy="4076700"/>
            </a:xfrm>
            <a:prstGeom prst="rect">
              <a:avLst/>
            </a:prstGeom>
            <a:noFill/>
            <a:ln w="9525">
              <a:solidFill>
                <a:schemeClr val="accent6"/>
              </a:solidFill>
            </a:ln>
          </p:spPr>
        </p:sp>
      </p:grpSp>
      <p:grpSp>
        <p:nvGrpSpPr>
          <p:cNvPr id="10" name="Group 10"/>
          <p:cNvGrpSpPr/>
          <p:nvPr/>
        </p:nvGrpSpPr>
        <p:grpSpPr>
          <a:xfrm>
            <a:off x="676656" y="6054090"/>
            <a:ext cx="8550554" cy="352044"/>
            <a:chOff x="676656" y="6054090"/>
            <a:chExt cx="8550554" cy="352044"/>
          </a:xfrm>
        </p:grpSpPr>
        <p:sp>
          <p:nvSpPr>
            <p:cNvPr id="9" name="TextBox 9"/>
            <p:cNvSpPr txBox="1"/>
            <p:nvPr/>
          </p:nvSpPr>
          <p:spPr>
            <a:xfrm>
              <a:off x="676656" y="6054090"/>
              <a:ext cx="8550554"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治理層不是一顆按鈕，它坐在</a:t>
              </a:r>
              <a:r>
                <a:rPr lang="zh-Hant-TW" sz="1800" dirty="0">
                  <a:solidFill>
                    <a:schemeClr val="accent1"/>
                  </a:solidFill>
                  <a:latin typeface="+mn-lt"/>
                  <a:ea typeface="+mn-ea"/>
                  <a:cs typeface="+mn-cs"/>
                </a:rPr>
                <a:t>客戶對話 → AI 席位 → 後台系統</a:t>
              </a:r>
              <a:r>
                <a:rPr lang="zh-Hant-TW" sz="1800" dirty="0">
                  <a:solidFill>
                    <a:schemeClr val="dk1"/>
                  </a:solidFill>
                  <a:latin typeface="+mn-lt"/>
                  <a:ea typeface="+mn-ea"/>
                  <a:cs typeface="+mn-cs"/>
                </a:rPr>
                <a:t>這條管路的中間。</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64858"/>
            <a:ext cx="8974222" cy="616077"/>
            <a:chOff x="669798" y="764858"/>
            <a:chExt cx="8974222" cy="616077"/>
          </a:xfrm>
        </p:grpSpPr>
        <p:sp>
          <p:nvSpPr>
            <p:cNvPr id="2" name="TextBox 2"/>
            <p:cNvSpPr txBox="1"/>
            <p:nvPr/>
          </p:nvSpPr>
          <p:spPr>
            <a:xfrm>
              <a:off x="669798" y="764858"/>
              <a:ext cx="8974222"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自建 142 條測試集，八條 baseline 的完整對照</a:t>
              </a:r>
            </a:p>
          </p:txBody>
        </p:sp>
      </p:grpSp>
      <p:grpSp>
        <p:nvGrpSpPr>
          <p:cNvPr id="5" name="Group 5"/>
          <p:cNvGrpSpPr/>
          <p:nvPr/>
        </p:nvGrpSpPr>
        <p:grpSpPr>
          <a:xfrm>
            <a:off x="678942" y="1454468"/>
            <a:ext cx="6980587" cy="264033"/>
            <a:chOff x="678942" y="1454468"/>
            <a:chExt cx="6980587" cy="264033"/>
          </a:xfrm>
        </p:grpSpPr>
        <p:sp>
          <p:nvSpPr>
            <p:cNvPr id="4" name="TextBox 4"/>
            <p:cNvSpPr txBox="1"/>
            <p:nvPr/>
          </p:nvSpPr>
          <p:spPr>
            <a:xfrm>
              <a:off x="678942" y="1454468"/>
              <a:ext cx="6980587"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同一套測試集、同一條管線；消融組只是把對應的 Gate 關掉，不是另寫一套模擬器。</a:t>
              </a:r>
            </a:p>
          </p:txBody>
        </p:sp>
      </p:grpSp>
      <p:grpSp>
        <p:nvGrpSpPr>
          <p:cNvPr id="86" name="Group 86"/>
          <p:cNvGrpSpPr/>
          <p:nvPr/>
        </p:nvGrpSpPr>
        <p:grpSpPr>
          <a:xfrm>
            <a:off x="685800" y="1809750"/>
            <a:ext cx="10820400" cy="3476625"/>
            <a:chOff x="685800" y="1809750"/>
            <a:chExt cx="10820400" cy="3476625"/>
          </a:xfrm>
        </p:grpSpPr>
        <p:sp>
          <p:nvSpPr>
            <p:cNvPr id="6" name="Rectangle 6"/>
            <p:cNvSpPr/>
            <p:nvPr/>
          </p:nvSpPr>
          <p:spPr>
            <a:xfrm>
              <a:off x="685800" y="1809750"/>
              <a:ext cx="10820400" cy="419100"/>
            </a:xfrm>
            <a:prstGeom prst="rect">
              <a:avLst/>
            </a:prstGeom>
            <a:solidFill>
              <a:srgbClr val="182337"/>
            </a:solidFill>
            <a:ln>
              <a:noFill/>
            </a:ln>
          </p:spPr>
        </p:sp>
        <p:sp>
          <p:nvSpPr>
            <p:cNvPr id="7" name="TextBox 7"/>
            <p:cNvSpPr txBox="1"/>
            <p:nvPr/>
          </p:nvSpPr>
          <p:spPr>
            <a:xfrm>
              <a:off x="832104" y="1946910"/>
              <a:ext cx="673715" cy="234696"/>
            </a:xfrm>
            <a:prstGeom prst="rect">
              <a:avLst/>
            </a:prstGeom>
            <a:noFill/>
            <a:ln>
              <a:noFill/>
            </a:ln>
          </p:spPr>
          <p:txBody>
            <a:bodyPr wrap="none" lIns="0" tIns="0" rIns="0" bIns="0" anchor="t" anchorCtr="0">
              <a:spAutoFit/>
            </a:bodyPr>
            <a:lstStyle/>
            <a:p>
              <a:pPr algn="l"/>
              <a:r>
                <a:rPr lang="zh-Hant-TW" sz="1200" b="1" dirty="0">
                  <a:solidFill>
                    <a:schemeClr val="accent5"/>
                  </a:solidFill>
                  <a:latin typeface="+mn-lt"/>
                  <a:ea typeface="+mn-ea"/>
                  <a:cs typeface="+mn-cs"/>
                </a:rPr>
                <a:t>baseline</a:t>
              </a:r>
            </a:p>
          </p:txBody>
        </p:sp>
        <p:sp>
          <p:nvSpPr>
            <p:cNvPr id="8" name="TextBox 8"/>
            <p:cNvSpPr txBox="1"/>
            <p:nvPr/>
          </p:nvSpPr>
          <p:spPr>
            <a:xfrm>
              <a:off x="3838468" y="1946910"/>
              <a:ext cx="1044428"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HAR 有害放行</a:t>
              </a:r>
            </a:p>
          </p:txBody>
        </p:sp>
        <p:sp>
          <p:nvSpPr>
            <p:cNvPr id="9" name="TextBox 9"/>
            <p:cNvSpPr txBox="1"/>
            <p:nvPr/>
          </p:nvSpPr>
          <p:spPr>
            <a:xfrm>
              <a:off x="5133868" y="1946910"/>
              <a:ext cx="1044428"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TCR 任務完成</a:t>
              </a:r>
            </a:p>
          </p:txBody>
        </p:sp>
        <p:sp>
          <p:nvSpPr>
            <p:cNvPr id="10" name="TextBox 10"/>
            <p:cNvSpPr txBox="1"/>
            <p:nvPr/>
          </p:nvSpPr>
          <p:spPr>
            <a:xfrm>
              <a:off x="6770644" y="1946910"/>
              <a:ext cx="703052"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FBR 誤攔</a:t>
              </a:r>
            </a:p>
          </p:txBody>
        </p:sp>
        <p:sp>
          <p:nvSpPr>
            <p:cNvPr id="11" name="TextBox 11"/>
            <p:cNvSpPr txBox="1"/>
            <p:nvPr/>
          </p:nvSpPr>
          <p:spPr>
            <a:xfrm>
              <a:off x="7724668" y="1946910"/>
              <a:ext cx="1044428"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ESB 升級攔截</a:t>
              </a:r>
            </a:p>
          </p:txBody>
        </p:sp>
        <p:sp>
          <p:nvSpPr>
            <p:cNvPr id="12" name="TextBox 12"/>
            <p:cNvSpPr txBox="1"/>
            <p:nvPr/>
          </p:nvSpPr>
          <p:spPr>
            <a:xfrm>
              <a:off x="9118641" y="1946910"/>
              <a:ext cx="945855"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AC 稽核完整</a:t>
              </a:r>
            </a:p>
          </p:txBody>
        </p:sp>
        <p:sp>
          <p:nvSpPr>
            <p:cNvPr id="13" name="TextBox 13"/>
            <p:cNvSpPr txBox="1"/>
            <p:nvPr/>
          </p:nvSpPr>
          <p:spPr>
            <a:xfrm>
              <a:off x="10350299" y="1946910"/>
              <a:ext cx="1009597" cy="234696"/>
            </a:xfrm>
            <a:prstGeom prst="rect">
              <a:avLst/>
            </a:prstGeom>
            <a:noFill/>
            <a:ln>
              <a:noFill/>
            </a:ln>
          </p:spPr>
          <p:txBody>
            <a:bodyPr wrap="none" lIns="0" tIns="0" rIns="0" bIns="0" anchor="t" anchorCtr="0">
              <a:spAutoFit/>
            </a:bodyPr>
            <a:lstStyle/>
            <a:p>
              <a:pPr algn="r"/>
              <a:r>
                <a:rPr lang="zh-Hant-TW" sz="1200" b="1" dirty="0">
                  <a:solidFill>
                    <a:schemeClr val="accent5"/>
                  </a:solidFill>
                  <a:latin typeface="+mn-lt"/>
                  <a:ea typeface="+mn-ea"/>
                  <a:cs typeface="+mn-cs"/>
                </a:rPr>
                <a:t>DL p95 (ms)</a:t>
              </a:r>
            </a:p>
          </p:txBody>
        </p:sp>
        <p:sp>
          <p:nvSpPr>
            <p:cNvPr id="14" name="Rectangle 14"/>
            <p:cNvSpPr/>
            <p:nvPr/>
          </p:nvSpPr>
          <p:spPr>
            <a:xfrm>
              <a:off x="685800" y="2228850"/>
              <a:ext cx="10820400" cy="381000"/>
            </a:xfrm>
            <a:prstGeom prst="rect">
              <a:avLst/>
            </a:prstGeom>
            <a:solidFill>
              <a:srgbClr val="0F1622"/>
            </a:solidFill>
            <a:ln>
              <a:noFill/>
            </a:ln>
          </p:spPr>
        </p:sp>
        <p:sp>
          <p:nvSpPr>
            <p:cNvPr id="15" name="TextBox 15"/>
            <p:cNvSpPr txBox="1"/>
            <p:nvPr/>
          </p:nvSpPr>
          <p:spPr>
            <a:xfrm>
              <a:off x="831342" y="2340292"/>
              <a:ext cx="2010766"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B0 無治理（損害上界）</a:t>
              </a:r>
            </a:p>
          </p:txBody>
        </p:sp>
        <p:sp>
          <p:nvSpPr>
            <p:cNvPr id="16" name="TextBox 16"/>
            <p:cNvSpPr txBox="1"/>
            <p:nvPr/>
          </p:nvSpPr>
          <p:spPr>
            <a:xfrm>
              <a:off x="4162425" y="2324100"/>
              <a:ext cx="721995"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100.0%</a:t>
              </a:r>
            </a:p>
          </p:txBody>
        </p:sp>
        <p:sp>
          <p:nvSpPr>
            <p:cNvPr id="17" name="TextBox 17"/>
            <p:cNvSpPr txBox="1"/>
            <p:nvPr/>
          </p:nvSpPr>
          <p:spPr>
            <a:xfrm>
              <a:off x="5457825" y="2324100"/>
              <a:ext cx="721995"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100.0%</a:t>
              </a:r>
            </a:p>
          </p:txBody>
        </p:sp>
        <p:sp>
          <p:nvSpPr>
            <p:cNvPr id="18" name="TextBox 18"/>
            <p:cNvSpPr txBox="1"/>
            <p:nvPr/>
          </p:nvSpPr>
          <p:spPr>
            <a:xfrm>
              <a:off x="6975348" y="2324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0.0%</a:t>
              </a:r>
            </a:p>
          </p:txBody>
        </p:sp>
        <p:sp>
          <p:nvSpPr>
            <p:cNvPr id="19" name="TextBox 19"/>
            <p:cNvSpPr txBox="1"/>
            <p:nvPr/>
          </p:nvSpPr>
          <p:spPr>
            <a:xfrm>
              <a:off x="8270748" y="2324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20" name="TextBox 20"/>
            <p:cNvSpPr txBox="1"/>
            <p:nvPr/>
          </p:nvSpPr>
          <p:spPr>
            <a:xfrm>
              <a:off x="9566148" y="2324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21" name="TextBox 21"/>
            <p:cNvSpPr txBox="1"/>
            <p:nvPr/>
          </p:nvSpPr>
          <p:spPr>
            <a:xfrm>
              <a:off x="10901934" y="2324100"/>
              <a:ext cx="459486"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0.03</a:t>
              </a:r>
            </a:p>
          </p:txBody>
        </p:sp>
        <p:sp>
          <p:nvSpPr>
            <p:cNvPr id="22" name="Line 22"/>
            <p:cNvSpPr/>
            <p:nvPr/>
          </p:nvSpPr>
          <p:spPr>
            <a:xfrm>
              <a:off x="685800" y="2609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3" name="Rectangle 23"/>
            <p:cNvSpPr/>
            <p:nvPr/>
          </p:nvSpPr>
          <p:spPr>
            <a:xfrm>
              <a:off x="685800" y="2609850"/>
              <a:ext cx="10820400" cy="381000"/>
            </a:xfrm>
            <a:prstGeom prst="rect">
              <a:avLst/>
            </a:prstGeom>
            <a:solidFill>
              <a:schemeClr val="lt1"/>
            </a:solidFill>
            <a:ln>
              <a:noFill/>
            </a:ln>
          </p:spPr>
        </p:sp>
        <p:sp>
          <p:nvSpPr>
            <p:cNvPr id="24" name="TextBox 24"/>
            <p:cNvSpPr txBox="1"/>
            <p:nvPr/>
          </p:nvSpPr>
          <p:spPr>
            <a:xfrm>
              <a:off x="831342" y="2721292"/>
              <a:ext cx="2231593"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B1 LLM 自我審查（模擬）</a:t>
              </a:r>
            </a:p>
          </p:txBody>
        </p:sp>
        <p:sp>
          <p:nvSpPr>
            <p:cNvPr id="25" name="TextBox 25"/>
            <p:cNvSpPr txBox="1"/>
            <p:nvPr/>
          </p:nvSpPr>
          <p:spPr>
            <a:xfrm>
              <a:off x="4273486" y="2705100"/>
              <a:ext cx="610934"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67.4%</a:t>
              </a:r>
            </a:p>
          </p:txBody>
        </p:sp>
        <p:sp>
          <p:nvSpPr>
            <p:cNvPr id="26" name="TextBox 26"/>
            <p:cNvSpPr txBox="1"/>
            <p:nvPr/>
          </p:nvSpPr>
          <p:spPr>
            <a:xfrm>
              <a:off x="5568887" y="2705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95.7%</a:t>
              </a:r>
            </a:p>
          </p:txBody>
        </p:sp>
        <p:sp>
          <p:nvSpPr>
            <p:cNvPr id="27" name="TextBox 27"/>
            <p:cNvSpPr txBox="1"/>
            <p:nvPr/>
          </p:nvSpPr>
          <p:spPr>
            <a:xfrm>
              <a:off x="6975348" y="2705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4.3%</a:t>
              </a:r>
            </a:p>
          </p:txBody>
        </p:sp>
        <p:sp>
          <p:nvSpPr>
            <p:cNvPr id="28" name="TextBox 28"/>
            <p:cNvSpPr txBox="1"/>
            <p:nvPr/>
          </p:nvSpPr>
          <p:spPr>
            <a:xfrm>
              <a:off x="8270748" y="2705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29" name="TextBox 29"/>
            <p:cNvSpPr txBox="1"/>
            <p:nvPr/>
          </p:nvSpPr>
          <p:spPr>
            <a:xfrm>
              <a:off x="9566148" y="2705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30" name="TextBox 30"/>
            <p:cNvSpPr txBox="1"/>
            <p:nvPr/>
          </p:nvSpPr>
          <p:spPr>
            <a:xfrm>
              <a:off x="11235118" y="2705100"/>
              <a:ext cx="12630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a:t>
              </a:r>
            </a:p>
          </p:txBody>
        </p:sp>
        <p:sp>
          <p:nvSpPr>
            <p:cNvPr id="31" name="Line 31"/>
            <p:cNvSpPr/>
            <p:nvPr/>
          </p:nvSpPr>
          <p:spPr>
            <a:xfrm>
              <a:off x="685800" y="2990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2" name="Rectangle 32"/>
            <p:cNvSpPr/>
            <p:nvPr/>
          </p:nvSpPr>
          <p:spPr>
            <a:xfrm>
              <a:off x="685800" y="2990850"/>
              <a:ext cx="10820400" cy="381000"/>
            </a:xfrm>
            <a:prstGeom prst="rect">
              <a:avLst/>
            </a:prstGeom>
            <a:solidFill>
              <a:srgbClr val="0F1622"/>
            </a:solidFill>
            <a:ln>
              <a:noFill/>
            </a:ln>
          </p:spPr>
        </p:sp>
        <p:sp>
          <p:nvSpPr>
            <p:cNvPr id="33" name="TextBox 33"/>
            <p:cNvSpPr txBox="1"/>
            <p:nvPr/>
          </p:nvSpPr>
          <p:spPr>
            <a:xfrm>
              <a:off x="831342" y="3102292"/>
              <a:ext cx="2341793"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B1-llm 真實 gpt-4o-mini ×3</a:t>
              </a:r>
            </a:p>
          </p:txBody>
        </p:sp>
        <p:sp>
          <p:nvSpPr>
            <p:cNvPr id="34" name="TextBox 34"/>
            <p:cNvSpPr txBox="1"/>
            <p:nvPr/>
          </p:nvSpPr>
          <p:spPr>
            <a:xfrm>
              <a:off x="4273486" y="3086100"/>
              <a:ext cx="610934"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21.7%</a:t>
              </a:r>
            </a:p>
          </p:txBody>
        </p:sp>
        <p:sp>
          <p:nvSpPr>
            <p:cNvPr id="35" name="TextBox 35"/>
            <p:cNvSpPr txBox="1"/>
            <p:nvPr/>
          </p:nvSpPr>
          <p:spPr>
            <a:xfrm>
              <a:off x="5568887" y="3086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95.7%</a:t>
              </a:r>
            </a:p>
          </p:txBody>
        </p:sp>
        <p:sp>
          <p:nvSpPr>
            <p:cNvPr id="36" name="TextBox 36"/>
            <p:cNvSpPr txBox="1"/>
            <p:nvPr/>
          </p:nvSpPr>
          <p:spPr>
            <a:xfrm>
              <a:off x="6975348" y="3086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4.3%</a:t>
              </a:r>
            </a:p>
          </p:txBody>
        </p:sp>
        <p:sp>
          <p:nvSpPr>
            <p:cNvPr id="37" name="TextBox 37"/>
            <p:cNvSpPr txBox="1"/>
            <p:nvPr/>
          </p:nvSpPr>
          <p:spPr>
            <a:xfrm>
              <a:off x="8270748" y="3086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38" name="TextBox 38"/>
            <p:cNvSpPr txBox="1"/>
            <p:nvPr/>
          </p:nvSpPr>
          <p:spPr>
            <a:xfrm>
              <a:off x="9566148" y="3086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39" name="TextBox 39"/>
            <p:cNvSpPr txBox="1"/>
            <p:nvPr/>
          </p:nvSpPr>
          <p:spPr>
            <a:xfrm>
              <a:off x="10790872" y="3086100"/>
              <a:ext cx="570548"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1,259</a:t>
              </a:r>
            </a:p>
          </p:txBody>
        </p:sp>
        <p:sp>
          <p:nvSpPr>
            <p:cNvPr id="40" name="Line 40"/>
            <p:cNvSpPr/>
            <p:nvPr/>
          </p:nvSpPr>
          <p:spPr>
            <a:xfrm>
              <a:off x="685800" y="3371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1" name="Rectangle 41"/>
            <p:cNvSpPr/>
            <p:nvPr/>
          </p:nvSpPr>
          <p:spPr>
            <a:xfrm>
              <a:off x="685800" y="3371850"/>
              <a:ext cx="10820400" cy="381000"/>
            </a:xfrm>
            <a:prstGeom prst="rect">
              <a:avLst/>
            </a:prstGeom>
            <a:solidFill>
              <a:schemeClr val="lt1"/>
            </a:solidFill>
            <a:ln>
              <a:noFill/>
            </a:ln>
          </p:spPr>
        </p:sp>
        <p:sp>
          <p:nvSpPr>
            <p:cNvPr id="42" name="TextBox 42"/>
            <p:cNvSpPr txBox="1"/>
            <p:nvPr/>
          </p:nvSpPr>
          <p:spPr>
            <a:xfrm>
              <a:off x="831342" y="3483292"/>
              <a:ext cx="1434694"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B2 靜態黑白名單</a:t>
              </a:r>
            </a:p>
          </p:txBody>
        </p:sp>
        <p:sp>
          <p:nvSpPr>
            <p:cNvPr id="43" name="TextBox 43"/>
            <p:cNvSpPr txBox="1"/>
            <p:nvPr/>
          </p:nvSpPr>
          <p:spPr>
            <a:xfrm>
              <a:off x="4273486" y="3467100"/>
              <a:ext cx="610934"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41.3%</a:t>
              </a:r>
            </a:p>
          </p:txBody>
        </p:sp>
        <p:sp>
          <p:nvSpPr>
            <p:cNvPr id="44" name="TextBox 44"/>
            <p:cNvSpPr txBox="1"/>
            <p:nvPr/>
          </p:nvSpPr>
          <p:spPr>
            <a:xfrm>
              <a:off x="5568887" y="3467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76.3%</a:t>
              </a:r>
            </a:p>
          </p:txBody>
        </p:sp>
        <p:sp>
          <p:nvSpPr>
            <p:cNvPr id="45" name="TextBox 45"/>
            <p:cNvSpPr txBox="1"/>
            <p:nvPr/>
          </p:nvSpPr>
          <p:spPr>
            <a:xfrm>
              <a:off x="6864287" y="3467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23.7%</a:t>
              </a:r>
            </a:p>
          </p:txBody>
        </p:sp>
        <p:sp>
          <p:nvSpPr>
            <p:cNvPr id="46" name="TextBox 46"/>
            <p:cNvSpPr txBox="1"/>
            <p:nvPr/>
          </p:nvSpPr>
          <p:spPr>
            <a:xfrm>
              <a:off x="8270748" y="3467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47" name="TextBox 47"/>
            <p:cNvSpPr txBox="1"/>
            <p:nvPr/>
          </p:nvSpPr>
          <p:spPr>
            <a:xfrm>
              <a:off x="9566148" y="3467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48" name="TextBox 48"/>
            <p:cNvSpPr txBox="1"/>
            <p:nvPr/>
          </p:nvSpPr>
          <p:spPr>
            <a:xfrm>
              <a:off x="10901934" y="3467100"/>
              <a:ext cx="459486"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0.01</a:t>
              </a:r>
            </a:p>
          </p:txBody>
        </p:sp>
        <p:sp>
          <p:nvSpPr>
            <p:cNvPr id="49" name="Line 49"/>
            <p:cNvSpPr/>
            <p:nvPr/>
          </p:nvSpPr>
          <p:spPr>
            <a:xfrm>
              <a:off x="685800" y="3752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50" name="Rectangle 50"/>
            <p:cNvSpPr/>
            <p:nvPr/>
          </p:nvSpPr>
          <p:spPr>
            <a:xfrm>
              <a:off x="685800" y="3752850"/>
              <a:ext cx="10820400" cy="381000"/>
            </a:xfrm>
            <a:prstGeom prst="rect">
              <a:avLst/>
            </a:prstGeom>
            <a:solidFill>
              <a:srgbClr val="16283F"/>
            </a:solidFill>
            <a:ln>
              <a:noFill/>
            </a:ln>
          </p:spPr>
        </p:sp>
        <p:sp>
          <p:nvSpPr>
            <p:cNvPr id="51" name="TextBox 51"/>
            <p:cNvSpPr txBox="1"/>
            <p:nvPr/>
          </p:nvSpPr>
          <p:spPr>
            <a:xfrm>
              <a:off x="831342" y="3864292"/>
              <a:ext cx="2228359" cy="264033"/>
            </a:xfrm>
            <a:prstGeom prst="rect">
              <a:avLst/>
            </a:prstGeom>
            <a:noFill/>
            <a:ln>
              <a:noFill/>
            </a:ln>
          </p:spPr>
          <p:txBody>
            <a:bodyPr wrap="none" lIns="0" tIns="0" rIns="0" bIns="0" anchor="t" anchorCtr="0">
              <a:spAutoFit/>
            </a:bodyPr>
            <a:lstStyle/>
            <a:p>
              <a:pPr algn="l"/>
              <a:r>
                <a:rPr lang="zh-Hant-TW" sz="1350" b="1" dirty="0">
                  <a:solidFill>
                    <a:srgbClr val="FFFFFF"/>
                  </a:solidFill>
                  <a:latin typeface="+mn-lt"/>
                  <a:ea typeface="+mn-ea"/>
                  <a:cs typeface="+mn-cs"/>
                </a:rPr>
                <a:t>B3 AgentGate 完整五關卡</a:t>
              </a:r>
            </a:p>
          </p:txBody>
        </p:sp>
        <p:sp>
          <p:nvSpPr>
            <p:cNvPr id="52" name="TextBox 52"/>
            <p:cNvSpPr txBox="1"/>
            <p:nvPr/>
          </p:nvSpPr>
          <p:spPr>
            <a:xfrm>
              <a:off x="4360316" y="3848100"/>
              <a:ext cx="524104" cy="293370"/>
            </a:xfrm>
            <a:prstGeom prst="rect">
              <a:avLst/>
            </a:prstGeom>
            <a:noFill/>
            <a:ln>
              <a:noFill/>
            </a:ln>
          </p:spPr>
          <p:txBody>
            <a:bodyPr wrap="none" lIns="0" tIns="0" rIns="0" bIns="0" anchor="t" anchorCtr="0">
              <a:spAutoFit/>
            </a:bodyPr>
            <a:lstStyle/>
            <a:p>
              <a:pPr algn="r"/>
              <a:r>
                <a:rPr lang="zh-Hant-TW" sz="1500" b="1" dirty="0">
                  <a:solidFill>
                    <a:schemeClr val="accent3"/>
                  </a:solidFill>
                  <a:latin typeface="Consolas"/>
                  <a:ea typeface="Consolas"/>
                  <a:cs typeface="Consolas"/>
                </a:rPr>
                <a:t>0.0%</a:t>
              </a:r>
            </a:p>
          </p:txBody>
        </p:sp>
        <p:sp>
          <p:nvSpPr>
            <p:cNvPr id="53" name="TextBox 53"/>
            <p:cNvSpPr txBox="1"/>
            <p:nvPr/>
          </p:nvSpPr>
          <p:spPr>
            <a:xfrm>
              <a:off x="5539102" y="3848100"/>
              <a:ext cx="640718" cy="293370"/>
            </a:xfrm>
            <a:prstGeom prst="rect">
              <a:avLst/>
            </a:prstGeom>
            <a:noFill/>
            <a:ln>
              <a:noFill/>
            </a:ln>
          </p:spPr>
          <p:txBody>
            <a:bodyPr wrap="none" lIns="0" tIns="0" rIns="0" bIns="0" anchor="t" anchorCtr="0">
              <a:spAutoFit/>
            </a:bodyPr>
            <a:lstStyle/>
            <a:p>
              <a:pPr algn="r"/>
              <a:r>
                <a:rPr lang="zh-Hant-TW" sz="1500" b="1" dirty="0">
                  <a:solidFill>
                    <a:srgbClr val="FFFFFF"/>
                  </a:solidFill>
                  <a:latin typeface="Consolas"/>
                  <a:ea typeface="Consolas"/>
                  <a:cs typeface="Consolas"/>
                </a:rPr>
                <a:t>96.8%</a:t>
              </a:r>
            </a:p>
          </p:txBody>
        </p:sp>
        <p:sp>
          <p:nvSpPr>
            <p:cNvPr id="54" name="TextBox 54"/>
            <p:cNvSpPr txBox="1"/>
            <p:nvPr/>
          </p:nvSpPr>
          <p:spPr>
            <a:xfrm>
              <a:off x="6951116" y="3848100"/>
              <a:ext cx="524104" cy="293370"/>
            </a:xfrm>
            <a:prstGeom prst="rect">
              <a:avLst/>
            </a:prstGeom>
            <a:noFill/>
            <a:ln>
              <a:noFill/>
            </a:ln>
          </p:spPr>
          <p:txBody>
            <a:bodyPr wrap="none" lIns="0" tIns="0" rIns="0" bIns="0" anchor="t" anchorCtr="0">
              <a:spAutoFit/>
            </a:bodyPr>
            <a:lstStyle/>
            <a:p>
              <a:pPr algn="r"/>
              <a:r>
                <a:rPr lang="zh-Hant-TW" sz="1500" b="1" dirty="0">
                  <a:solidFill>
                    <a:srgbClr val="FFFFFF"/>
                  </a:solidFill>
                  <a:latin typeface="Consolas"/>
                  <a:ea typeface="Consolas"/>
                  <a:cs typeface="Consolas"/>
                </a:rPr>
                <a:t>3.2%</a:t>
              </a:r>
            </a:p>
          </p:txBody>
        </p:sp>
        <p:sp>
          <p:nvSpPr>
            <p:cNvPr id="55" name="TextBox 55"/>
            <p:cNvSpPr txBox="1"/>
            <p:nvPr/>
          </p:nvSpPr>
          <p:spPr>
            <a:xfrm>
              <a:off x="8013287" y="3848100"/>
              <a:ext cx="757333" cy="293370"/>
            </a:xfrm>
            <a:prstGeom prst="rect">
              <a:avLst/>
            </a:prstGeom>
            <a:noFill/>
            <a:ln>
              <a:noFill/>
            </a:ln>
          </p:spPr>
          <p:txBody>
            <a:bodyPr wrap="none" lIns="0" tIns="0" rIns="0" bIns="0" anchor="t" anchorCtr="0">
              <a:spAutoFit/>
            </a:bodyPr>
            <a:lstStyle/>
            <a:p>
              <a:pPr algn="r"/>
              <a:r>
                <a:rPr lang="zh-Hant-TW" sz="1500" b="1" dirty="0">
                  <a:solidFill>
                    <a:schemeClr val="accent3"/>
                  </a:solidFill>
                  <a:latin typeface="Consolas"/>
                  <a:ea typeface="Consolas"/>
                  <a:cs typeface="Consolas"/>
                </a:rPr>
                <a:t>100.0%</a:t>
              </a:r>
            </a:p>
          </p:txBody>
        </p:sp>
        <p:sp>
          <p:nvSpPr>
            <p:cNvPr id="56" name="TextBox 56"/>
            <p:cNvSpPr txBox="1"/>
            <p:nvPr/>
          </p:nvSpPr>
          <p:spPr>
            <a:xfrm>
              <a:off x="9308687" y="3848100"/>
              <a:ext cx="757333" cy="293370"/>
            </a:xfrm>
            <a:prstGeom prst="rect">
              <a:avLst/>
            </a:prstGeom>
            <a:noFill/>
            <a:ln>
              <a:noFill/>
            </a:ln>
          </p:spPr>
          <p:txBody>
            <a:bodyPr wrap="none" lIns="0" tIns="0" rIns="0" bIns="0" anchor="t" anchorCtr="0">
              <a:spAutoFit/>
            </a:bodyPr>
            <a:lstStyle/>
            <a:p>
              <a:pPr algn="r"/>
              <a:r>
                <a:rPr lang="zh-Hant-TW" sz="1500" b="1" dirty="0">
                  <a:solidFill>
                    <a:schemeClr val="accent3"/>
                  </a:solidFill>
                  <a:latin typeface="Consolas"/>
                  <a:ea typeface="Consolas"/>
                  <a:cs typeface="Consolas"/>
                </a:rPr>
                <a:t>100.0%</a:t>
              </a:r>
            </a:p>
          </p:txBody>
        </p:sp>
        <p:sp>
          <p:nvSpPr>
            <p:cNvPr id="57" name="TextBox 57"/>
            <p:cNvSpPr txBox="1"/>
            <p:nvPr/>
          </p:nvSpPr>
          <p:spPr>
            <a:xfrm>
              <a:off x="10879722" y="3848100"/>
              <a:ext cx="481698" cy="293370"/>
            </a:xfrm>
            <a:prstGeom prst="rect">
              <a:avLst/>
            </a:prstGeom>
            <a:noFill/>
            <a:ln>
              <a:noFill/>
            </a:ln>
          </p:spPr>
          <p:txBody>
            <a:bodyPr wrap="none" lIns="0" tIns="0" rIns="0" bIns="0" anchor="t" anchorCtr="0">
              <a:spAutoFit/>
            </a:bodyPr>
            <a:lstStyle/>
            <a:p>
              <a:pPr algn="r"/>
              <a:r>
                <a:rPr lang="zh-Hant-TW" sz="1500" b="1" dirty="0">
                  <a:solidFill>
                    <a:srgbClr val="FFFFFF"/>
                  </a:solidFill>
                  <a:latin typeface="Consolas"/>
                  <a:ea typeface="Consolas"/>
                  <a:cs typeface="Consolas"/>
                </a:rPr>
                <a:t>0.12</a:t>
              </a:r>
            </a:p>
          </p:txBody>
        </p:sp>
        <p:sp>
          <p:nvSpPr>
            <p:cNvPr id="58" name="Line 58"/>
            <p:cNvSpPr/>
            <p:nvPr/>
          </p:nvSpPr>
          <p:spPr>
            <a:xfrm>
              <a:off x="685800" y="4133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59" name="Rectangle 59"/>
            <p:cNvSpPr/>
            <p:nvPr/>
          </p:nvSpPr>
          <p:spPr>
            <a:xfrm>
              <a:off x="685800" y="4133850"/>
              <a:ext cx="10820400" cy="381000"/>
            </a:xfrm>
            <a:prstGeom prst="rect">
              <a:avLst/>
            </a:prstGeom>
            <a:solidFill>
              <a:schemeClr val="lt1"/>
            </a:solidFill>
            <a:ln>
              <a:noFill/>
            </a:ln>
          </p:spPr>
        </p:sp>
        <p:sp>
          <p:nvSpPr>
            <p:cNvPr id="60" name="TextBox 60"/>
            <p:cNvSpPr txBox="1"/>
            <p:nvPr/>
          </p:nvSpPr>
          <p:spPr>
            <a:xfrm>
              <a:off x="831342" y="4245292"/>
              <a:ext cx="1751533"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B3−G0 拿掉來源信任</a:t>
              </a:r>
            </a:p>
          </p:txBody>
        </p:sp>
        <p:sp>
          <p:nvSpPr>
            <p:cNvPr id="61" name="TextBox 61"/>
            <p:cNvSpPr txBox="1"/>
            <p:nvPr/>
          </p:nvSpPr>
          <p:spPr>
            <a:xfrm>
              <a:off x="4273486" y="4229100"/>
              <a:ext cx="610934"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23.9%</a:t>
              </a:r>
            </a:p>
          </p:txBody>
        </p:sp>
        <p:sp>
          <p:nvSpPr>
            <p:cNvPr id="62" name="TextBox 62"/>
            <p:cNvSpPr txBox="1"/>
            <p:nvPr/>
          </p:nvSpPr>
          <p:spPr>
            <a:xfrm>
              <a:off x="5568887" y="4229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96.8%</a:t>
              </a:r>
            </a:p>
          </p:txBody>
        </p:sp>
        <p:sp>
          <p:nvSpPr>
            <p:cNvPr id="63" name="TextBox 63"/>
            <p:cNvSpPr txBox="1"/>
            <p:nvPr/>
          </p:nvSpPr>
          <p:spPr>
            <a:xfrm>
              <a:off x="6975348" y="4229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3.2%</a:t>
              </a:r>
            </a:p>
          </p:txBody>
        </p:sp>
        <p:sp>
          <p:nvSpPr>
            <p:cNvPr id="64" name="TextBox 64"/>
            <p:cNvSpPr txBox="1"/>
            <p:nvPr/>
          </p:nvSpPr>
          <p:spPr>
            <a:xfrm>
              <a:off x="8270748" y="4229100"/>
              <a:ext cx="499872" cy="293370"/>
            </a:xfrm>
            <a:prstGeom prst="rect">
              <a:avLst/>
            </a:prstGeom>
            <a:noFill/>
            <a:ln>
              <a:noFill/>
            </a:ln>
          </p:spPr>
          <p:txBody>
            <a:bodyPr wrap="none" lIns="0" tIns="0" rIns="0" bIns="0" anchor="t" anchorCtr="0">
              <a:spAutoFit/>
            </a:bodyPr>
            <a:lstStyle/>
            <a:p>
              <a:pPr algn="r"/>
              <a:r>
                <a:rPr lang="zh-Hant-TW" sz="1500" dirty="0">
                  <a:solidFill>
                    <a:schemeClr val="accent5"/>
                  </a:solidFill>
                  <a:latin typeface="Consolas"/>
                  <a:ea typeface="Consolas"/>
                  <a:cs typeface="Consolas"/>
                </a:rPr>
                <a:t>0.0%</a:t>
              </a:r>
            </a:p>
          </p:txBody>
        </p:sp>
        <p:sp>
          <p:nvSpPr>
            <p:cNvPr id="65" name="TextBox 65"/>
            <p:cNvSpPr txBox="1"/>
            <p:nvPr/>
          </p:nvSpPr>
          <p:spPr>
            <a:xfrm>
              <a:off x="9344025" y="4229100"/>
              <a:ext cx="721995" cy="293370"/>
            </a:xfrm>
            <a:prstGeom prst="rect">
              <a:avLst/>
            </a:prstGeom>
            <a:noFill/>
            <a:ln>
              <a:noFill/>
            </a:ln>
          </p:spPr>
          <p:txBody>
            <a:bodyPr wrap="none" lIns="0" tIns="0" rIns="0" bIns="0" anchor="t" anchorCtr="0">
              <a:spAutoFit/>
            </a:bodyPr>
            <a:lstStyle/>
            <a:p>
              <a:pPr algn="r"/>
              <a:r>
                <a:rPr lang="zh-Hant-TW" sz="1500" dirty="0">
                  <a:solidFill>
                    <a:schemeClr val="accent3"/>
                  </a:solidFill>
                  <a:latin typeface="Consolas"/>
                  <a:ea typeface="Consolas"/>
                  <a:cs typeface="Consolas"/>
                </a:rPr>
                <a:t>100.0%</a:t>
              </a:r>
            </a:p>
          </p:txBody>
        </p:sp>
        <p:sp>
          <p:nvSpPr>
            <p:cNvPr id="66" name="TextBox 66"/>
            <p:cNvSpPr txBox="1"/>
            <p:nvPr/>
          </p:nvSpPr>
          <p:spPr>
            <a:xfrm>
              <a:off x="10901934" y="4229100"/>
              <a:ext cx="459486"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0.13</a:t>
              </a:r>
            </a:p>
          </p:txBody>
        </p:sp>
        <p:sp>
          <p:nvSpPr>
            <p:cNvPr id="67" name="Line 67"/>
            <p:cNvSpPr/>
            <p:nvPr/>
          </p:nvSpPr>
          <p:spPr>
            <a:xfrm>
              <a:off x="685800" y="4514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68" name="Rectangle 68"/>
            <p:cNvSpPr/>
            <p:nvPr/>
          </p:nvSpPr>
          <p:spPr>
            <a:xfrm>
              <a:off x="685800" y="4514850"/>
              <a:ext cx="10820400" cy="381000"/>
            </a:xfrm>
            <a:prstGeom prst="rect">
              <a:avLst/>
            </a:prstGeom>
            <a:solidFill>
              <a:srgbClr val="0F1622"/>
            </a:solidFill>
            <a:ln>
              <a:noFill/>
            </a:ln>
          </p:spPr>
        </p:sp>
        <p:sp>
          <p:nvSpPr>
            <p:cNvPr id="69" name="TextBox 69"/>
            <p:cNvSpPr txBox="1"/>
            <p:nvPr/>
          </p:nvSpPr>
          <p:spPr>
            <a:xfrm>
              <a:off x="831342" y="4626292"/>
              <a:ext cx="1751533"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B3−G3 拿掉後果預演</a:t>
              </a:r>
            </a:p>
          </p:txBody>
        </p:sp>
        <p:sp>
          <p:nvSpPr>
            <p:cNvPr id="70" name="TextBox 70"/>
            <p:cNvSpPr txBox="1"/>
            <p:nvPr/>
          </p:nvSpPr>
          <p:spPr>
            <a:xfrm>
              <a:off x="4384548" y="4610100"/>
              <a:ext cx="499872"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8.7%</a:t>
              </a:r>
            </a:p>
          </p:txBody>
        </p:sp>
        <p:sp>
          <p:nvSpPr>
            <p:cNvPr id="71" name="TextBox 71"/>
            <p:cNvSpPr txBox="1"/>
            <p:nvPr/>
          </p:nvSpPr>
          <p:spPr>
            <a:xfrm>
              <a:off x="5568887" y="4610100"/>
              <a:ext cx="610934"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96.8%</a:t>
              </a:r>
            </a:p>
          </p:txBody>
        </p:sp>
        <p:sp>
          <p:nvSpPr>
            <p:cNvPr id="72" name="TextBox 72"/>
            <p:cNvSpPr txBox="1"/>
            <p:nvPr/>
          </p:nvSpPr>
          <p:spPr>
            <a:xfrm>
              <a:off x="6975348" y="4610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3.2%</a:t>
              </a:r>
            </a:p>
          </p:txBody>
        </p:sp>
        <p:sp>
          <p:nvSpPr>
            <p:cNvPr id="73" name="TextBox 73"/>
            <p:cNvSpPr txBox="1"/>
            <p:nvPr/>
          </p:nvSpPr>
          <p:spPr>
            <a:xfrm>
              <a:off x="8048625" y="4610100"/>
              <a:ext cx="721995" cy="293370"/>
            </a:xfrm>
            <a:prstGeom prst="rect">
              <a:avLst/>
            </a:prstGeom>
            <a:noFill/>
            <a:ln>
              <a:noFill/>
            </a:ln>
          </p:spPr>
          <p:txBody>
            <a:bodyPr wrap="none" lIns="0" tIns="0" rIns="0" bIns="0" anchor="t" anchorCtr="0">
              <a:spAutoFit/>
            </a:bodyPr>
            <a:lstStyle/>
            <a:p>
              <a:pPr algn="r"/>
              <a:r>
                <a:rPr lang="zh-Hant-TW" sz="1500" dirty="0">
                  <a:solidFill>
                    <a:schemeClr val="accent3"/>
                  </a:solidFill>
                  <a:latin typeface="Consolas"/>
                  <a:ea typeface="Consolas"/>
                  <a:cs typeface="Consolas"/>
                </a:rPr>
                <a:t>100.0%</a:t>
              </a:r>
            </a:p>
          </p:txBody>
        </p:sp>
        <p:sp>
          <p:nvSpPr>
            <p:cNvPr id="74" name="TextBox 74"/>
            <p:cNvSpPr txBox="1"/>
            <p:nvPr/>
          </p:nvSpPr>
          <p:spPr>
            <a:xfrm>
              <a:off x="9344025" y="4610100"/>
              <a:ext cx="721995" cy="293370"/>
            </a:xfrm>
            <a:prstGeom prst="rect">
              <a:avLst/>
            </a:prstGeom>
            <a:noFill/>
            <a:ln>
              <a:noFill/>
            </a:ln>
          </p:spPr>
          <p:txBody>
            <a:bodyPr wrap="none" lIns="0" tIns="0" rIns="0" bIns="0" anchor="t" anchorCtr="0">
              <a:spAutoFit/>
            </a:bodyPr>
            <a:lstStyle/>
            <a:p>
              <a:pPr algn="r"/>
              <a:r>
                <a:rPr lang="zh-Hant-TW" sz="1500" dirty="0">
                  <a:solidFill>
                    <a:schemeClr val="accent3"/>
                  </a:solidFill>
                  <a:latin typeface="Consolas"/>
                  <a:ea typeface="Consolas"/>
                  <a:cs typeface="Consolas"/>
                </a:rPr>
                <a:t>100.0%</a:t>
              </a:r>
            </a:p>
          </p:txBody>
        </p:sp>
        <p:sp>
          <p:nvSpPr>
            <p:cNvPr id="75" name="TextBox 75"/>
            <p:cNvSpPr txBox="1"/>
            <p:nvPr/>
          </p:nvSpPr>
          <p:spPr>
            <a:xfrm>
              <a:off x="10901934" y="4610100"/>
              <a:ext cx="459486"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0.10</a:t>
              </a:r>
            </a:p>
          </p:txBody>
        </p:sp>
        <p:sp>
          <p:nvSpPr>
            <p:cNvPr id="76" name="Line 76"/>
            <p:cNvSpPr/>
            <p:nvPr/>
          </p:nvSpPr>
          <p:spPr>
            <a:xfrm>
              <a:off x="685800" y="4895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77" name="Rectangle 77"/>
            <p:cNvSpPr/>
            <p:nvPr/>
          </p:nvSpPr>
          <p:spPr>
            <a:xfrm>
              <a:off x="685800" y="4895850"/>
              <a:ext cx="10820400" cy="381000"/>
            </a:xfrm>
            <a:prstGeom prst="rect">
              <a:avLst/>
            </a:prstGeom>
            <a:solidFill>
              <a:schemeClr val="lt1"/>
            </a:solidFill>
            <a:ln>
              <a:noFill/>
            </a:ln>
          </p:spPr>
        </p:sp>
        <p:sp>
          <p:nvSpPr>
            <p:cNvPr id="78" name="TextBox 78"/>
            <p:cNvSpPr txBox="1"/>
            <p:nvPr/>
          </p:nvSpPr>
          <p:spPr>
            <a:xfrm>
              <a:off x="831342" y="5007292"/>
              <a:ext cx="2196789"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B3-worst 最壞情況核准者</a:t>
              </a:r>
            </a:p>
          </p:txBody>
        </p:sp>
        <p:sp>
          <p:nvSpPr>
            <p:cNvPr id="79" name="TextBox 79"/>
            <p:cNvSpPr txBox="1"/>
            <p:nvPr/>
          </p:nvSpPr>
          <p:spPr>
            <a:xfrm>
              <a:off x="4384548" y="4991100"/>
              <a:ext cx="499872" cy="293370"/>
            </a:xfrm>
            <a:prstGeom prst="rect">
              <a:avLst/>
            </a:prstGeom>
            <a:noFill/>
            <a:ln>
              <a:noFill/>
            </a:ln>
          </p:spPr>
          <p:txBody>
            <a:bodyPr wrap="none" lIns="0" tIns="0" rIns="0" bIns="0" anchor="t" anchorCtr="0">
              <a:spAutoFit/>
            </a:bodyPr>
            <a:lstStyle/>
            <a:p>
              <a:pPr algn="r"/>
              <a:r>
                <a:rPr lang="zh-Hant-TW" sz="1500" dirty="0">
                  <a:solidFill>
                    <a:srgbClr val="FF6B6B"/>
                  </a:solidFill>
                  <a:latin typeface="Consolas"/>
                  <a:ea typeface="Consolas"/>
                  <a:cs typeface="Consolas"/>
                </a:rPr>
                <a:t>8.7%</a:t>
              </a:r>
            </a:p>
          </p:txBody>
        </p:sp>
        <p:sp>
          <p:nvSpPr>
            <p:cNvPr id="80" name="TextBox 80"/>
            <p:cNvSpPr txBox="1"/>
            <p:nvPr/>
          </p:nvSpPr>
          <p:spPr>
            <a:xfrm>
              <a:off x="5457825" y="4991100"/>
              <a:ext cx="721995"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100.0%</a:t>
              </a:r>
            </a:p>
          </p:txBody>
        </p:sp>
        <p:sp>
          <p:nvSpPr>
            <p:cNvPr id="81" name="TextBox 81"/>
            <p:cNvSpPr txBox="1"/>
            <p:nvPr/>
          </p:nvSpPr>
          <p:spPr>
            <a:xfrm>
              <a:off x="6975348" y="4991100"/>
              <a:ext cx="499872"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0.0%</a:t>
              </a:r>
            </a:p>
          </p:txBody>
        </p:sp>
        <p:sp>
          <p:nvSpPr>
            <p:cNvPr id="82" name="TextBox 82"/>
            <p:cNvSpPr txBox="1"/>
            <p:nvPr/>
          </p:nvSpPr>
          <p:spPr>
            <a:xfrm>
              <a:off x="8048625" y="4991100"/>
              <a:ext cx="721995" cy="293370"/>
            </a:xfrm>
            <a:prstGeom prst="rect">
              <a:avLst/>
            </a:prstGeom>
            <a:noFill/>
            <a:ln>
              <a:noFill/>
            </a:ln>
          </p:spPr>
          <p:txBody>
            <a:bodyPr wrap="none" lIns="0" tIns="0" rIns="0" bIns="0" anchor="t" anchorCtr="0">
              <a:spAutoFit/>
            </a:bodyPr>
            <a:lstStyle/>
            <a:p>
              <a:pPr algn="r"/>
              <a:r>
                <a:rPr lang="zh-Hant-TW" sz="1500" dirty="0">
                  <a:solidFill>
                    <a:schemeClr val="accent3"/>
                  </a:solidFill>
                  <a:latin typeface="Consolas"/>
                  <a:ea typeface="Consolas"/>
                  <a:cs typeface="Consolas"/>
                </a:rPr>
                <a:t>100.0%</a:t>
              </a:r>
            </a:p>
          </p:txBody>
        </p:sp>
        <p:sp>
          <p:nvSpPr>
            <p:cNvPr id="83" name="TextBox 83"/>
            <p:cNvSpPr txBox="1"/>
            <p:nvPr/>
          </p:nvSpPr>
          <p:spPr>
            <a:xfrm>
              <a:off x="9344025" y="4991100"/>
              <a:ext cx="721995" cy="293370"/>
            </a:xfrm>
            <a:prstGeom prst="rect">
              <a:avLst/>
            </a:prstGeom>
            <a:noFill/>
            <a:ln>
              <a:noFill/>
            </a:ln>
          </p:spPr>
          <p:txBody>
            <a:bodyPr wrap="none" lIns="0" tIns="0" rIns="0" bIns="0" anchor="t" anchorCtr="0">
              <a:spAutoFit/>
            </a:bodyPr>
            <a:lstStyle/>
            <a:p>
              <a:pPr algn="r"/>
              <a:r>
                <a:rPr lang="zh-Hant-TW" sz="1500" dirty="0">
                  <a:solidFill>
                    <a:schemeClr val="accent3"/>
                  </a:solidFill>
                  <a:latin typeface="Consolas"/>
                  <a:ea typeface="Consolas"/>
                  <a:cs typeface="Consolas"/>
                </a:rPr>
                <a:t>100.0%</a:t>
              </a:r>
            </a:p>
          </p:txBody>
        </p:sp>
        <p:sp>
          <p:nvSpPr>
            <p:cNvPr id="84" name="TextBox 84"/>
            <p:cNvSpPr txBox="1"/>
            <p:nvPr/>
          </p:nvSpPr>
          <p:spPr>
            <a:xfrm>
              <a:off x="10901934" y="4991100"/>
              <a:ext cx="459486" cy="293370"/>
            </a:xfrm>
            <a:prstGeom prst="rect">
              <a:avLst/>
            </a:prstGeom>
            <a:noFill/>
            <a:ln>
              <a:noFill/>
            </a:ln>
          </p:spPr>
          <p:txBody>
            <a:bodyPr wrap="none" lIns="0" tIns="0" rIns="0" bIns="0" anchor="t" anchorCtr="0">
              <a:spAutoFit/>
            </a:bodyPr>
            <a:lstStyle/>
            <a:p>
              <a:pPr algn="r"/>
              <a:r>
                <a:rPr lang="zh-Hant-TW" sz="1500" dirty="0">
                  <a:solidFill>
                    <a:schemeClr val="dk1"/>
                  </a:solidFill>
                  <a:latin typeface="Consolas"/>
                  <a:ea typeface="Consolas"/>
                  <a:cs typeface="Consolas"/>
                </a:rPr>
                <a:t>0.12</a:t>
              </a:r>
            </a:p>
          </p:txBody>
        </p:sp>
        <p:sp>
          <p:nvSpPr>
            <p:cNvPr id="85" name="Line 85"/>
            <p:cNvSpPr/>
            <p:nvPr/>
          </p:nvSpPr>
          <p:spPr>
            <a:xfrm>
              <a:off x="685800" y="52768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90" name="Group 90"/>
          <p:cNvGrpSpPr/>
          <p:nvPr/>
        </p:nvGrpSpPr>
        <p:grpSpPr>
          <a:xfrm>
            <a:off x="678942" y="5569268"/>
            <a:ext cx="10421417" cy="841438"/>
            <a:chOff x="678942" y="5569268"/>
            <a:chExt cx="10421417" cy="841438"/>
          </a:xfrm>
        </p:grpSpPr>
        <p:sp>
          <p:nvSpPr>
            <p:cNvPr id="87" name="TextBox 87"/>
            <p:cNvSpPr txBox="1"/>
            <p:nvPr/>
          </p:nvSpPr>
          <p:spPr>
            <a:xfrm>
              <a:off x="678942" y="5569268"/>
              <a:ext cx="10206771" cy="264033"/>
            </a:xfrm>
            <a:prstGeom prst="rect">
              <a:avLst/>
            </a:prstGeom>
            <a:noFill/>
            <a:ln>
              <a:noFill/>
            </a:ln>
          </p:spPr>
          <p:txBody>
            <a:bodyPr wrap="none" lIns="0" tIns="0" rIns="0" bIns="0" anchor="t" anchorCtr="0">
              <a:spAutoFit/>
            </a:bodyPr>
            <a:lstStyle/>
            <a:p>
              <a:pPr algn="l"/>
              <a:r>
                <a:rPr lang="zh-Hant-TW" sz="1350" dirty="0">
                  <a:solidFill>
                    <a:schemeClr val="accent5"/>
                  </a:solidFill>
                  <a:latin typeface="+mn-lt"/>
                  <a:ea typeface="+mn-ea"/>
                  <a:cs typeface="+mn-cs"/>
                </a:rPr>
                <a:t>HAR 有害放行率（越低越好）｜ TCR 任務完成率 ｜ FBR 誤攔率 ｜ ESB 升級攔截率 ｜ AC 稽核完整率 ｜ DL p95 決策延遲</a:t>
              </a:r>
            </a:p>
          </p:txBody>
        </p:sp>
        <p:sp>
          <p:nvSpPr>
            <p:cNvPr id="88" name="TextBox 88"/>
            <p:cNvSpPr txBox="1"/>
            <p:nvPr/>
          </p:nvSpPr>
          <p:spPr>
            <a:xfrm>
              <a:off x="678942" y="5874068"/>
              <a:ext cx="10421417" cy="264033"/>
            </a:xfrm>
            <a:prstGeom prst="rect">
              <a:avLst/>
            </a:prstGeom>
            <a:noFill/>
            <a:ln>
              <a:noFill/>
            </a:ln>
          </p:spPr>
          <p:txBody>
            <a:bodyPr wrap="none" lIns="0" tIns="0" rIns="0" bIns="0" anchor="t" anchorCtr="0">
              <a:spAutoFit/>
            </a:bodyPr>
            <a:lstStyle/>
            <a:p>
              <a:pPr algn="l"/>
              <a:r>
                <a:rPr lang="zh-Hant-TW" sz="1350" dirty="0">
                  <a:solidFill>
                    <a:schemeClr val="dk1"/>
                  </a:solidFill>
                  <a:latin typeface="+mn-lt"/>
                  <a:ea typeface="+mn-ea"/>
                  <a:cs typeface="+mn-cs"/>
                </a:rPr>
                <a:t>HAR 0% 不是孤立數字：它與 TCR 96.8%、FBR 3.2%（閘門 0.0% ／ 核准者 3.2%）、AC 100% 同一套測試集一起量出來。</a:t>
              </a:r>
            </a:p>
          </p:txBody>
        </p:sp>
        <p:sp>
          <p:nvSpPr>
            <p:cNvPr id="89" name="TextBox 89"/>
            <p:cNvSpPr txBox="1"/>
            <p:nvPr/>
          </p:nvSpPr>
          <p:spPr>
            <a:xfrm>
              <a:off x="679704" y="6176010"/>
              <a:ext cx="9178138"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模擬版 B1 把 LLM 講太差了，以真實版為準（3 次重跑不一致率 3.5%）；核准者為確定性模擬；測試集為自建合成資料。</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26758"/>
            <a:ext cx="6002750" cy="1130427"/>
            <a:chOff x="669798" y="726758"/>
            <a:chExt cx="6002750" cy="1130427"/>
          </a:xfrm>
        </p:grpSpPr>
        <p:sp>
          <p:nvSpPr>
            <p:cNvPr id="2" name="TextBox 2"/>
            <p:cNvSpPr txBox="1"/>
            <p:nvPr/>
          </p:nvSpPr>
          <p:spPr>
            <a:xfrm>
              <a:off x="669798" y="726758"/>
              <a:ext cx="6002750" cy="1130427"/>
            </a:xfrm>
            <a:prstGeom prst="rect">
              <a:avLst/>
            </a:prstGeom>
            <a:noFill/>
            <a:ln>
              <a:noFill/>
            </a:ln>
          </p:spPr>
          <p:txBody>
            <a:bodyPr wrap="none" lIns="0" tIns="0" rIns="0" bIns="0" anchor="t" anchorCtr="0">
              <a:spAutoFit/>
            </a:bodyPr>
            <a:lstStyle/>
            <a:p>
              <a:pPr algn="l">
                <a:lnSpc>
                  <a:spcPts val="4050"/>
                </a:lnSpc>
              </a:pPr>
              <a:r>
                <a:rPr lang="zh-Hant-TW" sz="3150" b="1" dirty="0">
                  <a:solidFill>
                    <a:schemeClr val="dk1"/>
                  </a:solidFill>
                  <a:latin typeface="+mj-lt"/>
                  <a:ea typeface="+mj-ea"/>
                  <a:cs typeface="+mj-cs"/>
                </a:rPr>
                <a:t xml:space="preserve">拿掉 G0，HAR 從 </a:t>
              </a:r>
              <a:r>
                <a:rPr lang="zh-Hant-TW" sz="3150" b="1" dirty="0">
                  <a:solidFill>
                    <a:schemeClr val="accent3"/>
                  </a:solidFill>
                  <a:latin typeface="+mj-lt"/>
                  <a:ea typeface="+mj-ea"/>
                  <a:cs typeface="+mj-cs"/>
                </a:rPr>
                <a:t>0%</a:t>
              </a:r>
              <a:r>
                <a:rPr lang="zh-Hant-TW" sz="3150" b="1" dirty="0">
                  <a:solidFill>
                    <a:schemeClr val="dk1"/>
                  </a:solidFill>
                  <a:latin typeface="+mj-lt"/>
                  <a:ea typeface="+mj-ea"/>
                  <a:cs typeface="+mj-cs"/>
                </a:rPr>
                <a:t xml:space="preserve"> 回到 </a:t>
              </a:r>
              <a:r>
                <a:rPr lang="zh-Hant-TW" sz="3150" b="1" dirty="0">
                  <a:solidFill>
                    <a:srgbClr val="FF6B6B"/>
                  </a:solidFill>
                  <a:latin typeface="+mj-lt"/>
                  <a:ea typeface="+mj-ea"/>
                  <a:cs typeface="+mj-cs"/>
                </a:rPr>
                <a:t>23.9%</a:t>
              </a:r>
              <a:br/>
              <a:r>
                <a:rPr lang="zh-Hant-TW" sz="3150" b="1" dirty="0">
                  <a:solidFill>
                    <a:schemeClr val="dk1"/>
                  </a:solidFill>
                  <a:latin typeface="+mj-lt"/>
                  <a:ea typeface="+mj-ea"/>
                  <a:cs typeface="+mj-cs"/>
                </a:rPr>
                <a:t xml:space="preserve">拿掉 G3，回到 </a:t>
              </a:r>
              <a:r>
                <a:rPr lang="zh-Hant-TW" sz="3150" b="1" dirty="0">
                  <a:solidFill>
                    <a:srgbClr val="FF6B6B"/>
                  </a:solidFill>
                  <a:latin typeface="+mj-lt"/>
                  <a:ea typeface="+mj-ea"/>
                  <a:cs typeface="+mj-cs"/>
                </a:rPr>
                <a:t>8.7%</a:t>
              </a:r>
            </a:p>
          </p:txBody>
        </p:sp>
      </p:grpSp>
      <p:grpSp>
        <p:nvGrpSpPr>
          <p:cNvPr id="27" name="Group 27"/>
          <p:cNvGrpSpPr/>
          <p:nvPr/>
        </p:nvGrpSpPr>
        <p:grpSpPr>
          <a:xfrm>
            <a:off x="1587856" y="1864042"/>
            <a:ext cx="5460644" cy="3822764"/>
            <a:chOff x="1587856" y="1864042"/>
            <a:chExt cx="5460644" cy="3822764"/>
          </a:xfrm>
        </p:grpSpPr>
        <p:grpSp>
          <p:nvGrpSpPr>
            <p:cNvPr id="22" name="Group 22"/>
            <p:cNvGrpSpPr/>
            <p:nvPr/>
          </p:nvGrpSpPr>
          <p:grpSpPr>
            <a:xfrm>
              <a:off x="1587856" y="1864042"/>
              <a:ext cx="5460644" cy="3251264"/>
              <a:chOff x="1587856" y="1864042"/>
              <a:chExt cx="5460644" cy="3251264"/>
            </a:xfrm>
          </p:grpSpPr>
          <p:sp>
            <p:nvSpPr>
              <p:cNvPr id="4" name="Line 4"/>
              <p:cNvSpPr/>
              <p:nvPr/>
            </p:nvSpPr>
            <p:spPr>
              <a:xfrm>
                <a:off x="1905000" y="4381500"/>
                <a:ext cx="5143500" cy="9525"/>
              </a:xfrm>
              <a:custGeom>
                <a:avLst/>
                <a:gdLst/>
                <a:ahLst/>
                <a:cxnLst/>
                <a:rect l="l" t="t" r="r" b="b"/>
                <a:pathLst>
                  <a:path w="5143500" h="9525">
                    <a:moveTo>
                      <a:pt x="0" y="0"/>
                    </a:moveTo>
                    <a:lnTo>
                      <a:pt x="5143500" y="0"/>
                    </a:lnTo>
                  </a:path>
                </a:pathLst>
              </a:custGeom>
              <a:noFill/>
              <a:ln w="9525">
                <a:solidFill>
                  <a:srgbClr val="1E2B42"/>
                </a:solidFill>
              </a:ln>
            </p:spPr>
          </p:sp>
          <p:sp>
            <p:nvSpPr>
              <p:cNvPr id="5" name="Line 5"/>
              <p:cNvSpPr/>
              <p:nvPr/>
            </p:nvSpPr>
            <p:spPr>
              <a:xfrm>
                <a:off x="1905000" y="3810000"/>
                <a:ext cx="5143500" cy="9525"/>
              </a:xfrm>
              <a:custGeom>
                <a:avLst/>
                <a:gdLst/>
                <a:ahLst/>
                <a:cxnLst/>
                <a:rect l="l" t="t" r="r" b="b"/>
                <a:pathLst>
                  <a:path w="5143500" h="9525">
                    <a:moveTo>
                      <a:pt x="0" y="0"/>
                    </a:moveTo>
                    <a:lnTo>
                      <a:pt x="5143500" y="0"/>
                    </a:lnTo>
                  </a:path>
                </a:pathLst>
              </a:custGeom>
              <a:noFill/>
              <a:ln w="9525">
                <a:solidFill>
                  <a:srgbClr val="1E2B42"/>
                </a:solidFill>
              </a:ln>
            </p:spPr>
          </p:sp>
          <p:sp>
            <p:nvSpPr>
              <p:cNvPr id="6" name="Line 6"/>
              <p:cNvSpPr/>
              <p:nvPr/>
            </p:nvSpPr>
            <p:spPr>
              <a:xfrm>
                <a:off x="1905000" y="3238500"/>
                <a:ext cx="5143500" cy="9525"/>
              </a:xfrm>
              <a:custGeom>
                <a:avLst/>
                <a:gdLst/>
                <a:ahLst/>
                <a:cxnLst/>
                <a:rect l="l" t="t" r="r" b="b"/>
                <a:pathLst>
                  <a:path w="5143500" h="9525">
                    <a:moveTo>
                      <a:pt x="0" y="0"/>
                    </a:moveTo>
                    <a:lnTo>
                      <a:pt x="5143500" y="0"/>
                    </a:lnTo>
                  </a:path>
                </a:pathLst>
              </a:custGeom>
              <a:noFill/>
              <a:ln w="9525">
                <a:solidFill>
                  <a:srgbClr val="1E2B42"/>
                </a:solidFill>
              </a:ln>
            </p:spPr>
          </p:sp>
          <p:sp>
            <p:nvSpPr>
              <p:cNvPr id="7" name="Line 7"/>
              <p:cNvSpPr/>
              <p:nvPr/>
            </p:nvSpPr>
            <p:spPr>
              <a:xfrm>
                <a:off x="1905000" y="2667000"/>
                <a:ext cx="5143500" cy="9525"/>
              </a:xfrm>
              <a:custGeom>
                <a:avLst/>
                <a:gdLst/>
                <a:ahLst/>
                <a:cxnLst/>
                <a:rect l="l" t="t" r="r" b="b"/>
                <a:pathLst>
                  <a:path w="5143500" h="9525">
                    <a:moveTo>
                      <a:pt x="0" y="0"/>
                    </a:moveTo>
                    <a:lnTo>
                      <a:pt x="5143500" y="0"/>
                    </a:lnTo>
                  </a:path>
                </a:pathLst>
              </a:custGeom>
              <a:noFill/>
              <a:ln w="9525">
                <a:solidFill>
                  <a:srgbClr val="1E2B42"/>
                </a:solidFill>
              </a:ln>
            </p:spPr>
          </p:sp>
          <p:sp>
            <p:nvSpPr>
              <p:cNvPr id="8" name="Line 8"/>
              <p:cNvSpPr/>
              <p:nvPr/>
            </p:nvSpPr>
            <p:spPr>
              <a:xfrm>
                <a:off x="1905000" y="2095500"/>
                <a:ext cx="5143500" cy="9525"/>
              </a:xfrm>
              <a:custGeom>
                <a:avLst/>
                <a:gdLst/>
                <a:ahLst/>
                <a:cxnLst/>
                <a:rect l="l" t="t" r="r" b="b"/>
                <a:pathLst>
                  <a:path w="5143500" h="9525">
                    <a:moveTo>
                      <a:pt x="0" y="0"/>
                    </a:moveTo>
                    <a:lnTo>
                      <a:pt x="5143500" y="0"/>
                    </a:lnTo>
                  </a:path>
                </a:pathLst>
              </a:custGeom>
              <a:noFill/>
              <a:ln w="9525">
                <a:solidFill>
                  <a:srgbClr val="1E2B42"/>
                </a:solidFill>
              </a:ln>
            </p:spPr>
          </p:sp>
          <p:sp>
            <p:nvSpPr>
              <p:cNvPr id="9" name="Line 9"/>
              <p:cNvSpPr/>
              <p:nvPr/>
            </p:nvSpPr>
            <p:spPr>
              <a:xfrm>
                <a:off x="1905000" y="4953000"/>
                <a:ext cx="5143500" cy="9525"/>
              </a:xfrm>
              <a:custGeom>
                <a:avLst/>
                <a:gdLst/>
                <a:ahLst/>
                <a:cxnLst/>
                <a:rect l="l" t="t" r="r" b="b"/>
                <a:pathLst>
                  <a:path w="5143500" h="9525">
                    <a:moveTo>
                      <a:pt x="0" y="0"/>
                    </a:moveTo>
                    <a:lnTo>
                      <a:pt x="5143500" y="0"/>
                    </a:lnTo>
                  </a:path>
                </a:pathLst>
              </a:custGeom>
              <a:noFill/>
              <a:ln w="9525">
                <a:solidFill>
                  <a:schemeClr val="accent6"/>
                </a:solidFill>
              </a:ln>
            </p:spPr>
          </p:sp>
          <p:sp>
            <p:nvSpPr>
              <p:cNvPr id="10" name="Line 10"/>
              <p:cNvSpPr/>
              <p:nvPr/>
            </p:nvSpPr>
            <p:spPr>
              <a:xfrm>
                <a:off x="1905000" y="2095500"/>
                <a:ext cx="9525" cy="2857500"/>
              </a:xfrm>
              <a:custGeom>
                <a:avLst/>
                <a:gdLst/>
                <a:ahLst/>
                <a:cxnLst/>
                <a:rect l="l" t="t" r="r" b="b"/>
                <a:pathLst>
                  <a:path w="9525" h="2857500">
                    <a:moveTo>
                      <a:pt x="0" y="0"/>
                    </a:moveTo>
                    <a:lnTo>
                      <a:pt x="0" y="2857500"/>
                    </a:lnTo>
                  </a:path>
                </a:pathLst>
              </a:custGeom>
              <a:noFill/>
              <a:ln w="9525">
                <a:solidFill>
                  <a:schemeClr val="accent6"/>
                </a:solidFill>
              </a:ln>
            </p:spPr>
          </p:sp>
          <p:sp>
            <p:nvSpPr>
              <p:cNvPr id="11" name="TextBox 11"/>
              <p:cNvSpPr txBox="1"/>
              <p:nvPr/>
            </p:nvSpPr>
            <p:spPr>
              <a:xfrm>
                <a:off x="1676705" y="4880610"/>
                <a:ext cx="101041"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0</a:t>
                </a:r>
              </a:p>
            </p:txBody>
          </p:sp>
          <p:sp>
            <p:nvSpPr>
              <p:cNvPr id="12" name="TextBox 12"/>
              <p:cNvSpPr txBox="1"/>
              <p:nvPr/>
            </p:nvSpPr>
            <p:spPr>
              <a:xfrm>
                <a:off x="1676705" y="4309110"/>
                <a:ext cx="101041"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5</a:t>
                </a:r>
              </a:p>
            </p:txBody>
          </p:sp>
          <p:sp>
            <p:nvSpPr>
              <p:cNvPr id="13" name="TextBox 13"/>
              <p:cNvSpPr txBox="1"/>
              <p:nvPr/>
            </p:nvSpPr>
            <p:spPr>
              <a:xfrm>
                <a:off x="1587856" y="3737610"/>
                <a:ext cx="189890"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10</a:t>
                </a:r>
              </a:p>
            </p:txBody>
          </p:sp>
          <p:sp>
            <p:nvSpPr>
              <p:cNvPr id="14" name="TextBox 14"/>
              <p:cNvSpPr txBox="1"/>
              <p:nvPr/>
            </p:nvSpPr>
            <p:spPr>
              <a:xfrm>
                <a:off x="1587856" y="3166110"/>
                <a:ext cx="189890"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15</a:t>
                </a:r>
              </a:p>
            </p:txBody>
          </p:sp>
          <p:sp>
            <p:nvSpPr>
              <p:cNvPr id="15" name="TextBox 15"/>
              <p:cNvSpPr txBox="1"/>
              <p:nvPr/>
            </p:nvSpPr>
            <p:spPr>
              <a:xfrm>
                <a:off x="1587856" y="2594610"/>
                <a:ext cx="189890"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20</a:t>
                </a:r>
              </a:p>
            </p:txBody>
          </p:sp>
          <p:sp>
            <p:nvSpPr>
              <p:cNvPr id="16" name="TextBox 16"/>
              <p:cNvSpPr txBox="1"/>
              <p:nvPr/>
            </p:nvSpPr>
            <p:spPr>
              <a:xfrm>
                <a:off x="1587856" y="2023110"/>
                <a:ext cx="189890" cy="234696"/>
              </a:xfrm>
              <a:prstGeom prst="rect">
                <a:avLst/>
              </a:prstGeom>
              <a:noFill/>
              <a:ln>
                <a:noFill/>
              </a:ln>
            </p:spPr>
            <p:txBody>
              <a:bodyPr wrap="none" lIns="0" tIns="0" rIns="0" bIns="0" anchor="t" anchorCtr="0">
                <a:spAutoFit/>
              </a:bodyPr>
              <a:lstStyle/>
              <a:p>
                <a:pPr algn="r"/>
                <a:r>
                  <a:rPr lang="zh-Hant-TW" sz="1200" dirty="0">
                    <a:solidFill>
                      <a:schemeClr val="accent5"/>
                    </a:solidFill>
                    <a:latin typeface="+mn-lt"/>
                    <a:ea typeface="+mn-ea"/>
                    <a:cs typeface="+mn-cs"/>
                  </a:rPr>
                  <a:t>25</a:t>
                </a:r>
              </a:p>
            </p:txBody>
          </p:sp>
          <p:sp>
            <p:nvSpPr>
              <p:cNvPr id="17" name="TextBox 17"/>
              <p:cNvSpPr txBox="1"/>
              <p:nvPr/>
            </p:nvSpPr>
            <p:spPr>
              <a:xfrm>
                <a:off x="2488437" y="4595812"/>
                <a:ext cx="547626" cy="440055"/>
              </a:xfrm>
              <a:prstGeom prst="rect">
                <a:avLst/>
              </a:prstGeom>
              <a:noFill/>
              <a:ln>
                <a:noFill/>
              </a:ln>
            </p:spPr>
            <p:txBody>
              <a:bodyPr wrap="none" lIns="0" tIns="0" rIns="0" bIns="0" anchor="t" anchorCtr="0">
                <a:spAutoFit/>
              </a:bodyPr>
              <a:lstStyle/>
              <a:p>
                <a:pPr algn="ctr"/>
                <a:r>
                  <a:rPr lang="zh-Hant-TW" sz="2250" b="1" dirty="0">
                    <a:solidFill>
                      <a:schemeClr val="accent3"/>
                    </a:solidFill>
                    <a:latin typeface="+mn-lt"/>
                    <a:ea typeface="+mn-ea"/>
                    <a:cs typeface="+mn-cs"/>
                  </a:rPr>
                  <a:t>0.0</a:t>
                </a:r>
              </a:p>
            </p:txBody>
          </p:sp>
          <p:sp>
            <p:nvSpPr>
              <p:cNvPr id="18" name="Rectangle 18"/>
              <p:cNvSpPr/>
              <p:nvPr/>
            </p:nvSpPr>
            <p:spPr>
              <a:xfrm>
                <a:off x="4019550" y="2221230"/>
                <a:ext cx="914400" cy="2731770"/>
              </a:xfrm>
              <a:prstGeom prst="rect">
                <a:avLst/>
              </a:prstGeom>
              <a:solidFill>
                <a:srgbClr val="FF6B6B"/>
              </a:solidFill>
              <a:ln>
                <a:noFill/>
              </a:ln>
            </p:spPr>
          </p:sp>
          <p:sp>
            <p:nvSpPr>
              <p:cNvPr id="19" name="TextBox 19"/>
              <p:cNvSpPr txBox="1"/>
              <p:nvPr/>
            </p:nvSpPr>
            <p:spPr>
              <a:xfrm>
                <a:off x="4115476" y="1864042"/>
                <a:ext cx="722547" cy="440055"/>
              </a:xfrm>
              <a:prstGeom prst="rect">
                <a:avLst/>
              </a:prstGeom>
              <a:noFill/>
              <a:ln>
                <a:noFill/>
              </a:ln>
            </p:spPr>
            <p:txBody>
              <a:bodyPr wrap="none" lIns="0" tIns="0" rIns="0" bIns="0" anchor="t" anchorCtr="0">
                <a:spAutoFit/>
              </a:bodyPr>
              <a:lstStyle/>
              <a:p>
                <a:pPr algn="ctr"/>
                <a:r>
                  <a:rPr lang="zh-Hant-TW" sz="2250" b="1" dirty="0">
                    <a:solidFill>
                      <a:srgbClr val="FF6B6B"/>
                    </a:solidFill>
                    <a:latin typeface="+mn-lt"/>
                    <a:ea typeface="+mn-ea"/>
                    <a:cs typeface="+mn-cs"/>
                  </a:rPr>
                  <a:t>23.9</a:t>
                </a:r>
              </a:p>
            </p:txBody>
          </p:sp>
          <p:sp>
            <p:nvSpPr>
              <p:cNvPr id="20" name="Rectangle 20"/>
              <p:cNvSpPr/>
              <p:nvPr/>
            </p:nvSpPr>
            <p:spPr>
              <a:xfrm>
                <a:off x="5734050" y="3958590"/>
                <a:ext cx="914400" cy="994410"/>
              </a:xfrm>
              <a:prstGeom prst="rect">
                <a:avLst/>
              </a:prstGeom>
              <a:solidFill>
                <a:srgbClr val="FF6B6B"/>
              </a:solidFill>
              <a:ln>
                <a:noFill/>
              </a:ln>
            </p:spPr>
          </p:sp>
          <p:sp>
            <p:nvSpPr>
              <p:cNvPr id="21" name="TextBox 21"/>
              <p:cNvSpPr txBox="1"/>
              <p:nvPr/>
            </p:nvSpPr>
            <p:spPr>
              <a:xfrm>
                <a:off x="5917437" y="3601402"/>
                <a:ext cx="547626" cy="440055"/>
              </a:xfrm>
              <a:prstGeom prst="rect">
                <a:avLst/>
              </a:prstGeom>
              <a:noFill/>
              <a:ln>
                <a:noFill/>
              </a:ln>
            </p:spPr>
            <p:txBody>
              <a:bodyPr wrap="none" lIns="0" tIns="0" rIns="0" bIns="0" anchor="t" anchorCtr="0">
                <a:spAutoFit/>
              </a:bodyPr>
              <a:lstStyle/>
              <a:p>
                <a:pPr algn="ctr"/>
                <a:r>
                  <a:rPr lang="zh-Hant-TW" sz="2250" b="1" dirty="0">
                    <a:solidFill>
                      <a:srgbClr val="FF6B6B"/>
                    </a:solidFill>
                    <a:latin typeface="+mn-lt"/>
                    <a:ea typeface="+mn-ea"/>
                    <a:cs typeface="+mn-cs"/>
                  </a:rPr>
                  <a:t>8.7</a:t>
                </a:r>
              </a:p>
            </p:txBody>
          </p:sp>
        </p:grpSp>
        <p:sp>
          <p:nvSpPr>
            <p:cNvPr id="23" name="TextBox 23"/>
            <p:cNvSpPr txBox="1"/>
            <p:nvPr/>
          </p:nvSpPr>
          <p:spPr>
            <a:xfrm>
              <a:off x="2209952" y="5166360"/>
              <a:ext cx="1104595" cy="234696"/>
            </a:xfrm>
            <a:prstGeom prst="rect">
              <a:avLst/>
            </a:prstGeom>
            <a:noFill/>
            <a:ln>
              <a:noFill/>
            </a:ln>
          </p:spPr>
          <p:txBody>
            <a:bodyPr wrap="none" lIns="0" tIns="0" rIns="0" bIns="0" anchor="t" anchorCtr="0">
              <a:spAutoFit/>
            </a:bodyPr>
            <a:lstStyle/>
            <a:p>
              <a:pPr algn="ctr"/>
              <a:r>
                <a:rPr lang="zh-Hant-TW" sz="1200" dirty="0">
                  <a:solidFill>
                    <a:schemeClr val="accent5"/>
                  </a:solidFill>
                  <a:latin typeface="+mn-lt"/>
                  <a:ea typeface="+mn-ea"/>
                  <a:cs typeface="+mn-cs"/>
                </a:rPr>
                <a:t>B3 完整五關卡</a:t>
              </a:r>
            </a:p>
          </p:txBody>
        </p:sp>
        <p:sp>
          <p:nvSpPr>
            <p:cNvPr id="24" name="TextBox 24"/>
            <p:cNvSpPr txBox="1"/>
            <p:nvPr/>
          </p:nvSpPr>
          <p:spPr>
            <a:xfrm>
              <a:off x="3698291" y="5166360"/>
              <a:ext cx="1556918" cy="234696"/>
            </a:xfrm>
            <a:prstGeom prst="rect">
              <a:avLst/>
            </a:prstGeom>
            <a:noFill/>
            <a:ln>
              <a:noFill/>
            </a:ln>
          </p:spPr>
          <p:txBody>
            <a:bodyPr wrap="none" lIns="0" tIns="0" rIns="0" bIns="0" anchor="t" anchorCtr="0">
              <a:spAutoFit/>
            </a:bodyPr>
            <a:lstStyle/>
            <a:p>
              <a:pPr algn="ctr"/>
              <a:r>
                <a:rPr lang="zh-Hant-TW" sz="1200" dirty="0">
                  <a:solidFill>
                    <a:schemeClr val="accent5"/>
                  </a:solidFill>
                  <a:latin typeface="+mn-lt"/>
                  <a:ea typeface="+mn-ea"/>
                  <a:cs typeface="+mn-cs"/>
                </a:rPr>
                <a:t>B3−G0 拿掉來源信任</a:t>
              </a:r>
            </a:p>
          </p:txBody>
        </p:sp>
        <p:sp>
          <p:nvSpPr>
            <p:cNvPr id="25" name="TextBox 25"/>
            <p:cNvSpPr txBox="1"/>
            <p:nvPr/>
          </p:nvSpPr>
          <p:spPr>
            <a:xfrm>
              <a:off x="5412791" y="5166360"/>
              <a:ext cx="1556918" cy="234696"/>
            </a:xfrm>
            <a:prstGeom prst="rect">
              <a:avLst/>
            </a:prstGeom>
            <a:noFill/>
            <a:ln>
              <a:noFill/>
            </a:ln>
          </p:spPr>
          <p:txBody>
            <a:bodyPr wrap="none" lIns="0" tIns="0" rIns="0" bIns="0" anchor="t" anchorCtr="0">
              <a:spAutoFit/>
            </a:bodyPr>
            <a:lstStyle/>
            <a:p>
              <a:pPr algn="ctr"/>
              <a:r>
                <a:rPr lang="zh-Hant-TW" sz="1200" dirty="0">
                  <a:solidFill>
                    <a:schemeClr val="accent5"/>
                  </a:solidFill>
                  <a:latin typeface="+mn-lt"/>
                  <a:ea typeface="+mn-ea"/>
                  <a:cs typeface="+mn-cs"/>
                </a:rPr>
                <a:t>B3−G3 拿掉後果預演</a:t>
              </a:r>
            </a:p>
          </p:txBody>
        </p:sp>
        <p:sp>
          <p:nvSpPr>
            <p:cNvPr id="26" name="TextBox 26"/>
            <p:cNvSpPr txBox="1"/>
            <p:nvPr/>
          </p:nvSpPr>
          <p:spPr>
            <a:xfrm>
              <a:off x="1898904" y="5452110"/>
              <a:ext cx="1667866"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HAR 有害放行率（%）</a:t>
              </a:r>
            </a:p>
          </p:txBody>
        </p:sp>
      </p:grpSp>
      <p:grpSp>
        <p:nvGrpSpPr>
          <p:cNvPr id="34" name="Group 34"/>
          <p:cNvGrpSpPr/>
          <p:nvPr/>
        </p:nvGrpSpPr>
        <p:grpSpPr>
          <a:xfrm>
            <a:off x="7725156" y="1930718"/>
            <a:ext cx="3781044" cy="3331083"/>
            <a:chOff x="7725156" y="1930718"/>
            <a:chExt cx="3781044" cy="3331083"/>
          </a:xfrm>
        </p:grpSpPr>
        <p:sp>
          <p:nvSpPr>
            <p:cNvPr id="28" name="TextBox 28"/>
            <p:cNvSpPr txBox="1"/>
            <p:nvPr/>
          </p:nvSpPr>
          <p:spPr>
            <a:xfrm>
              <a:off x="7727442" y="1930718"/>
              <a:ext cx="2163597" cy="264033"/>
            </a:xfrm>
            <a:prstGeom prst="rect">
              <a:avLst/>
            </a:prstGeom>
            <a:noFill/>
            <a:ln>
              <a:noFill/>
            </a:ln>
          </p:spPr>
          <p:txBody>
            <a:bodyPr wrap="none" lIns="0" tIns="0" rIns="0" bIns="0" anchor="t" anchorCtr="0">
              <a:spAutoFit/>
            </a:bodyPr>
            <a:lstStyle/>
            <a:p>
              <a:pPr algn="l"/>
              <a:r>
                <a:rPr lang="zh-Hant-TW" sz="1350" spc="112" dirty="0">
                  <a:solidFill>
                    <a:schemeClr val="accent5"/>
                  </a:solidFill>
                  <a:latin typeface="+mn-lt"/>
                  <a:ea typeface="+mn-ea"/>
                  <a:cs typeface="+mn-cs"/>
                </a:rPr>
                <a:t>拿掉這一關，會發生什麼</a:t>
              </a:r>
            </a:p>
          </p:txBody>
        </p:sp>
        <p:sp>
          <p:nvSpPr>
            <p:cNvPr id="29" name="Line 29"/>
            <p:cNvSpPr/>
            <p:nvPr/>
          </p:nvSpPr>
          <p:spPr>
            <a:xfrm>
              <a:off x="7734300" y="2247900"/>
              <a:ext cx="3771900" cy="9525"/>
            </a:xfrm>
            <a:custGeom>
              <a:avLst/>
              <a:gdLst/>
              <a:ahLst/>
              <a:cxnLst/>
              <a:rect l="l" t="t" r="r" b="b"/>
              <a:pathLst>
                <a:path w="3771900" h="9525">
                  <a:moveTo>
                    <a:pt x="0" y="0"/>
                  </a:moveTo>
                  <a:lnTo>
                    <a:pt x="3771900" y="0"/>
                  </a:lnTo>
                </a:path>
              </a:pathLst>
            </a:custGeom>
            <a:noFill/>
            <a:ln w="9525">
              <a:solidFill>
                <a:schemeClr val="accent6"/>
              </a:solidFill>
            </a:ln>
          </p:spPr>
        </p:sp>
        <p:sp>
          <p:nvSpPr>
            <p:cNvPr id="30" name="TextBox 30"/>
            <p:cNvSpPr txBox="1"/>
            <p:nvPr/>
          </p:nvSpPr>
          <p:spPr>
            <a:xfrm>
              <a:off x="7725156" y="2453640"/>
              <a:ext cx="906719" cy="352044"/>
            </a:xfrm>
            <a:prstGeom prst="rect">
              <a:avLst/>
            </a:prstGeom>
            <a:noFill/>
            <a:ln>
              <a:noFill/>
            </a:ln>
          </p:spPr>
          <p:txBody>
            <a:bodyPr wrap="none" lIns="0" tIns="0" rIns="0" bIns="0" anchor="t" anchorCtr="0">
              <a:spAutoFit/>
            </a:bodyPr>
            <a:lstStyle/>
            <a:p>
              <a:pPr algn="l"/>
              <a:r>
                <a:rPr lang="zh-Hant-TW" sz="1800" b="1" dirty="0">
                  <a:solidFill>
                    <a:srgbClr val="FF6B6B"/>
                  </a:solidFill>
                  <a:latin typeface="+mn-lt"/>
                  <a:ea typeface="+mn-ea"/>
                  <a:cs typeface="+mn-cs"/>
                </a:rPr>
                <a:t>拿掉 G0</a:t>
              </a:r>
            </a:p>
          </p:txBody>
        </p:sp>
        <p:sp>
          <p:nvSpPr>
            <p:cNvPr id="31" name="TextBox 31"/>
            <p:cNvSpPr txBox="1"/>
            <p:nvPr/>
          </p:nvSpPr>
          <p:spPr>
            <a:xfrm>
              <a:off x="7727442" y="2864168"/>
              <a:ext cx="2071116" cy="797433"/>
            </a:xfrm>
            <a:prstGeom prst="rect">
              <a:avLst/>
            </a:prstGeom>
            <a:noFill/>
            <a:ln>
              <a:noFill/>
            </a:ln>
          </p:spPr>
          <p:txBody>
            <a:bodyPr wrap="none" lIns="0" tIns="0" rIns="0" bIns="0" anchor="t" anchorCtr="0">
              <a:spAutoFit/>
            </a:bodyPr>
            <a:lstStyle/>
            <a:p>
              <a:pPr algn="l">
                <a:lnSpc>
                  <a:spcPts val="2100"/>
                </a:lnSpc>
              </a:pPr>
              <a:r>
                <a:rPr lang="zh-Hant-TW" sz="1350" dirty="0">
                  <a:solidFill>
                    <a:schemeClr val="accent5"/>
                  </a:solidFill>
                  <a:latin typeface="+mn-lt"/>
                  <a:ea typeface="+mn-ea"/>
                  <a:cs typeface="+mn-cs"/>
                </a:rPr>
                <a:t>注入的假退費、SIM 補發與</a:t>
              </a:r>
              <a:br/>
              <a:r>
                <a:rPr lang="zh-Hant-TW" sz="1350" dirty="0">
                  <a:solidFill>
                    <a:schemeClr val="accent5"/>
                  </a:solidFill>
                  <a:latin typeface="+mn-lt"/>
                  <a:ea typeface="+mn-ea"/>
                  <a:cs typeface="+mn-cs"/>
                </a:rPr>
                <a:t>記憶投毒的停話全變成例行</a:t>
              </a:r>
              <a:br/>
              <a:r>
                <a:rPr lang="zh-Hant-TW" sz="1350" dirty="0">
                  <a:solidFill>
                    <a:schemeClr val="accent5"/>
                  </a:solidFill>
                  <a:latin typeface="+mn-lt"/>
                  <a:ea typeface="+mn-ea"/>
                  <a:cs typeface="+mn-cs"/>
                </a:rPr>
                <a:t>核准案，ESB 攔截率歸零。</a:t>
              </a:r>
            </a:p>
          </p:txBody>
        </p:sp>
        <p:sp>
          <p:nvSpPr>
            <p:cNvPr id="32" name="TextBox 32"/>
            <p:cNvSpPr txBox="1"/>
            <p:nvPr/>
          </p:nvSpPr>
          <p:spPr>
            <a:xfrm>
              <a:off x="7725156" y="4053840"/>
              <a:ext cx="906719" cy="352044"/>
            </a:xfrm>
            <a:prstGeom prst="rect">
              <a:avLst/>
            </a:prstGeom>
            <a:noFill/>
            <a:ln>
              <a:noFill/>
            </a:ln>
          </p:spPr>
          <p:txBody>
            <a:bodyPr wrap="none" lIns="0" tIns="0" rIns="0" bIns="0" anchor="t" anchorCtr="0">
              <a:spAutoFit/>
            </a:bodyPr>
            <a:lstStyle/>
            <a:p>
              <a:pPr algn="l"/>
              <a:r>
                <a:rPr lang="zh-Hant-TW" sz="1800" b="1" dirty="0">
                  <a:solidFill>
                    <a:srgbClr val="FF6B6B"/>
                  </a:solidFill>
                  <a:latin typeface="+mn-lt"/>
                  <a:ea typeface="+mn-ea"/>
                  <a:cs typeface="+mn-cs"/>
                </a:rPr>
                <a:t>拿掉 G3</a:t>
              </a:r>
            </a:p>
          </p:txBody>
        </p:sp>
        <p:sp>
          <p:nvSpPr>
            <p:cNvPr id="33" name="TextBox 33"/>
            <p:cNvSpPr txBox="1"/>
            <p:nvPr/>
          </p:nvSpPr>
          <p:spPr>
            <a:xfrm>
              <a:off x="7727442" y="4464368"/>
              <a:ext cx="2071116" cy="797433"/>
            </a:xfrm>
            <a:prstGeom prst="rect">
              <a:avLst/>
            </a:prstGeom>
            <a:noFill/>
            <a:ln>
              <a:noFill/>
            </a:ln>
          </p:spPr>
          <p:txBody>
            <a:bodyPr wrap="none" lIns="0" tIns="0" rIns="0" bIns="0" anchor="t" anchorCtr="0">
              <a:spAutoFit/>
            </a:bodyPr>
            <a:lstStyle/>
            <a:p>
              <a:pPr algn="l">
                <a:lnSpc>
                  <a:spcPts val="2100"/>
                </a:lnSpc>
              </a:pPr>
              <a:r>
                <a:rPr lang="zh-Hant-TW" sz="1350" dirty="0">
                  <a:solidFill>
                    <a:schemeClr val="accent5"/>
                  </a:solidFill>
                  <a:latin typeface="+mn-lt"/>
                  <a:ea typeface="+mn-ea"/>
                  <a:cs typeface="+mn-cs"/>
                </a:rPr>
                <a:t>低報筆數的批次匯出與連鎖</a:t>
              </a:r>
              <a:br/>
              <a:r>
                <a:rPr lang="zh-Hant-TW" sz="1350" dirty="0">
                  <a:solidFill>
                    <a:schemeClr val="accent5"/>
                  </a:solidFill>
                  <a:latin typeface="+mn-lt"/>
                  <a:ea typeface="+mn-ea"/>
                  <a:cs typeface="+mn-cs"/>
                </a:rPr>
                <a:t>斷話的退費騙過申報審查，</a:t>
              </a:r>
              <a:br/>
              <a:r>
                <a:rPr lang="zh-Hant-TW" sz="1350" dirty="0">
                  <a:solidFill>
                    <a:schemeClr val="accent5"/>
                  </a:solidFill>
                  <a:latin typeface="+mn-lt"/>
                  <a:ea typeface="+mn-ea"/>
                  <a:cs typeface="+mn-cs"/>
                </a:rPr>
                <a:t>範圍逃逸不再被實測抓到。</a:t>
              </a:r>
            </a:p>
          </p:txBody>
        </p:sp>
      </p:grpSp>
      <p:grpSp>
        <p:nvGrpSpPr>
          <p:cNvPr id="37" name="Group 37"/>
          <p:cNvGrpSpPr/>
          <p:nvPr/>
        </p:nvGrpSpPr>
        <p:grpSpPr>
          <a:xfrm>
            <a:off x="676656" y="5806440"/>
            <a:ext cx="8983980" cy="604266"/>
            <a:chOff x="676656" y="5806440"/>
            <a:chExt cx="8983980" cy="604266"/>
          </a:xfrm>
        </p:grpSpPr>
        <p:sp>
          <p:nvSpPr>
            <p:cNvPr id="35" name="TextBox 35"/>
            <p:cNvSpPr txBox="1"/>
            <p:nvPr/>
          </p:nvSpPr>
          <p:spPr>
            <a:xfrm>
              <a:off x="676656" y="5806440"/>
              <a:ext cx="8983980"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消融開關長在</a:t>
              </a:r>
              <a:r>
                <a:rPr lang="zh-Hant-TW" sz="1800" dirty="0">
                  <a:solidFill>
                    <a:schemeClr val="accent1"/>
                  </a:solidFill>
                  <a:latin typeface="+mn-lt"/>
                  <a:ea typeface="+mn-ea"/>
                  <a:cs typeface="+mn-cs"/>
                </a:rPr>
                <a:t>正式路徑</a:t>
              </a:r>
              <a:r>
                <a:rPr lang="zh-Hant-TW" sz="1800" dirty="0">
                  <a:solidFill>
                    <a:schemeClr val="dk1"/>
                  </a:solidFill>
                  <a:latin typeface="+mn-lt"/>
                  <a:ea typeface="+mn-ea"/>
                  <a:cs typeface="+mn-cs"/>
                </a:rPr>
                <a:t>上：關掉來源信任或後果預演的那個開關，就是對照組本身。</a:t>
              </a:r>
            </a:p>
          </p:txBody>
        </p:sp>
        <p:sp>
          <p:nvSpPr>
            <p:cNvPr id="36" name="TextBox 36"/>
            <p:cNvSpPr txBox="1"/>
            <p:nvPr/>
          </p:nvSpPr>
          <p:spPr>
            <a:xfrm>
              <a:off x="679704" y="6176010"/>
              <a:ext cx="6102401"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對照組不是另寫一套模擬器，而是同一條管線關掉一關 —— 這是消融數字可信的前提。</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9798" y="764858"/>
            <a:ext cx="3424428" cy="616077"/>
            <a:chOff x="669798" y="764858"/>
            <a:chExt cx="3424428" cy="616077"/>
          </a:xfrm>
        </p:grpSpPr>
        <p:sp>
          <p:nvSpPr>
            <p:cNvPr id="2" name="TextBox 2"/>
            <p:cNvSpPr txBox="1"/>
            <p:nvPr/>
          </p:nvSpPr>
          <p:spPr>
            <a:xfrm>
              <a:off x="669798" y="764858"/>
              <a:ext cx="3424428" cy="616077"/>
            </a:xfrm>
            <a:prstGeom prst="rect">
              <a:avLst/>
            </a:prstGeom>
            <a:noFill/>
            <a:ln>
              <a:noFill/>
            </a:ln>
          </p:spPr>
          <p:txBody>
            <a:bodyPr wrap="none" lIns="0" tIns="0" rIns="0" bIns="0" anchor="t" anchorCtr="0">
              <a:spAutoFit/>
            </a:bodyPr>
            <a:lstStyle/>
            <a:p>
              <a:pPr algn="l"/>
              <a:r>
                <a:rPr lang="zh-Hant-TW" sz="3150" b="1" dirty="0">
                  <a:solidFill>
                    <a:schemeClr val="dk1"/>
                  </a:solidFill>
                  <a:latin typeface="+mj-lt"/>
                  <a:ea typeface="+mj-ea"/>
                  <a:cs typeface="+mj-cs"/>
                </a:rPr>
                <a:t>這一頁不放在附錄</a:t>
              </a:r>
            </a:p>
          </p:txBody>
        </p:sp>
      </p:grpSp>
      <p:grpSp>
        <p:nvGrpSpPr>
          <p:cNvPr id="5" name="Group 5"/>
          <p:cNvGrpSpPr/>
          <p:nvPr/>
        </p:nvGrpSpPr>
        <p:grpSpPr>
          <a:xfrm>
            <a:off x="673608" y="1474470"/>
            <a:ext cx="6486144" cy="469392"/>
            <a:chOff x="673608" y="1474470"/>
            <a:chExt cx="6486144" cy="469392"/>
          </a:xfrm>
        </p:grpSpPr>
        <p:sp>
          <p:nvSpPr>
            <p:cNvPr id="4" name="TextBox 4"/>
            <p:cNvSpPr txBox="1"/>
            <p:nvPr/>
          </p:nvSpPr>
          <p:spPr>
            <a:xfrm>
              <a:off x="673608" y="1474470"/>
              <a:ext cx="6486144" cy="469392"/>
            </a:xfrm>
            <a:prstGeom prst="rect">
              <a:avLst/>
            </a:prstGeom>
            <a:noFill/>
            <a:ln>
              <a:noFill/>
            </a:ln>
          </p:spPr>
          <p:txBody>
            <a:bodyPr wrap="none" lIns="0" tIns="0" rIns="0" bIns="0" anchor="t" anchorCtr="0">
              <a:spAutoFit/>
            </a:bodyPr>
            <a:lstStyle/>
            <a:p>
              <a:pPr algn="l"/>
              <a:r>
                <a:rPr lang="zh-Hant-TW" sz="2400" dirty="0">
                  <a:solidFill>
                    <a:schemeClr val="accent5"/>
                  </a:solidFill>
                  <a:latin typeface="+mn-lt"/>
                  <a:ea typeface="+mn-ea"/>
                  <a:cs typeface="+mn-cs"/>
                </a:rPr>
                <a:t>每一條限制在程式碼裡都有對應的常數或測試</a:t>
              </a:r>
            </a:p>
          </p:txBody>
        </p:sp>
      </p:grpSp>
      <p:grpSp>
        <p:nvGrpSpPr>
          <p:cNvPr id="20" name="Group 20"/>
          <p:cNvGrpSpPr/>
          <p:nvPr/>
        </p:nvGrpSpPr>
        <p:grpSpPr>
          <a:xfrm>
            <a:off x="685800" y="2205990"/>
            <a:ext cx="10820400" cy="3133344"/>
            <a:chOff x="685800" y="2205990"/>
            <a:chExt cx="10820400" cy="3133344"/>
          </a:xfrm>
        </p:grpSpPr>
        <p:sp>
          <p:nvSpPr>
            <p:cNvPr id="6" name="Rectangle 6"/>
            <p:cNvSpPr/>
            <p:nvPr/>
          </p:nvSpPr>
          <p:spPr>
            <a:xfrm>
              <a:off x="685800" y="2324100"/>
              <a:ext cx="95250" cy="95250"/>
            </a:xfrm>
            <a:prstGeom prst="rect">
              <a:avLst/>
            </a:prstGeom>
            <a:solidFill>
              <a:srgbClr val="94A5BC"/>
            </a:solidFill>
            <a:ln>
              <a:noFill/>
            </a:ln>
          </p:spPr>
        </p:sp>
        <p:sp>
          <p:nvSpPr>
            <p:cNvPr id="7" name="TextBox 7"/>
            <p:cNvSpPr txBox="1"/>
            <p:nvPr/>
          </p:nvSpPr>
          <p:spPr>
            <a:xfrm>
              <a:off x="981456" y="2205990"/>
              <a:ext cx="6036755"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Demo 中的電信後台為</a:t>
              </a:r>
              <a:r>
                <a:rPr lang="zh-Hant-TW" sz="1800" dirty="0">
                  <a:solidFill>
                    <a:schemeClr val="accent1"/>
                  </a:solidFill>
                  <a:latin typeface="+mn-lt"/>
                  <a:ea typeface="+mn-ea"/>
                  <a:cs typeface="+mn-cs"/>
                </a:rPr>
                <a:t>影子環境</a:t>
              </a:r>
              <a:r>
                <a:rPr lang="zh-Hant-TW" sz="1800" dirty="0">
                  <a:solidFill>
                    <a:schemeClr val="dk1"/>
                  </a:solidFill>
                  <a:latin typeface="+mn-lt"/>
                  <a:ea typeface="+mn-ea"/>
                  <a:cs typeface="+mn-cs"/>
                </a:rPr>
                <a:t>，非任何真實營運系統。</a:t>
              </a:r>
            </a:p>
          </p:txBody>
        </p:sp>
        <p:sp>
          <p:nvSpPr>
            <p:cNvPr id="8" name="Line 8"/>
            <p:cNvSpPr/>
            <p:nvPr/>
          </p:nvSpPr>
          <p:spPr>
            <a:xfrm>
              <a:off x="685800" y="2609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9" name="Rectangle 9"/>
            <p:cNvSpPr/>
            <p:nvPr/>
          </p:nvSpPr>
          <p:spPr>
            <a:xfrm>
              <a:off x="685800" y="2838450"/>
              <a:ext cx="95250" cy="95250"/>
            </a:xfrm>
            <a:prstGeom prst="rect">
              <a:avLst/>
            </a:prstGeom>
            <a:solidFill>
              <a:srgbClr val="94A5BC"/>
            </a:solidFill>
            <a:ln>
              <a:noFill/>
            </a:ln>
          </p:spPr>
        </p:sp>
        <p:sp>
          <p:nvSpPr>
            <p:cNvPr id="10" name="TextBox 10"/>
            <p:cNvSpPr txBox="1"/>
            <p:nvPr/>
          </p:nvSpPr>
          <p:spPr>
            <a:xfrm>
              <a:off x="981456" y="2720340"/>
              <a:ext cx="4622292"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測試集為</a:t>
              </a:r>
              <a:r>
                <a:rPr lang="zh-Hant-TW" sz="1800" dirty="0">
                  <a:solidFill>
                    <a:schemeClr val="accent1"/>
                  </a:solidFill>
                  <a:latin typeface="+mn-lt"/>
                  <a:ea typeface="+mn-ea"/>
                  <a:cs typeface="+mn-cs"/>
                </a:rPr>
                <a:t>自建合成資料</a:t>
              </a:r>
              <a:r>
                <a:rPr lang="zh-Hant-TW" sz="1800" dirty="0">
                  <a:solidFill>
                    <a:schemeClr val="dk1"/>
                  </a:solidFill>
                  <a:latin typeface="+mn-lt"/>
                  <a:ea typeface="+mn-ea"/>
                  <a:cs typeface="+mn-cs"/>
                </a:rPr>
                <a:t>，非真實客服紀錄。</a:t>
              </a:r>
            </a:p>
          </p:txBody>
        </p:sp>
        <p:sp>
          <p:nvSpPr>
            <p:cNvPr id="11" name="Line 11"/>
            <p:cNvSpPr/>
            <p:nvPr/>
          </p:nvSpPr>
          <p:spPr>
            <a:xfrm>
              <a:off x="685800" y="31242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2" name="Rectangle 12"/>
            <p:cNvSpPr/>
            <p:nvPr/>
          </p:nvSpPr>
          <p:spPr>
            <a:xfrm>
              <a:off x="685800" y="3352800"/>
              <a:ext cx="95250" cy="95250"/>
            </a:xfrm>
            <a:prstGeom prst="rect">
              <a:avLst/>
            </a:prstGeom>
            <a:solidFill>
              <a:srgbClr val="94A5BC"/>
            </a:solidFill>
            <a:ln>
              <a:noFill/>
            </a:ln>
          </p:spPr>
        </p:sp>
        <p:sp>
          <p:nvSpPr>
            <p:cNvPr id="13" name="TextBox 13"/>
            <p:cNvSpPr txBox="1"/>
            <p:nvPr/>
          </p:nvSpPr>
          <p:spPr>
            <a:xfrm>
              <a:off x="981456" y="3234690"/>
              <a:ext cx="9482328" cy="713994"/>
            </a:xfrm>
            <a:prstGeom prst="rect">
              <a:avLst/>
            </a:prstGeom>
            <a:noFill/>
            <a:ln>
              <a:noFill/>
            </a:ln>
          </p:spPr>
          <p:txBody>
            <a:bodyPr wrap="none" lIns="0" tIns="0" rIns="0" bIns="0" anchor="t" anchorCtr="0">
              <a:spAutoFit/>
            </a:bodyPr>
            <a:lstStyle/>
            <a:p>
              <a:pPr algn="l">
                <a:lnSpc>
                  <a:spcPts val="2850"/>
                </a:lnSpc>
              </a:pPr>
              <a:r>
                <a:rPr lang="zh-Hant-TW" sz="1800" dirty="0">
                  <a:solidFill>
                    <a:schemeClr val="dk1"/>
                  </a:solidFill>
                  <a:latin typeface="+mn-lt"/>
                  <a:ea typeface="+mn-ea"/>
                  <a:cs typeface="+mn-cs"/>
                </a:rPr>
                <a:t>B1 有</a:t>
              </a:r>
              <a:r>
                <a:rPr lang="zh-Hant-TW" sz="1800" dirty="0">
                  <a:solidFill>
                    <a:schemeClr val="accent1"/>
                  </a:solidFill>
                  <a:latin typeface="+mn-lt"/>
                  <a:ea typeface="+mn-ea"/>
                  <a:cs typeface="+mn-cs"/>
                </a:rPr>
                <a:t>模擬版</a:t>
              </a:r>
              <a:r>
                <a:rPr lang="zh-Hant-TW" sz="1800" dirty="0">
                  <a:solidFill>
                    <a:schemeClr val="dk1"/>
                  </a:solidFill>
                  <a:latin typeface="+mn-lt"/>
                  <a:ea typeface="+mn-ea"/>
                  <a:cs typeface="+mn-cs"/>
                </a:rPr>
                <a:t>與真實 gpt-4o-mini 版（142 條 × 3 次，不一致率 3.5%），對外以真實版為準；</a:t>
              </a:r>
              <a:br/>
              <a:r>
                <a:rPr lang="zh-Hant-TW" sz="1800" dirty="0">
                  <a:solidFill>
                    <a:schemeClr val="dk1"/>
                  </a:solidFill>
                  <a:latin typeface="+mn-lt"/>
                  <a:ea typeface="+mn-ea"/>
                  <a:cs typeface="+mn-cs"/>
                </a:rPr>
                <a:t>核准者為確定性模擬。</a:t>
              </a:r>
            </a:p>
          </p:txBody>
        </p:sp>
        <p:sp>
          <p:nvSpPr>
            <p:cNvPr id="14" name="Line 14"/>
            <p:cNvSpPr/>
            <p:nvPr/>
          </p:nvSpPr>
          <p:spPr>
            <a:xfrm>
              <a:off x="685800" y="4000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5" name="Rectangle 15"/>
            <p:cNvSpPr/>
            <p:nvPr/>
          </p:nvSpPr>
          <p:spPr>
            <a:xfrm>
              <a:off x="685800" y="4229100"/>
              <a:ext cx="95250" cy="95250"/>
            </a:xfrm>
            <a:prstGeom prst="rect">
              <a:avLst/>
            </a:prstGeom>
            <a:solidFill>
              <a:srgbClr val="94A5BC"/>
            </a:solidFill>
            <a:ln>
              <a:noFill/>
            </a:ln>
          </p:spPr>
        </p:sp>
        <p:sp>
          <p:nvSpPr>
            <p:cNvPr id="16" name="TextBox 16"/>
            <p:cNvSpPr txBox="1"/>
            <p:nvPr/>
          </p:nvSpPr>
          <p:spPr>
            <a:xfrm>
              <a:off x="981456" y="4110990"/>
              <a:ext cx="801471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所有數字</a:t>
              </a:r>
              <a:r>
                <a:rPr lang="zh-Hant-TW" sz="1800" dirty="0">
                  <a:solidFill>
                    <a:schemeClr val="accent1"/>
                  </a:solidFill>
                  <a:latin typeface="+mn-lt"/>
                  <a:ea typeface="+mn-ea"/>
                  <a:cs typeface="+mn-cs"/>
                </a:rPr>
                <a:t>未經任何企業實地驗證</a:t>
              </a:r>
              <a:r>
                <a:rPr lang="zh-Hant-TW" sz="1800" dirty="0">
                  <a:solidFill>
                    <a:schemeClr val="dk1"/>
                  </a:solidFill>
                  <a:latin typeface="+mn-lt"/>
                  <a:ea typeface="+mn-ea"/>
                  <a:cs typeface="+mn-cs"/>
                </a:rPr>
                <a:t>；不宣稱與中華電信有任何既有合作關係。</a:t>
              </a:r>
            </a:p>
          </p:txBody>
        </p:sp>
        <p:sp>
          <p:nvSpPr>
            <p:cNvPr id="17" name="Line 17"/>
            <p:cNvSpPr/>
            <p:nvPr/>
          </p:nvSpPr>
          <p:spPr>
            <a:xfrm>
              <a:off x="685800" y="4514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8" name="Rectangle 18"/>
            <p:cNvSpPr/>
            <p:nvPr/>
          </p:nvSpPr>
          <p:spPr>
            <a:xfrm>
              <a:off x="685800" y="4743450"/>
              <a:ext cx="95250" cy="95250"/>
            </a:xfrm>
            <a:prstGeom prst="rect">
              <a:avLst/>
            </a:prstGeom>
            <a:solidFill>
              <a:srgbClr val="94A5BC"/>
            </a:solidFill>
            <a:ln>
              <a:noFill/>
            </a:ln>
          </p:spPr>
        </p:sp>
        <p:sp>
          <p:nvSpPr>
            <p:cNvPr id="19" name="TextBox 19"/>
            <p:cNvSpPr txBox="1"/>
            <p:nvPr/>
          </p:nvSpPr>
          <p:spPr>
            <a:xfrm>
              <a:off x="981456" y="4625340"/>
              <a:ext cx="9093708" cy="713994"/>
            </a:xfrm>
            <a:prstGeom prst="rect">
              <a:avLst/>
            </a:prstGeom>
            <a:noFill/>
            <a:ln>
              <a:noFill/>
            </a:ln>
          </p:spPr>
          <p:txBody>
            <a:bodyPr wrap="none" lIns="0" tIns="0" rIns="0" bIns="0" anchor="t" anchorCtr="0">
              <a:spAutoFit/>
            </a:bodyPr>
            <a:lstStyle/>
            <a:p>
              <a:pPr algn="l">
                <a:lnSpc>
                  <a:spcPts val="2850"/>
                </a:lnSpc>
              </a:pPr>
              <a:r>
                <a:rPr lang="zh-Hant-TW" sz="1800" dirty="0">
                  <a:solidFill>
                    <a:schemeClr val="dk1"/>
                  </a:solidFill>
                  <a:latin typeface="+mn-lt"/>
                  <a:ea typeface="+mn-ea"/>
                  <a:cs typeface="+mn-cs"/>
                </a:rPr>
                <a:t>公開 benchmark：已用 AgentDojo 重跑來源信任一條規則（30 案），只驗證六關之一；</a:t>
              </a:r>
              <a:br/>
              <a:r>
                <a:rPr lang="zh-Hant-TW" sz="1800" dirty="0">
                  <a:solidFill>
                    <a:schemeClr val="dk1"/>
                  </a:solidFill>
                  <a:latin typeface="+mn-lt"/>
                  <a:ea typeface="+mn-ea"/>
                  <a:cs typeface="+mn-cs"/>
                </a:rPr>
                <a:t>唯讀工具的注入是 G0 的結構性盲點，不講成「AgentGate 在公開 benchmark 的成績」。</a:t>
              </a:r>
            </a:p>
          </p:txBody>
        </p:sp>
      </p:grpSp>
      <p:grpSp>
        <p:nvGrpSpPr>
          <p:cNvPr id="24" name="Group 24"/>
          <p:cNvGrpSpPr/>
          <p:nvPr/>
        </p:nvGrpSpPr>
        <p:grpSpPr>
          <a:xfrm>
            <a:off x="685800" y="5524500"/>
            <a:ext cx="8584311" cy="829056"/>
            <a:chOff x="685800" y="5524500"/>
            <a:chExt cx="8584311" cy="829056"/>
          </a:xfrm>
        </p:grpSpPr>
        <p:sp>
          <p:nvSpPr>
            <p:cNvPr id="21" name="Rectangle 21"/>
            <p:cNvSpPr/>
            <p:nvPr/>
          </p:nvSpPr>
          <p:spPr>
            <a:xfrm>
              <a:off x="685800" y="5524500"/>
              <a:ext cx="38100" cy="819150"/>
            </a:xfrm>
            <a:prstGeom prst="rect">
              <a:avLst/>
            </a:prstGeom>
            <a:solidFill>
              <a:schemeClr val="accent1"/>
            </a:solidFill>
            <a:ln>
              <a:noFill/>
            </a:ln>
          </p:spPr>
        </p:sp>
        <p:sp>
          <p:nvSpPr>
            <p:cNvPr id="22" name="TextBox 22"/>
            <p:cNvSpPr txBox="1"/>
            <p:nvPr/>
          </p:nvSpPr>
          <p:spPr>
            <a:xfrm>
              <a:off x="979170" y="5624512"/>
              <a:ext cx="6383655" cy="440055"/>
            </a:xfrm>
            <a:prstGeom prst="rect">
              <a:avLst/>
            </a:prstGeom>
            <a:noFill/>
            <a:ln>
              <a:noFill/>
            </a:ln>
          </p:spPr>
          <p:txBody>
            <a:bodyPr wrap="none" lIns="0" tIns="0" rIns="0" bIns="0" anchor="t" anchorCtr="0">
              <a:spAutoFit/>
            </a:bodyPr>
            <a:lstStyle/>
            <a:p>
              <a:pPr algn="l"/>
              <a:r>
                <a:rPr lang="zh-Hant-TW" sz="2250" dirty="0">
                  <a:solidFill>
                    <a:schemeClr val="dk1"/>
                  </a:solidFill>
                  <a:latin typeface="+mn-lt"/>
                  <a:ea typeface="+mn-ea"/>
                  <a:cs typeface="+mn-cs"/>
                </a:rPr>
                <a:t>主動揭露的邊界，是這些數字唯一的可信來源。</a:t>
              </a:r>
            </a:p>
          </p:txBody>
        </p:sp>
        <p:sp>
          <p:nvSpPr>
            <p:cNvPr id="23" name="TextBox 23"/>
            <p:cNvSpPr txBox="1"/>
            <p:nvPr/>
          </p:nvSpPr>
          <p:spPr>
            <a:xfrm>
              <a:off x="984504" y="6118860"/>
              <a:ext cx="8285607"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未實作：多租戶 SaaS 營運面與真實系統串接（規格明列 Non-goals）；核准介面 15 秒決策目標尚未做真人計時。</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8572500" y="533400"/>
            <a:ext cx="2857500" cy="133350"/>
            <a:chOff x="8572500" y="533400"/>
            <a:chExt cx="2857500" cy="133350"/>
          </a:xfrm>
        </p:grpSpPr>
        <p:sp>
          <p:nvSpPr>
            <p:cNvPr id="2" name="Rectangle 2"/>
            <p:cNvSpPr/>
            <p:nvPr/>
          </p:nvSpPr>
          <p:spPr>
            <a:xfrm>
              <a:off x="8572500" y="533400"/>
              <a:ext cx="381000" cy="133350"/>
            </a:xfrm>
            <a:prstGeom prst="rect">
              <a:avLst/>
            </a:prstGeom>
            <a:solidFill>
              <a:schemeClr val="accent1"/>
            </a:solidFill>
            <a:ln>
              <a:noFill/>
            </a:ln>
          </p:spPr>
        </p:sp>
        <p:sp>
          <p:nvSpPr>
            <p:cNvPr id="3" name="Rectangle 3"/>
            <p:cNvSpPr/>
            <p:nvPr/>
          </p:nvSpPr>
          <p:spPr>
            <a:xfrm>
              <a:off x="9067800" y="533400"/>
              <a:ext cx="381000" cy="133350"/>
            </a:xfrm>
            <a:prstGeom prst="rect">
              <a:avLst/>
            </a:prstGeom>
            <a:solidFill>
              <a:schemeClr val="accent1"/>
            </a:solidFill>
            <a:ln>
              <a:noFill/>
            </a:ln>
          </p:spPr>
        </p:sp>
        <p:sp>
          <p:nvSpPr>
            <p:cNvPr id="4" name="Rectangle 4"/>
            <p:cNvSpPr/>
            <p:nvPr/>
          </p:nvSpPr>
          <p:spPr>
            <a:xfrm>
              <a:off x="9563100" y="533400"/>
              <a:ext cx="381000" cy="133350"/>
            </a:xfrm>
            <a:prstGeom prst="rect">
              <a:avLst/>
            </a:prstGeom>
            <a:solidFill>
              <a:schemeClr val="accent1"/>
            </a:solidFill>
            <a:ln>
              <a:noFill/>
            </a:ln>
          </p:spPr>
        </p:sp>
        <p:sp>
          <p:nvSpPr>
            <p:cNvPr id="5" name="Rectangle 5"/>
            <p:cNvSpPr/>
            <p:nvPr/>
          </p:nvSpPr>
          <p:spPr>
            <a:xfrm>
              <a:off x="10058400" y="533400"/>
              <a:ext cx="381000" cy="133350"/>
            </a:xfrm>
            <a:prstGeom prst="rect">
              <a:avLst/>
            </a:prstGeom>
            <a:solidFill>
              <a:schemeClr val="accent1"/>
            </a:solidFill>
            <a:ln>
              <a:noFill/>
            </a:ln>
          </p:spPr>
        </p:sp>
        <p:sp>
          <p:nvSpPr>
            <p:cNvPr id="6" name="Rectangle 6"/>
            <p:cNvSpPr/>
            <p:nvPr/>
          </p:nvSpPr>
          <p:spPr>
            <a:xfrm>
              <a:off x="10553700" y="533400"/>
              <a:ext cx="381000" cy="133350"/>
            </a:xfrm>
            <a:prstGeom prst="rect">
              <a:avLst/>
            </a:prstGeom>
            <a:solidFill>
              <a:schemeClr val="accent2"/>
            </a:solidFill>
            <a:ln>
              <a:noFill/>
            </a:ln>
          </p:spPr>
        </p:sp>
        <p:sp>
          <p:nvSpPr>
            <p:cNvPr id="7" name="Rectangle 7"/>
            <p:cNvSpPr/>
            <p:nvPr/>
          </p:nvSpPr>
          <p:spPr>
            <a:xfrm>
              <a:off x="11049000" y="533400"/>
              <a:ext cx="381000" cy="133350"/>
            </a:xfrm>
            <a:prstGeom prst="rect">
              <a:avLst/>
            </a:prstGeom>
            <a:solidFill>
              <a:schemeClr val="accent3"/>
            </a:solidFill>
            <a:ln>
              <a:noFill/>
            </a:ln>
          </p:spPr>
        </p:sp>
      </p:grpSp>
      <p:grpSp>
        <p:nvGrpSpPr>
          <p:cNvPr id="10" name="Group 10"/>
          <p:cNvGrpSpPr/>
          <p:nvPr/>
        </p:nvGrpSpPr>
        <p:grpSpPr>
          <a:xfrm>
            <a:off x="669798" y="726758"/>
            <a:ext cx="4832604" cy="1130427"/>
            <a:chOff x="669798" y="726758"/>
            <a:chExt cx="4832604" cy="1130427"/>
          </a:xfrm>
        </p:grpSpPr>
        <p:sp>
          <p:nvSpPr>
            <p:cNvPr id="9" name="TextBox 9"/>
            <p:cNvSpPr txBox="1"/>
            <p:nvPr/>
          </p:nvSpPr>
          <p:spPr>
            <a:xfrm>
              <a:off x="669798" y="726758"/>
              <a:ext cx="4832604" cy="1130427"/>
            </a:xfrm>
            <a:prstGeom prst="rect">
              <a:avLst/>
            </a:prstGeom>
            <a:noFill/>
            <a:ln>
              <a:noFill/>
            </a:ln>
          </p:spPr>
          <p:txBody>
            <a:bodyPr wrap="none" lIns="0" tIns="0" rIns="0" bIns="0" anchor="t" anchorCtr="0">
              <a:spAutoFit/>
            </a:bodyPr>
            <a:lstStyle/>
            <a:p>
              <a:pPr algn="l">
                <a:lnSpc>
                  <a:spcPts val="4050"/>
                </a:lnSpc>
              </a:pPr>
              <a:r>
                <a:rPr lang="zh-Hant-TW" sz="3150" b="1" dirty="0">
                  <a:solidFill>
                    <a:schemeClr val="dk1"/>
                  </a:solidFill>
                  <a:latin typeface="+mj-lt"/>
                  <a:ea typeface="+mj-ea"/>
                  <a:cs typeface="+mj-cs"/>
                </a:rPr>
                <a:t>買方明確，而核准的信任根</a:t>
              </a:r>
              <a:br/>
              <a:r>
                <a:rPr lang="zh-Hant-TW" sz="3150" b="1" dirty="0">
                  <a:solidFill>
                    <a:schemeClr val="dk1"/>
                  </a:solidFill>
                  <a:latin typeface="+mj-lt"/>
                  <a:ea typeface="+mj-ea"/>
                  <a:cs typeface="+mj-cs"/>
                </a:rPr>
                <a:t>只有</a:t>
              </a:r>
              <a:r>
                <a:rPr lang="zh-Hant-TW" sz="3150" b="1" dirty="0">
                  <a:solidFill>
                    <a:schemeClr val="accent1"/>
                  </a:solidFill>
                  <a:latin typeface="+mj-lt"/>
                  <a:ea typeface="+mj-ea"/>
                  <a:cs typeface="+mj-cs"/>
                </a:rPr>
                <a:t>電信業者</a:t>
              </a:r>
              <a:r>
                <a:rPr lang="zh-Hant-TW" sz="3150" b="1" dirty="0">
                  <a:solidFill>
                    <a:schemeClr val="dk1"/>
                  </a:solidFill>
                  <a:latin typeface="+mj-lt"/>
                  <a:ea typeface="+mj-ea"/>
                  <a:cs typeface="+mj-cs"/>
                </a:rPr>
                <a:t>拿得出來</a:t>
              </a:r>
            </a:p>
          </p:txBody>
        </p:sp>
      </p:grpSp>
      <p:grpSp>
        <p:nvGrpSpPr>
          <p:cNvPr id="17" name="Group 17"/>
          <p:cNvGrpSpPr/>
          <p:nvPr/>
        </p:nvGrpSpPr>
        <p:grpSpPr>
          <a:xfrm>
            <a:off x="673608" y="2081212"/>
            <a:ext cx="2076450" cy="1942339"/>
            <a:chOff x="673608" y="2081212"/>
            <a:chExt cx="2076450" cy="1942339"/>
          </a:xfrm>
        </p:grpSpPr>
        <p:grpSp>
          <p:nvGrpSpPr>
            <p:cNvPr id="14" name="Group 14"/>
            <p:cNvGrpSpPr/>
            <p:nvPr/>
          </p:nvGrpSpPr>
          <p:grpSpPr>
            <a:xfrm>
              <a:off x="742950" y="2081212"/>
              <a:ext cx="228600" cy="257176"/>
              <a:chOff x="742950" y="2081212"/>
              <a:chExt cx="228600" cy="257176"/>
            </a:xfrm>
          </p:grpSpPr>
          <p:sp>
            <p:nvSpPr>
              <p:cNvPr id="11" name="Freeform 11"/>
              <p:cNvSpPr/>
              <p:nvPr/>
            </p:nvSpPr>
            <p:spPr>
              <a:xfrm>
                <a:off x="742950" y="208121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28575">
                <a:solidFill>
                  <a:schemeClr val="accent1"/>
                </a:solidFill>
              </a:ln>
            </p:spPr>
          </p:sp>
          <p:sp>
            <p:nvSpPr>
              <p:cNvPr id="12" name="Freeform 12"/>
              <p:cNvSpPr/>
              <p:nvPr/>
            </p:nvSpPr>
            <p:spPr>
              <a:xfrm>
                <a:off x="742950" y="21240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28575">
                <a:solidFill>
                  <a:schemeClr val="accent1"/>
                </a:solidFill>
              </a:ln>
            </p:spPr>
          </p:sp>
          <p:sp>
            <p:nvSpPr>
              <p:cNvPr id="13" name="Freeform 13"/>
              <p:cNvSpPr/>
              <p:nvPr/>
            </p:nvSpPr>
            <p:spPr>
              <a:xfrm>
                <a:off x="742950" y="220980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28575">
                <a:solidFill>
                  <a:schemeClr val="accent1"/>
                </a:solidFill>
              </a:ln>
            </p:spPr>
          </p:sp>
        </p:grpSp>
        <p:sp>
          <p:nvSpPr>
            <p:cNvPr id="15" name="TextBox 15"/>
            <p:cNvSpPr txBox="1"/>
            <p:nvPr/>
          </p:nvSpPr>
          <p:spPr>
            <a:xfrm>
              <a:off x="673608" y="2465070"/>
              <a:ext cx="1316736"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買方明確</a:t>
              </a:r>
            </a:p>
          </p:txBody>
        </p:sp>
        <p:sp>
          <p:nvSpPr>
            <p:cNvPr id="16" name="TextBox 16"/>
            <p:cNvSpPr txBox="1"/>
            <p:nvPr/>
          </p:nvSpPr>
          <p:spPr>
            <a:xfrm>
              <a:off x="678942" y="2959418"/>
              <a:ext cx="2071116" cy="1064133"/>
            </a:xfrm>
            <a:prstGeom prst="rect">
              <a:avLst/>
            </a:prstGeom>
            <a:noFill/>
            <a:ln>
              <a:noFill/>
            </a:ln>
          </p:spPr>
          <p:txBody>
            <a:bodyPr wrap="none" lIns="0" tIns="0" rIns="0" bIns="0" anchor="t" anchorCtr="0">
              <a:spAutoFit/>
            </a:bodyPr>
            <a:lstStyle/>
            <a:p>
              <a:pPr algn="l">
                <a:lnSpc>
                  <a:spcPts val="2100"/>
                </a:lnSpc>
              </a:pPr>
              <a:r>
                <a:rPr lang="zh-Hant-TW" sz="1350" dirty="0">
                  <a:solidFill>
                    <a:schemeClr val="accent5"/>
                  </a:solidFill>
                  <a:latin typeface="+mn-lt"/>
                  <a:ea typeface="+mn-ea"/>
                  <a:cs typeface="+mn-cs"/>
                </a:rPr>
                <a:t>中華電信自身，以及它的</a:t>
              </a:r>
              <a:br/>
              <a:r>
                <a:rPr lang="zh-Hant-TW" sz="1350" dirty="0">
                  <a:solidFill>
                    <a:schemeClr val="accent5"/>
                  </a:solidFill>
                  <a:latin typeface="+mn-lt"/>
                  <a:ea typeface="+mn-ea"/>
                  <a:cs typeface="+mn-cs"/>
                </a:rPr>
                <a:t>企業客戶。產品定位是</a:t>
              </a:r>
              <a:br/>
              <a:r>
                <a:rPr lang="zh-Hant-TW" sz="1350" dirty="0">
                  <a:solidFill>
                    <a:schemeClr val="accent5"/>
                  </a:solidFill>
                  <a:latin typeface="+mn-lt"/>
                  <a:ea typeface="+mn-ea"/>
                  <a:cs typeface="+mn-cs"/>
                </a:rPr>
                <a:t>企業級 AI Agent 動作</a:t>
              </a:r>
              <a:br/>
              <a:r>
                <a:rPr lang="zh-Hant-TW" sz="1350" dirty="0">
                  <a:solidFill>
                    <a:schemeClr val="accent5"/>
                  </a:solidFill>
                  <a:latin typeface="+mn-lt"/>
                  <a:ea typeface="+mn-ea"/>
                  <a:cs typeface="+mn-cs"/>
                </a:rPr>
                <a:t>治理層，不是內容過濾器。</a:t>
              </a:r>
            </a:p>
          </p:txBody>
        </p:sp>
      </p:grpSp>
      <p:grpSp>
        <p:nvGrpSpPr>
          <p:cNvPr id="24" name="Group 24"/>
          <p:cNvGrpSpPr/>
          <p:nvPr/>
        </p:nvGrpSpPr>
        <p:grpSpPr>
          <a:xfrm>
            <a:off x="4407408" y="2081212"/>
            <a:ext cx="2555895" cy="1942339"/>
            <a:chOff x="4407408" y="2081212"/>
            <a:chExt cx="2555895" cy="1942339"/>
          </a:xfrm>
        </p:grpSpPr>
        <p:grpSp>
          <p:nvGrpSpPr>
            <p:cNvPr id="21" name="Group 21"/>
            <p:cNvGrpSpPr/>
            <p:nvPr/>
          </p:nvGrpSpPr>
          <p:grpSpPr>
            <a:xfrm>
              <a:off x="4505325" y="2081212"/>
              <a:ext cx="171450" cy="257175"/>
              <a:chOff x="4505325" y="2081212"/>
              <a:chExt cx="171450" cy="257175"/>
            </a:xfrm>
          </p:grpSpPr>
          <p:sp>
            <p:nvSpPr>
              <p:cNvPr id="18" name="Freeform 18"/>
              <p:cNvSpPr/>
              <p:nvPr/>
            </p:nvSpPr>
            <p:spPr>
              <a:xfrm>
                <a:off x="4505325" y="2081212"/>
                <a:ext cx="171450" cy="257175"/>
              </a:xfrm>
              <a:custGeom>
                <a:avLst/>
                <a:gdLst/>
                <a:ahLst/>
                <a:cxnLst/>
                <a:rect l="l" t="t" r="r" b="b"/>
                <a:pathLst>
                  <a:path w="171450" h="257175">
                    <a:moveTo>
                      <a:pt x="0" y="28575"/>
                    </a:moveTo>
                    <a:cubicBezTo>
                      <a:pt x="0" y="12793"/>
                      <a:pt x="12793" y="0"/>
                      <a:pt x="28575" y="0"/>
                    </a:cubicBezTo>
                    <a:lnTo>
                      <a:pt x="142875" y="0"/>
                    </a:lnTo>
                    <a:cubicBezTo>
                      <a:pt x="158657" y="0"/>
                      <a:pt x="171450" y="12793"/>
                      <a:pt x="171450" y="28575"/>
                    </a:cubicBezTo>
                    <a:lnTo>
                      <a:pt x="171450" y="228600"/>
                    </a:lnTo>
                    <a:cubicBezTo>
                      <a:pt x="171450" y="244382"/>
                      <a:pt x="158657" y="257175"/>
                      <a:pt x="142875" y="257175"/>
                    </a:cubicBezTo>
                    <a:lnTo>
                      <a:pt x="28575" y="257175"/>
                    </a:lnTo>
                    <a:cubicBezTo>
                      <a:pt x="12793" y="257175"/>
                      <a:pt x="0" y="244382"/>
                      <a:pt x="0" y="228600"/>
                    </a:cubicBezTo>
                    <a:lnTo>
                      <a:pt x="0" y="28575"/>
                    </a:lnTo>
                  </a:path>
                </a:pathLst>
              </a:custGeom>
              <a:noFill/>
              <a:ln w="28575">
                <a:solidFill>
                  <a:schemeClr val="accent1"/>
                </a:solidFill>
              </a:ln>
            </p:spPr>
          </p:sp>
          <p:sp>
            <p:nvSpPr>
              <p:cNvPr id="19" name="Freeform 19"/>
              <p:cNvSpPr/>
              <p:nvPr/>
            </p:nvSpPr>
            <p:spPr>
              <a:xfrm>
                <a:off x="4576762" y="2095500"/>
                <a:ext cx="28575" cy="9525"/>
              </a:xfrm>
              <a:custGeom>
                <a:avLst/>
                <a:gdLst/>
                <a:ahLst/>
                <a:cxnLst/>
                <a:rect l="l" t="t" r="r" b="b"/>
                <a:pathLst>
                  <a:path w="28575" h="9525">
                    <a:moveTo>
                      <a:pt x="0" y="0"/>
                    </a:moveTo>
                    <a:lnTo>
                      <a:pt x="28575" y="0"/>
                    </a:lnTo>
                  </a:path>
                </a:pathLst>
              </a:custGeom>
              <a:noFill/>
              <a:ln w="28575">
                <a:solidFill>
                  <a:schemeClr val="accent1"/>
                </a:solidFill>
              </a:ln>
            </p:spPr>
          </p:sp>
          <p:sp>
            <p:nvSpPr>
              <p:cNvPr id="20" name="Freeform 20"/>
              <p:cNvSpPr/>
              <p:nvPr/>
            </p:nvSpPr>
            <p:spPr>
              <a:xfrm>
                <a:off x="4591050" y="2281238"/>
                <a:ext cx="9525" cy="9525"/>
              </a:xfrm>
              <a:custGeom>
                <a:avLst/>
                <a:gdLst/>
                <a:ahLst/>
                <a:cxnLst/>
                <a:rect l="l" t="t" r="r" b="b"/>
                <a:pathLst>
                  <a:path w="9525" h="9525">
                    <a:moveTo>
                      <a:pt x="0" y="0"/>
                    </a:moveTo>
                    <a:lnTo>
                      <a:pt x="0" y="143"/>
                    </a:lnTo>
                  </a:path>
                </a:pathLst>
              </a:custGeom>
              <a:noFill/>
              <a:ln w="28575">
                <a:solidFill>
                  <a:schemeClr val="accent1"/>
                </a:solidFill>
              </a:ln>
            </p:spPr>
          </p:sp>
        </p:grpSp>
        <p:sp>
          <p:nvSpPr>
            <p:cNvPr id="22" name="TextBox 22"/>
            <p:cNvSpPr txBox="1"/>
            <p:nvPr/>
          </p:nvSpPr>
          <p:spPr>
            <a:xfrm>
              <a:off x="4407408" y="2465070"/>
              <a:ext cx="2555895"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Mobile ID 介接點</a:t>
              </a:r>
            </a:p>
          </p:txBody>
        </p:sp>
        <p:sp>
          <p:nvSpPr>
            <p:cNvPr id="23" name="TextBox 23"/>
            <p:cNvSpPr txBox="1"/>
            <p:nvPr/>
          </p:nvSpPr>
          <p:spPr>
            <a:xfrm>
              <a:off x="4412742" y="2959418"/>
              <a:ext cx="2242566" cy="1064133"/>
            </a:xfrm>
            <a:prstGeom prst="rect">
              <a:avLst/>
            </a:prstGeom>
            <a:noFill/>
            <a:ln>
              <a:noFill/>
            </a:ln>
          </p:spPr>
          <p:txBody>
            <a:bodyPr wrap="none" lIns="0" tIns="0" rIns="0" bIns="0" anchor="t" anchorCtr="0">
              <a:spAutoFit/>
            </a:bodyPr>
            <a:lstStyle/>
            <a:p>
              <a:pPr algn="l">
                <a:lnSpc>
                  <a:spcPts val="2100"/>
                </a:lnSpc>
              </a:pPr>
              <a:r>
                <a:rPr lang="zh-Hant-TW" sz="1350" dirty="0">
                  <a:solidFill>
                    <a:schemeClr val="accent5"/>
                  </a:solidFill>
                  <a:latin typeface="+mn-lt"/>
                  <a:ea typeface="+mn-ea"/>
                  <a:cs typeface="+mn-cs"/>
                </a:rPr>
                <a:t>核准者身分介接中華電信等</a:t>
              </a:r>
              <a:br/>
              <a:r>
                <a:rPr lang="zh-Hant-TW" sz="1350" dirty="0">
                  <a:solidFill>
                    <a:schemeClr val="accent5"/>
                  </a:solidFill>
                  <a:latin typeface="+mn-lt"/>
                  <a:ea typeface="+mn-ea"/>
                  <a:cs typeface="+mn-cs"/>
                </a:rPr>
                <a:t>五大電信共推的 Mobile ID</a:t>
              </a:r>
              <a:br/>
              <a:r>
                <a:rPr lang="zh-Hant-TW" sz="1350" dirty="0">
                  <a:solidFill>
                    <a:schemeClr val="accent5"/>
                  </a:solidFill>
                  <a:latin typeface="+mn-lt"/>
                  <a:ea typeface="+mn-ea"/>
                  <a:cs typeface="+mn-cs"/>
                </a:rPr>
                <a:t>行動身分識別 —— 是介接</a:t>
              </a:r>
              <a:br/>
              <a:r>
                <a:rPr lang="zh-Hant-TW" sz="1350" dirty="0">
                  <a:solidFill>
                    <a:schemeClr val="accent5"/>
                  </a:solidFill>
                  <a:latin typeface="+mn-lt"/>
                  <a:ea typeface="+mn-ea"/>
                  <a:cs typeface="+mn-cs"/>
                </a:rPr>
                <a:t>規劃，未與中華電信談合作。</a:t>
              </a:r>
            </a:p>
          </p:txBody>
        </p:sp>
      </p:grpSp>
      <p:grpSp>
        <p:nvGrpSpPr>
          <p:cNvPr id="30" name="Group 30"/>
          <p:cNvGrpSpPr/>
          <p:nvPr/>
        </p:nvGrpSpPr>
        <p:grpSpPr>
          <a:xfrm>
            <a:off x="8141208" y="2081212"/>
            <a:ext cx="2412309" cy="1942339"/>
            <a:chOff x="8141208" y="2081212"/>
            <a:chExt cx="2412309" cy="1942339"/>
          </a:xfrm>
        </p:grpSpPr>
        <p:grpSp>
          <p:nvGrpSpPr>
            <p:cNvPr id="27" name="Group 27"/>
            <p:cNvGrpSpPr/>
            <p:nvPr/>
          </p:nvGrpSpPr>
          <p:grpSpPr>
            <a:xfrm>
              <a:off x="8253412" y="2081212"/>
              <a:ext cx="142875" cy="257175"/>
              <a:chOff x="8253412" y="2081212"/>
              <a:chExt cx="142875" cy="257175"/>
            </a:xfrm>
          </p:grpSpPr>
          <p:sp>
            <p:nvSpPr>
              <p:cNvPr id="25" name="Freeform 25"/>
              <p:cNvSpPr/>
              <p:nvPr/>
            </p:nvSpPr>
            <p:spPr>
              <a:xfrm>
                <a:off x="8253412" y="2124075"/>
                <a:ext cx="142875" cy="171450"/>
              </a:xfrm>
              <a:custGeom>
                <a:avLst/>
                <a:gdLst/>
                <a:ahLst/>
                <a:cxnLst/>
                <a:rect l="l" t="t" r="r" b="b"/>
                <a:pathLst>
                  <a:path w="142875" h="171450">
                    <a:moveTo>
                      <a:pt x="138589" y="28575"/>
                    </a:moveTo>
                    <a:cubicBezTo>
                      <a:pt x="132771" y="12067"/>
                      <a:pt x="117500" y="755"/>
                      <a:pt x="100012" y="0"/>
                    </a:cubicBezTo>
                    <a:lnTo>
                      <a:pt x="42862" y="0"/>
                    </a:lnTo>
                    <a:cubicBezTo>
                      <a:pt x="19190" y="0"/>
                      <a:pt x="0" y="19190"/>
                      <a:pt x="0" y="42862"/>
                    </a:cubicBezTo>
                    <a:cubicBezTo>
                      <a:pt x="0" y="66535"/>
                      <a:pt x="19190" y="85725"/>
                      <a:pt x="42862" y="85725"/>
                    </a:cubicBezTo>
                    <a:lnTo>
                      <a:pt x="100012" y="85725"/>
                    </a:lnTo>
                    <a:cubicBezTo>
                      <a:pt x="123685" y="85725"/>
                      <a:pt x="142875" y="104915"/>
                      <a:pt x="142875" y="128588"/>
                    </a:cubicBezTo>
                    <a:cubicBezTo>
                      <a:pt x="142875" y="152260"/>
                      <a:pt x="123685" y="171450"/>
                      <a:pt x="100012" y="171450"/>
                    </a:cubicBezTo>
                    <a:lnTo>
                      <a:pt x="42862" y="171450"/>
                    </a:lnTo>
                    <a:cubicBezTo>
                      <a:pt x="25375" y="170695"/>
                      <a:pt x="10104" y="159383"/>
                      <a:pt x="4286" y="142875"/>
                    </a:cubicBezTo>
                  </a:path>
                </a:pathLst>
              </a:custGeom>
              <a:noFill/>
              <a:ln w="28575">
                <a:solidFill>
                  <a:schemeClr val="accent1"/>
                </a:solidFill>
              </a:ln>
            </p:spPr>
          </p:sp>
          <p:sp>
            <p:nvSpPr>
              <p:cNvPr id="26" name="Freeform 26"/>
              <p:cNvSpPr/>
              <p:nvPr/>
            </p:nvSpPr>
            <p:spPr>
              <a:xfrm>
                <a:off x="8324850" y="2081212"/>
                <a:ext cx="9525" cy="257175"/>
              </a:xfrm>
              <a:custGeom>
                <a:avLst/>
                <a:gdLst/>
                <a:ahLst/>
                <a:cxnLst/>
                <a:rect l="l" t="t" r="r" b="b"/>
                <a:pathLst>
                  <a:path w="9525" h="257175">
                    <a:moveTo>
                      <a:pt x="0" y="0"/>
                    </a:moveTo>
                    <a:lnTo>
                      <a:pt x="0" y="42862"/>
                    </a:lnTo>
                    <a:moveTo>
                      <a:pt x="0" y="214312"/>
                    </a:moveTo>
                    <a:lnTo>
                      <a:pt x="0" y="257175"/>
                    </a:lnTo>
                  </a:path>
                </a:pathLst>
              </a:custGeom>
              <a:noFill/>
              <a:ln w="28575">
                <a:solidFill>
                  <a:schemeClr val="accent1"/>
                </a:solidFill>
              </a:ln>
            </p:spPr>
          </p:sp>
        </p:grpSp>
        <p:sp>
          <p:nvSpPr>
            <p:cNvPr id="28" name="TextBox 28"/>
            <p:cNvSpPr txBox="1"/>
            <p:nvPr/>
          </p:nvSpPr>
          <p:spPr>
            <a:xfrm>
              <a:off x="8141208" y="2465070"/>
              <a:ext cx="2412309"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ROI 已算出數字</a:t>
              </a:r>
            </a:p>
          </p:txBody>
        </p:sp>
        <p:sp>
          <p:nvSpPr>
            <p:cNvPr id="29" name="TextBox 29"/>
            <p:cNvSpPr txBox="1"/>
            <p:nvPr/>
          </p:nvSpPr>
          <p:spPr>
            <a:xfrm>
              <a:off x="8146542" y="2959418"/>
              <a:ext cx="2242566" cy="1064133"/>
            </a:xfrm>
            <a:prstGeom prst="rect">
              <a:avLst/>
            </a:prstGeom>
            <a:noFill/>
            <a:ln>
              <a:noFill/>
            </a:ln>
          </p:spPr>
          <p:txBody>
            <a:bodyPr wrap="none" lIns="0" tIns="0" rIns="0" bIns="0" anchor="t" anchorCtr="0">
              <a:spAutoFit/>
            </a:bodyPr>
            <a:lstStyle/>
            <a:p>
              <a:pPr algn="l">
                <a:lnSpc>
                  <a:spcPts val="2100"/>
                </a:lnSpc>
              </a:pPr>
              <a:r>
                <a:rPr lang="zh-Hant-TW" sz="1350" dirty="0">
                  <a:solidFill>
                    <a:schemeClr val="accent5"/>
                  </a:solidFill>
                  <a:latin typeface="+mn-lt"/>
                  <a:ea typeface="+mn-ea"/>
                  <a:cs typeface="+mn-cs"/>
                </a:rPr>
                <a:t>7 席位、實測當班流量：基準</a:t>
              </a:r>
              <a:br/>
              <a:r>
                <a:rPr lang="zh-Hant-TW" sz="1350" dirty="0">
                  <a:solidFill>
                    <a:schemeClr val="accent5"/>
                  </a:solidFill>
                  <a:latin typeface="+mn-lt"/>
                  <a:ea typeface="+mn-ea"/>
                  <a:cs typeface="+mn-cs"/>
                </a:rPr>
                <a:t>年效益 3,524 萬、穩態 ROI</a:t>
              </a:r>
              <a:br/>
              <a:r>
                <a:rPr lang="zh-Hant-TW" sz="1350" dirty="0">
                  <a:solidFill>
                    <a:schemeClr val="accent5"/>
                  </a:solidFill>
                  <a:latin typeface="+mn-lt"/>
                  <a:ea typeface="+mn-ea"/>
                  <a:cs typeface="+mn-cs"/>
                </a:rPr>
                <a:t>+264.5%、回收 1.3 個月；</a:t>
              </a:r>
              <a:br/>
              <a:r>
                <a:rPr lang="zh-Hant-TW" sz="1350" dirty="0">
                  <a:solidFill>
                    <a:schemeClr val="accent5"/>
                  </a:solidFill>
                  <a:latin typeface="+mn-lt"/>
                  <a:ea typeface="+mn-ea"/>
                  <a:cs typeface="+mn-cs"/>
                </a:rPr>
                <a:t>保守情境不回本，主動揭露。</a:t>
              </a:r>
            </a:p>
          </p:txBody>
        </p:sp>
      </p:grpSp>
      <p:grpSp>
        <p:nvGrpSpPr>
          <p:cNvPr id="34" name="Group 34"/>
          <p:cNvGrpSpPr/>
          <p:nvPr/>
        </p:nvGrpSpPr>
        <p:grpSpPr>
          <a:xfrm>
            <a:off x="676656" y="4248150"/>
            <a:ext cx="10829544" cy="695706"/>
            <a:chOff x="676656" y="4248150"/>
            <a:chExt cx="10829544" cy="695706"/>
          </a:xfrm>
        </p:grpSpPr>
        <p:sp>
          <p:nvSpPr>
            <p:cNvPr id="31" name="Line 31"/>
            <p:cNvSpPr/>
            <p:nvPr/>
          </p:nvSpPr>
          <p:spPr>
            <a:xfrm>
              <a:off x="685800" y="42481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2" name="TextBox 32"/>
            <p:cNvSpPr txBox="1"/>
            <p:nvPr/>
          </p:nvSpPr>
          <p:spPr>
            <a:xfrm>
              <a:off x="676656" y="4358640"/>
              <a:ext cx="9926726" cy="352044"/>
            </a:xfrm>
            <a:prstGeom prst="rect">
              <a:avLst/>
            </a:prstGeom>
            <a:noFill/>
            <a:ln>
              <a:noFill/>
            </a:ln>
          </p:spPr>
          <p:txBody>
            <a:bodyPr wrap="none" lIns="0" tIns="0" rIns="0" bIns="0" anchor="t" anchorCtr="0">
              <a:spAutoFit/>
            </a:bodyPr>
            <a:lstStyle/>
            <a:p>
              <a:pPr algn="l"/>
              <a:r>
                <a:rPr lang="zh-Hant-TW" sz="1800" dirty="0">
                  <a:solidFill>
                    <a:schemeClr val="dk1"/>
                  </a:solidFill>
                  <a:latin typeface="+mn-lt"/>
                  <a:ea typeface="+mn-ea"/>
                  <a:cs typeface="+mn-cs"/>
                </a:rPr>
                <a:t>永續構面：可信賴 AI 屬 ESG 的治理（G）構面，減少 AI 誤動作造成的重工與資源浪費。</a:t>
              </a:r>
            </a:p>
          </p:txBody>
        </p:sp>
        <p:sp>
          <p:nvSpPr>
            <p:cNvPr id="33" name="TextBox 33"/>
            <p:cNvSpPr txBox="1"/>
            <p:nvPr/>
          </p:nvSpPr>
          <p:spPr>
            <a:xfrm>
              <a:off x="679704" y="4709160"/>
              <a:ext cx="6538570" cy="234696"/>
            </a:xfrm>
            <a:prstGeom prst="rect">
              <a:avLst/>
            </a:prstGeom>
            <a:noFill/>
            <a:ln>
              <a:noFill/>
            </a:ln>
          </p:spPr>
          <p:txBody>
            <a:bodyPr wrap="none" lIns="0" tIns="0" rIns="0" bIns="0" anchor="t" anchorCtr="0">
              <a:spAutoFit/>
            </a:bodyPr>
            <a:lstStyle/>
            <a:p>
              <a:pPr algn="l"/>
              <a:r>
                <a:rPr lang="zh-Hant-TW" sz="1200" dirty="0">
                  <a:solidFill>
                    <a:schemeClr val="accent5"/>
                  </a:solidFill>
                  <a:latin typeface="+mn-lt"/>
                  <a:ea typeface="+mn-ea"/>
                  <a:cs typeface="+mn-cs"/>
                </a:rPr>
                <a:t>決賽評分對照：技術成熟度 40% ｜ 商業價值 40% ｜ 業務可落地性 10% ｜ 永續發展性 10%</a:t>
              </a:r>
            </a:p>
          </p:txBody>
        </p:sp>
      </p:grpSp>
      <p:grpSp>
        <p:nvGrpSpPr>
          <p:cNvPr id="38" name="Group 38"/>
          <p:cNvGrpSpPr/>
          <p:nvPr/>
        </p:nvGrpSpPr>
        <p:grpSpPr>
          <a:xfrm>
            <a:off x="673608" y="5143500"/>
            <a:ext cx="8188940" cy="1162812"/>
            <a:chOff x="673608" y="5143500"/>
            <a:chExt cx="8188940" cy="1162812"/>
          </a:xfrm>
        </p:grpSpPr>
        <p:sp>
          <p:nvSpPr>
            <p:cNvPr id="35" name="Rectangle 35"/>
            <p:cNvSpPr/>
            <p:nvPr/>
          </p:nvSpPr>
          <p:spPr>
            <a:xfrm>
              <a:off x="685800" y="5143500"/>
              <a:ext cx="1143000" cy="38100"/>
            </a:xfrm>
            <a:prstGeom prst="rect">
              <a:avLst/>
            </a:prstGeom>
            <a:gradFill>
              <a:gsLst>
                <a:gs pos="0">
                  <a:schemeClr val="accent1"/>
                </a:gs>
                <a:gs pos="100000">
                  <a:schemeClr val="accent3"/>
                </a:gs>
              </a:gsLst>
              <a:lin ang="0" scaled="1"/>
            </a:gradFill>
            <a:ln>
              <a:noFill/>
            </a:ln>
          </p:spPr>
        </p:sp>
        <p:sp>
          <p:nvSpPr>
            <p:cNvPr id="36" name="TextBox 36"/>
            <p:cNvSpPr txBox="1"/>
            <p:nvPr/>
          </p:nvSpPr>
          <p:spPr>
            <a:xfrm>
              <a:off x="673608" y="5417820"/>
              <a:ext cx="8188940" cy="469392"/>
            </a:xfrm>
            <a:prstGeom prst="rect">
              <a:avLst/>
            </a:prstGeom>
            <a:noFill/>
            <a:ln>
              <a:noFill/>
            </a:ln>
          </p:spPr>
          <p:txBody>
            <a:bodyPr wrap="none" lIns="0" tIns="0" rIns="0" bIns="0" anchor="t" anchorCtr="0">
              <a:spAutoFit/>
            </a:bodyPr>
            <a:lstStyle/>
            <a:p>
              <a:pPr algn="l"/>
              <a:r>
                <a:rPr lang="zh-Hant-TW" sz="2400" b="1" dirty="0">
                  <a:solidFill>
                    <a:schemeClr val="dk1"/>
                  </a:solidFill>
                  <a:latin typeface="+mj-lt"/>
                  <a:ea typeface="+mj-ea"/>
                  <a:cs typeface="+mj-cs"/>
                </a:rPr>
                <a:t>中華電信要讓 Agent 碰千萬用戶帳務，就需要這一層 ——</a:t>
              </a:r>
            </a:p>
          </p:txBody>
        </p:sp>
        <p:sp>
          <p:nvSpPr>
            <p:cNvPr id="37" name="TextBox 37"/>
            <p:cNvSpPr txBox="1"/>
            <p:nvPr/>
          </p:nvSpPr>
          <p:spPr>
            <a:xfrm>
              <a:off x="673608" y="5836920"/>
              <a:ext cx="6952208" cy="469392"/>
            </a:xfrm>
            <a:prstGeom prst="rect">
              <a:avLst/>
            </a:prstGeom>
            <a:noFill/>
            <a:ln>
              <a:noFill/>
            </a:ln>
          </p:spPr>
          <p:txBody>
            <a:bodyPr wrap="none" lIns="0" tIns="0" rIns="0" bIns="0" anchor="t" anchorCtr="0">
              <a:spAutoFit/>
            </a:bodyPr>
            <a:lstStyle/>
            <a:p>
              <a:pPr algn="l"/>
              <a:r>
                <a:rPr lang="zh-Hant-TW" sz="2400" b="1" dirty="0">
                  <a:solidFill>
                    <a:schemeClr val="accent1"/>
                  </a:solidFill>
                  <a:latin typeface="+mj-lt"/>
                  <a:ea typeface="+mj-ea"/>
                  <a:cs typeface="+mj-cs"/>
                </a:rPr>
                <a:t>讓企業第一次敢把「動手」的權限交給 Agent。</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gentgate">
  <a:themeElements>
    <a:clrScheme name="agentgate">
      <a:dk1>
        <a:srgbClr val="E4ECF7"/>
      </a:dk1>
      <a:lt1>
        <a:srgbClr val="0B111C"/>
      </a:lt1>
      <a:dk2>
        <a:srgbClr val="1F497D"/>
      </a:dk2>
      <a:lt2>
        <a:srgbClr val="141D2E"/>
      </a:lt2>
      <a:accent1>
        <a:srgbClr val="4C9AFF"/>
      </a:accent1>
      <a:accent2>
        <a:srgbClr val="FFB020"/>
      </a:accent2>
      <a:accent3>
        <a:srgbClr val="2FD3A6"/>
      </a:accent3>
      <a:accent4>
        <a:srgbClr val="4C9AFF"/>
      </a:accent4>
      <a:accent5>
        <a:srgbClr val="94A5BC"/>
      </a:accent5>
      <a:accent6>
        <a:srgbClr val="26324A"/>
      </a:accent6>
      <a:hlink>
        <a:srgbClr val="FFB020"/>
      </a:hlink>
      <a:folHlink>
        <a:srgbClr val="2FD3A6"/>
      </a:folHlink>
    </a:clrScheme>
    <a:fontScheme name="agentgate">
      <a:majorFont>
        <a:latin typeface="Arial Black"/>
        <a:ea typeface="Microsoft JhengHei"/>
        <a:cs typeface="Arial Black"/>
        <a:font script="Jpan" typeface="Microsoft JhengHei"/>
        <a:font script="Hang" typeface="Microsoft JhengHei"/>
        <a:font script="Hans" typeface="Microsoft JhengHei"/>
        <a:font script="Hant" typeface="Microsoft Jheng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JhengHei"/>
        <a:cs typeface="Segoe UI"/>
        <a:font script="Jpan" typeface="Microsoft JhengHei"/>
        <a:font script="Hang" typeface="Microsoft JhengHei"/>
        <a:font script="Hans" typeface="Microsoft JhengHei"/>
        <a:font script="Hant" typeface="Microsoft Jheng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g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gentgate">
  <a:themeElements>
    <a:clrScheme name="agentgate">
      <a:dk1>
        <a:srgbClr val="E4ECF7"/>
      </a:dk1>
      <a:lt1>
        <a:srgbClr val="0B111C"/>
      </a:lt1>
      <a:dk2>
        <a:srgbClr val="1F497D"/>
      </a:dk2>
      <a:lt2>
        <a:srgbClr val="141D2E"/>
      </a:lt2>
      <a:accent1>
        <a:srgbClr val="4C9AFF"/>
      </a:accent1>
      <a:accent2>
        <a:srgbClr val="FFB020"/>
      </a:accent2>
      <a:accent3>
        <a:srgbClr val="2FD3A6"/>
      </a:accent3>
      <a:accent4>
        <a:srgbClr val="4C9AFF"/>
      </a:accent4>
      <a:accent5>
        <a:srgbClr val="94A5BC"/>
      </a:accent5>
      <a:accent6>
        <a:srgbClr val="26324A"/>
      </a:accent6>
      <a:hlink>
        <a:srgbClr val="FFB020"/>
      </a:hlink>
      <a:folHlink>
        <a:srgbClr val="2FD3A6"/>
      </a:folHlink>
    </a:clrScheme>
    <a:fontScheme name="agentgate">
      <a:majorFont>
        <a:latin typeface="Arial Black"/>
        <a:ea typeface="Microsoft JhengHei"/>
        <a:cs typeface="Arial Black"/>
        <a:font script="Jpan" typeface="Microsoft JhengHei"/>
        <a:font script="Hang" typeface="Microsoft JhengHei"/>
        <a:font script="Hans" typeface="Microsoft JhengHei"/>
        <a:font script="Hant" typeface="Microsoft Jheng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JhengHei"/>
        <a:cs typeface="Segoe UI"/>
        <a:font script="Jpan" typeface="Microsoft JhengHei"/>
        <a:font script="Hang" typeface="Microsoft JhengHei"/>
        <a:font script="Hans" typeface="Microsoft JhengHei"/>
        <a:font script="Hant" typeface="Microsoft Jheng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g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zh-Hant-TW</dc:language>
  <cp:lastModifiedBy/>
  <cp:revision>1</cp:revision>
  <dcterms:created xsi:type="dcterms:W3CDTF">2026-09-06T05:44:18Z</dcterms:created>
  <dcterms:modified xsi:type="dcterms:W3CDTF">2026-09-06T05:44:18Z</dcterms:modified>
  <cp:category/>
  <cp:contentStatus/>
</cp:coreProperties>
</file>