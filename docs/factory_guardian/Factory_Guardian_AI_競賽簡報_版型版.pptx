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charts/chart1101.xml" ContentType="application/vnd.openxmlformats-officedocument.drawingml.chart+xml"/>
  <Override PartName="/ppt/charts/chart1201.xml" ContentType="application/vnd.openxmlformats-officedocument.drawingml.chart+xml"/>
  <Override PartName="/ppt/charts/chart13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charts/_rels/chart11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101.xlsx"/>
</Relationships>
</file>

<file path=ppt/charts/_rels/chart1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201.xlsx"/>
</Relationships>
</file>

<file path=ppt/charts/_rels/chart13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301.xlsx"/>
</Relationships>
</file>

<file path=ppt/charts/chart1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Hant-TW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92134831461"/>
          <c:y val="0.0588235294118"/>
          <c:w val="0.674157303371"/>
          <c:h val="0.833333333333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人員危險區曝露（分鐘）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1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2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3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Baseline A</c:v>
                </c:pt>
                <c:pt idx="1">
                  <c:v>Baseline B</c:v>
                </c:pt>
                <c:pt idx="2">
                  <c:v>Baseline C 現行流程</c:v>
                </c:pt>
                <c:pt idx="3">
                  <c:v>Factory Guardian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1</c:v>
                </c:pt>
                <c:pt idx="2">
                  <c:v>88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lang="zh-Hant-TW" sz="1200">
                  <a:solidFill>
                    <a:srgbClr val="16202B"/>
                  </a:solidFill>
                  <a:latin typeface="Segoe UI"/>
                  <a:ea typeface="Microsoft JhengHei"/>
                  <a:cs typeface="Segoe UI"/>
                </a:defRPr>
              </a:pPr>
              <a:endParaRPr lang="zh-Hant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solidFill>
              <a:srgbClr val="D5DDE5"/>
            </a:solidFill>
            <a:round/>
          </a:ln>
        </c:spPr>
        <c:txPr>
          <a:bodyPr/>
          <a:lstStyle/>
          <a:p>
            <a:pPr>
              <a:defRPr lang="zh-Hant-TW" sz="1200">
                <a:solidFill>
                  <a:srgbClr val="16202B"/>
                </a:solidFill>
                <a:latin typeface="Segoe UI"/>
                <a:ea typeface="Microsoft JhengHei"/>
                <a:cs typeface="Segoe UI"/>
              </a:defRPr>
            </a:pPr>
            <a:endParaRPr lang="zh-Hant-TW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90"/>
          <c:min val="0"/>
        </c:scaling>
        <c:delete val="0"/>
        <c:axPos val="b"/>
        <c:majorGridlines>
          <c:spPr>
            <a:ln w="6350" cap="flat" cmpd="sng" algn="ctr">
              <a:solidFill>
                <a:srgbClr val="E8EDF2"/>
              </a:solidFill>
              <a:round/>
            </a:ln>
          </c:spPr>
        </c:majorGridlines>
        <c:title>
          <c:tx>
            <c:rich>
              <a:bodyPr/>
              <a:lstStyle/>
              <a:p>
                <a:pPr/>
                <a:r>
                  <a:rPr lang="zh-Hant-TW" sz="1200">
                    <a:solidFill>
                      <a:srgbClr val="16202B"/>
                    </a:solidFill>
                    <a:latin typeface="Segoe UI"/>
                    <a:ea typeface="Microsoft JhengHei"/>
                    <a:cs typeface="Segoe UI"/>
                  </a:rPr>
                  <a:t>人員危險區曝露（分鐘）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9525" cap="flat" cmpd="sng" algn="ctr">
            <a:solidFill>
              <a:srgbClr val="D5DDE5"/>
            </a:solidFill>
            <a:round/>
          </a:ln>
        </c:spPr>
        <c:txPr>
          <a:bodyPr/>
          <a:lstStyle/>
          <a:p>
            <a:pPr>
              <a:defRPr lang="zh-Hant-TW" sz="1200">
                <a:solidFill>
                  <a:srgbClr val="16202B"/>
                </a:solidFill>
                <a:latin typeface="Segoe UI"/>
                <a:ea typeface="Microsoft JhengHei"/>
                <a:cs typeface="Segoe UI"/>
              </a:defRPr>
            </a:pPr>
            <a:endParaRPr lang="zh-Hant-TW"/>
          </a:p>
        </c:txPr>
        <c:crossAx val="2068027336"/>
        <c:crosses val="autoZero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Hant-TW" sz="1200">
          <a:solidFill>
            <a:srgbClr val="16202B"/>
          </a:solidFill>
          <a:latin typeface="Segoe UI"/>
          <a:ea typeface="Microsoft JhengHei"/>
          <a:cs typeface="Segoe UI"/>
        </a:defRPr>
      </a:pPr>
      <a:endParaRPr lang="zh-Hant-TW"/>
    </a:p>
  </c:txPr>
  <c:externalData r:id="rId1">
    <c:autoUpdate val="0"/>
  </c:externalData>
</c:chartSpace>
</file>

<file path=ppt/charts/chart1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Hant-TW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92134831461"/>
          <c:y val="0.0490196078431"/>
          <c:w val="0.674157303371"/>
          <c:h val="0.843137254902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Top-1 根因歸因正確率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B9C4CE"/>
              </a:solidFill>
              <a:ln>
                <a:solidFill>
                  <a:srgbClr val="B9C4CE"/>
                </a:solidFill>
              </a:ln>
            </c:spPr>
          </c:dPt>
          <c:dPt>
            <c:idx val="1"/>
            <c:invertIfNegative val="0"/>
            <c:spPr>
              <a:solidFill>
                <a:srgbClr val="8A99A8"/>
              </a:solidFill>
              <a:ln>
                <a:solidFill>
                  <a:srgbClr val="8A99A8"/>
                </a:solidFill>
              </a:ln>
            </c:spPr>
          </c:dPt>
          <c:dPt>
            <c:idx val="2"/>
            <c:invertIfNegative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dPt>
          <c:dPt>
            <c:idx val="3"/>
            <c:invertIfNegative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dPt>
          <c:dPt>
            <c:idx val="4"/>
            <c:invertIfNegative val="0"/>
            <c:spPr>
              <a:solidFill>
                <a:srgbClr val="8A99A8"/>
              </a:solidFill>
              <a:ln>
                <a:solidFill>
                  <a:srgbClr val="8A99A8"/>
                </a:solidFill>
              </a:ln>
            </c:spPr>
          </c:dPt>
          <c:dPt>
            <c:idx val="5"/>
            <c:invertIfNegative val="0"/>
            <c:spPr>
              <a:solidFill>
                <a:srgbClr val="8A99A8"/>
              </a:solidFill>
              <a:ln>
                <a:solidFill>
                  <a:srgbClr val="8A99A8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隨機基準</c:v>
                </c:pt>
                <c:pt idx="1">
                  <c:v>單一訊號門檻</c:v>
                </c:pt>
                <c:pt idx="2">
                  <c:v>指紋 單原型</c:v>
                </c:pt>
                <c:pt idx="3">
                  <c:v>指紋 2 原型</c:v>
                </c:pt>
                <c:pt idx="4">
                  <c:v>RandomForest</c:v>
                </c:pt>
                <c:pt idx="5">
                  <c:v>LogisticRegression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0.25</c:v>
                </c:pt>
                <c:pt idx="1">
                  <c:v>0.458</c:v>
                </c:pt>
                <c:pt idx="2">
                  <c:v>0.724</c:v>
                </c:pt>
                <c:pt idx="3">
                  <c:v>0.821</c:v>
                </c:pt>
                <c:pt idx="4">
                  <c:v>0.939</c:v>
                </c:pt>
                <c:pt idx="5">
                  <c:v>0.964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lang="zh-Hant-TW" sz="1200">
                  <a:solidFill>
                    <a:srgbClr val="16202B"/>
                  </a:solidFill>
                  <a:latin typeface="Segoe UI"/>
                  <a:ea typeface="Microsoft JhengHei"/>
                  <a:cs typeface="Segoe UI"/>
                </a:defRPr>
              </a:pPr>
              <a:endParaRPr lang="zh-Hant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solidFill>
              <a:srgbClr val="D5DDE5"/>
            </a:solidFill>
            <a:round/>
          </a:ln>
        </c:spPr>
        <c:txPr>
          <a:bodyPr/>
          <a:lstStyle/>
          <a:p>
            <a:pPr>
              <a:defRPr lang="zh-Hant-TW" sz="1200">
                <a:solidFill>
                  <a:srgbClr val="16202B"/>
                </a:solidFill>
                <a:latin typeface="Segoe UI"/>
                <a:ea typeface="Microsoft JhengHei"/>
                <a:cs typeface="Segoe UI"/>
              </a:defRPr>
            </a:pPr>
            <a:endParaRPr lang="zh-Hant-TW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"/>
          <c:min val="0"/>
        </c:scaling>
        <c:delete val="0"/>
        <c:axPos val="b"/>
        <c:majorGridlines>
          <c:spPr>
            <a:ln w="6350" cap="flat" cmpd="sng" algn="ctr">
              <a:solidFill>
                <a:srgbClr val="E8EDF2"/>
              </a:solidFill>
              <a:round/>
            </a:ln>
          </c:spPr>
        </c:majorGridlines>
        <c:title>
          <c:tx>
            <c:rich>
              <a:bodyPr/>
              <a:lstStyle/>
              <a:p>
                <a:pPr/>
                <a:r>
                  <a:rPr lang="zh-Hant-TW" sz="1200">
                    <a:solidFill>
                      <a:srgbClr val="16202B"/>
                    </a:solidFill>
                    <a:latin typeface="Segoe UI"/>
                    <a:ea typeface="Microsoft JhengHei"/>
                    <a:cs typeface="Segoe UI"/>
                  </a:rPr>
                  <a:t>Top-1 根因歸因正確率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9525" cap="flat" cmpd="sng" algn="ctr">
            <a:solidFill>
              <a:srgbClr val="D5DDE5"/>
            </a:solidFill>
            <a:round/>
          </a:ln>
        </c:spPr>
        <c:txPr>
          <a:bodyPr/>
          <a:lstStyle/>
          <a:p>
            <a:pPr>
              <a:defRPr lang="zh-Hant-TW" sz="1200">
                <a:solidFill>
                  <a:srgbClr val="16202B"/>
                </a:solidFill>
                <a:latin typeface="Segoe UI"/>
                <a:ea typeface="Microsoft JhengHei"/>
                <a:cs typeface="Segoe UI"/>
              </a:defRPr>
            </a:pPr>
            <a:endParaRPr lang="zh-Hant-TW"/>
          </a:p>
        </c:txPr>
        <c:crossAx val="2068027336"/>
        <c:crosses val="autoZero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Hant-TW" sz="1200">
          <a:solidFill>
            <a:srgbClr val="16202B"/>
          </a:solidFill>
          <a:latin typeface="Segoe UI"/>
          <a:ea typeface="Microsoft JhengHei"/>
          <a:cs typeface="Segoe UI"/>
        </a:defRPr>
      </a:pPr>
      <a:endParaRPr lang="zh-Hant-TW"/>
    </a:p>
  </c:txPr>
  <c:externalData r:id="rId1">
    <c:autoUpdate val="0"/>
  </c:externalData>
</c:chartSpace>
</file>

<file path=ppt/charts/chart13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Hant-TW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561797752809"/>
          <c:y val="0.156862745098"/>
          <c:w val="0.921348314607"/>
          <c:h val="0.6764705882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本專案 AUC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id 00</c:v>
                </c:pt>
                <c:pt idx="1">
                  <c:v>id 02</c:v>
                </c:pt>
                <c:pt idx="2">
                  <c:v>id 04</c:v>
                </c:pt>
                <c:pt idx="3">
                  <c:v>id 06</c:v>
                </c:pt>
                <c:pt idx="4">
                  <c:v>平均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0.8845</c:v>
                </c:pt>
                <c:pt idx="1">
                  <c:v>0.8641</c:v>
                </c:pt>
                <c:pt idx="2">
                  <c:v>0.9743</c:v>
                </c:pt>
                <c:pt idx="3">
                  <c:v>0.8893</c:v>
                </c:pt>
                <c:pt idx="4">
                  <c:v>0.903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官方 baseline AUC</c:v>
                </c:pt>
              </c:strCache>
            </c:strRef>
          </c:tx>
          <c:spPr>
            <a:solidFill>
              <a:srgbClr val="B9C4CE"/>
            </a:solidFill>
            <a:ln>
              <a:solidFill>
                <a:srgbClr val="B9C4CE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id 00</c:v>
                </c:pt>
                <c:pt idx="1">
                  <c:v>id 02</c:v>
                </c:pt>
                <c:pt idx="2">
                  <c:v>id 04</c:v>
                </c:pt>
                <c:pt idx="3">
                  <c:v>id 06</c:v>
                </c:pt>
                <c:pt idx="4">
                  <c:v>平均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0.6708</c:v>
                </c:pt>
                <c:pt idx="1">
                  <c:v>0.6094</c:v>
                </c:pt>
                <c:pt idx="2">
                  <c:v>0.8886</c:v>
                </c:pt>
                <c:pt idx="3">
                  <c:v>0.7349</c:v>
                </c:pt>
                <c:pt idx="4">
                  <c:v>0.7259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lang="zh-Hant-TW" sz="1200">
                  <a:solidFill>
                    <a:srgbClr val="5A6B7D"/>
                  </a:solidFill>
                  <a:latin typeface="Segoe UI"/>
                  <a:ea typeface="Microsoft JhengHei"/>
                  <a:cs typeface="Segoe UI"/>
                </a:defRPr>
              </a:pPr>
              <a:endParaRPr lang="zh-Hant-TW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D5DDE5"/>
            </a:solidFill>
            <a:round/>
          </a:ln>
        </c:spPr>
        <c:txPr>
          <a:bodyPr/>
          <a:lstStyle/>
          <a:p>
            <a:pPr>
              <a:defRPr lang="zh-Hant-TW" sz="1200">
                <a:solidFill>
                  <a:srgbClr val="5A6B7D"/>
                </a:solidFill>
                <a:latin typeface="Segoe UI"/>
                <a:ea typeface="Microsoft JhengHei"/>
                <a:cs typeface="Segoe UI"/>
              </a:defRPr>
            </a:pPr>
            <a:endParaRPr lang="zh-Hant-TW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"/>
          <c:min val="0"/>
        </c:scaling>
        <c:delete val="0"/>
        <c:axPos val="l"/>
        <c:majorGridlines>
          <c:spPr>
            <a:ln w="6350" cap="flat" cmpd="sng" algn="ctr">
              <a:solidFill>
                <a:srgbClr val="E8EDF2"/>
              </a:solidFill>
              <a:round/>
            </a:ln>
          </c:spPr>
        </c:majorGridlines>
        <c:title>
          <c:tx>
            <c:rich>
              <a:bodyPr/>
              <a:lstStyle/>
              <a:p>
                <a:pPr/>
                <a:r>
                  <a:rPr lang="zh-Hant-TW" sz="1200">
                    <a:solidFill>
                      <a:srgbClr val="5A6B7D"/>
                    </a:solidFill>
                    <a:latin typeface="Segoe UI"/>
                    <a:ea typeface="Microsoft JhengHei"/>
                    <a:cs typeface="Segoe UI"/>
                  </a:rPr>
                  <a:t>AUC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9525" cap="flat" cmpd="sng" algn="ctr">
            <a:solidFill>
              <a:srgbClr val="D5DDE5"/>
            </a:solidFill>
            <a:round/>
          </a:ln>
        </c:spPr>
        <c:txPr>
          <a:bodyPr/>
          <a:lstStyle/>
          <a:p>
            <a:pPr>
              <a:defRPr lang="zh-Hant-TW" sz="1200">
                <a:solidFill>
                  <a:srgbClr val="5A6B7D"/>
                </a:solidFill>
                <a:latin typeface="Segoe UI"/>
                <a:ea typeface="Microsoft JhengHei"/>
                <a:cs typeface="Segoe UI"/>
              </a:defRPr>
            </a:pPr>
            <a:endParaRPr lang="zh-Hant-TW"/>
          </a:p>
        </c:txPr>
        <c:crossAx val="2068027336"/>
        <c:crosses val="autoZero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lang="zh-Hant-TW" sz="1200">
              <a:solidFill>
                <a:srgbClr val="5A6B7D"/>
              </a:solidFill>
              <a:latin typeface="Segoe UI"/>
              <a:ea typeface="Microsoft JhengHei"/>
              <a:cs typeface="Segoe UI"/>
            </a:defRPr>
          </a:pPr>
          <a:endParaRPr lang="zh-Hant-TW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lang="zh-Hant-TW" sz="1200">
          <a:solidFill>
            <a:srgbClr val="5A6B7D"/>
          </a:solidFill>
          <a:latin typeface="Segoe UI"/>
          <a:ea typeface="Microsoft JhengHei"/>
          <a:cs typeface="Segoe UI"/>
        </a:defRPr>
      </a:pPr>
      <a:endParaRPr lang="zh-Hant-TW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t-TW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t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Hant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t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t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Hant-TW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各位評審好。我想用一個數字開場。在我們的工安情境測試裡，有一組對照組的產能達成率是三組裡最漂亮的，九成九。代價是它讓人在運轉中的機台旁邊，站了八十八分鐘。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這份提案要談的不只是技術，是取捨的立場。Factory Guardian AI 是一套 Agentic AI 的智慧工廠自主營運與風險管理平台：異常發生時，它不只發警告，而是自動走完偵測、診斷、影響分析、方案規劃、安全檢查、人工核准、執行派工、驗證恢復這八個階段。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我先把幾個數字交給各位。現在是四組對照組跑在同一個孿生體上，相同的隨機種子、相同的情境、相同的總時長，所以每一個數字都直接可比——比 8/9 版多了一組，稍後解釋為什麼。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產能達成率，從現行流程的五成四點二提升到九成四點六，這是設備故障情境下三種故障的平均。最大交期延遲，從一千三百八十五分鐘（固定門檻告警、之後不處理的極端）降到零。人員危險區曝露，從八十八分鐘降到一分鐘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我想強調的是最後這一項與前兩項同時成立。產能、交期與工安通常是互相衝突的，而這幾個數字來自同一次可重跑的 benchmark，不是挑最好的結果拼起來的。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為什麼現況會是那樣？因為現行流程在告警之後，還有九十分鐘是人工的。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偵測到異常、告警發出，然後就斷了。中間這段空白要靠人：到場十五分鐘、現場量測三十分鐘、查手冊與歷史工單三十分鐘、再跟生產確認十五分鐘，加起來九十分鐘才判得出根因。這是一個假設參數，依據寫在我們的商業案例假設參數全表裡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第二個痛點是工單完整度。現行人工工單大約只有六成完整——有故障描述、有機台，但缺手冊條款、缺建議零件、缺標準作業程序連結。第三個是知識問題：維修判斷分散在少數老師傅身上，沒有結構化，換班或退休就把判斷依據帶走了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所以缺的不是更靈敏的告警。缺的是告警之後，能自己走完診斷、規劃、安全檢查與驗證的那個閉環。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這段描述現在也直接寫進了 Benchmark，成為第四組對照組，我們叫它 Baseline C，現行流程：固定門檻偵測、告警後人工判定根因九十分鐘、機台照跑照劣化、判定完才停機維修，不轉單。加這一組是因為原本的兩組對照組都是理論上的極端——完全沒人接告警，或者接了就零等待立刻停機——沒有工廠真的是這樣運作。Baseline C 才是評審問「哪家工廠是這樣」時,我們答得出來的那一組。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這就是那個閉環，八個階段。偵測、診斷、影響分析、方案規劃、安全檢查、人工核准、執行派工、驗證恢復。各階段分別由 Monitoring、Diagnosis、Production、Safety 幾個 Agent，加上 Policy Engine 與 Verification Agent 負責。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請注意中間標紅的那一關是安全檢查。等一下我會單獨講它，因為它是這套系統裡最不像一般預測性維護產品的地方。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底下這一條是整套設計的根：Factory Digital Twin 是唯一知道真相的地方。真實故障答案只存在孿生體內部，對外的狀態快照不會把它輸出給任何一個 Agent。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還有兩件事值得說明。Orchestrator 負責協調這八個階段，如果驗證不通過就重新規劃；而決策層的方案排名是加權多準則計算，不是 LLM，而且排名之後還會再跑一次權重穩健性掃描，回答「權重是你自己訂的，換一組會不會換人」。另外，沒有 OpenAI 金鑰也能跑完整 Demo，LLM 敘述會自動退回確定性的離線敘述器——LLM 在這套系統裡的角色僅止於產生說明文字。全套九百八十六個測試，離線約四十秒跑完。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在講可信度之前，我想先讓各位確認一件事：前一頁那八個階段不是投影片上的框，是一個正在推進的系統。畫面上兩張都是實際擷取的。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左上是孿生體現在看到的機台狀態：主要加工機的振動八點八九，已經是 CRITICAL，健康度掉到五十二，右邊那格寫著到達門檻的剩餘時間已踩線；替代加工機與包裝機都還是一百，正常。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右上是八階段閉環的即時進度。已經走完的四格是發現異常、找出根因、算出影響、比較方案；現在正停在第五格安全把關與第六格核准——安全把關擋下了一個方案，而核准這一格在等人簽名，所以整條環停在這裡。左邊那條虛線是「驗證沒過就退回重新規劃」。下面的小圖是 CAM-01 工安畫面，危險區內零人。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下半部左邊是排名理由：推薦方案 D，而且在正負兩成的權重擾動下推薦不變的比例是百分之百，最敏感的準則是工安裕度。右邊是核准之後的執行結果，三項檢查全部通過，蓋上 VERIFIED。每一格步驟卡都能點開它的推理：看到什麼、怎麼算、為什麼不是別的、結論是什麼。畫面上每一個數字都取自後端算過的結果，前端不補敘述。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競賽 Demo 最容易被質疑的一句話是「數字是不是編的」。我不打算用解釋回答，我用架構回答，而且每一條都有一個會失敗的測試守著。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第一，合成資料明確標示。所有感測器、訂單、手冊與維修歷史都標記為 synthetic，命令列與 Dashboard 常駐顯示，不靠口頭聲明。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第二，Agent 看不到答案。真實故障答案只存在孿生體內部，對外快照不輸出；規劃階段用的是診斷信念模型，不是真值。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第三，執行後回到模擬器驗證。執行會真的改變孿生體狀態，Verification Agent 在真實的孿生體上量 KPI，不通過就重新規劃。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這三件事正好是最容易作弊的三個地方：資料來源不標、規劃時偷看答案、驗證只看預測而不回到模擬器實測。三個原則各自有一個具名的測試守著，可以在現場直接重跑。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我想單獨解釋第二個原則，因為它是整份 Demo 有沒有意義的關鍵。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如果方案投影直接在帶著真值的孿生體上乾跑，等於讓 Production Agent 偷看答案。那樣一來，診斷正確與否就不再影響結果，整個 Demo 也就失去意義了。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所以改用信念模型之後，系統會拿掉真實故障標籤，換上 Diagnosis Agent 自己推論出來的故障，並且用觀測到的健康度反推嚴重程度。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這帶來一條刻意留下的失效鏈：診斷錯，投影就會錯，然後由 Verification Agent 在真實孿生體上抓出來，觸發重新規劃。我沒有把這條路徑藏起來，因為它正是系統會自我修正的證明。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診斷本身的排名由感測器指紋餘弦相似度主導，權重零點七五，加上歷史先驗零點一五與文件支持度零點一。RAG 的價值在於產生可引用的證據，而不是決定答案——因為三份手冊都會提到同樣那四個訊號，純文字相似度的鑑別力其實很有限。信心度還會被訊號強度壓抑：訊號還微弱時不給高信心，Orchestrator 會先繼續觀察，不急著動設備。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安全檢查這一關的設計，來自一個很實際的矛盾。早期偵測的價值在於訊號還很微弱時就介入——但那個時候，「維持全速運轉」在當下並不違規。只看現況數值的規則，擋不住它。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所以 Safety Agent 除了現況規則之外，還有預測型規則，代號 SR-02P、SR-03P 與 SR-13。它們拿方案乾跑出來的訊號峰值來判斷。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畫面上這條刻度就是實際的 Demo 情況：M-A 的振動目前是五點六五，危險門檻是七，而這個方案乾跑出來的預測峰值是十四點一八。系統擋下 PLAN-A 的裁決原文是：模擬顯示本方案會讓 M-A 振動由目前五點六五升至十四點一八，超過危險門檻七；在振動持續上升的情況下維持產出，等同於為了產量接受旋轉件破損風險。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另外請注意，被擋下的方案不會從畫面上消失。它會以紅底刪除線保留，並列出被擋的理由——評審看得到系統否決了什麼，以及依據哪一條規則。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排名的算法看起來像技術細節，但它會直接改變系統的行為，所以我講兩個決定。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第一，改用固定尺規，不用 min–max 正規化。min–max 是相對比較：當候選方案在某個準則上差距很小時，正規化仍然會把最好的拉到一、最差的壓到零，等於無中生有地製造鑑別力——一個零點一五的實質差距，可以整碗端走零點三的權重。改用固定尺規之後，分數有絕對意義，跨情境、跨執行都代表同一件事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第二，「需要人工核准」只扣零點一分。它是治理程序，不是安全缺陷。早期版本扣到零點四，結果系統會為了避開核准流程，而偏好那些不用人簽名、但其實比較糟的方案。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還有一件事：驗證比的是反事實，不是事故前的狀態。設備劣化是進行式的，拿三十分鐘後的結果去比事故剛發生時的達成率，任何方案都必定變差，那個比較沒有意義。真正該回答的是兩個問題：實際結果有沒有達到這個方案自己的預測？有沒有贏過什麼都不做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這是設備故障情境的完整 KPI 對照，現在是四組跑在同一個孿生體上：固定門檻告警、偵測即停機、現行流程、Guardian。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偵測延遲，Baseline A 是七點三分鐘，偵測即停機與 Guardian 都是四點七分鐘，現行流程因為用的是同一種固定門檻偵測，也是七點三分鐘。診斷確認時間只有現行流程與 Guardian 有這個環節：現行流程四十分鐘，Guardian 十點七分鐘——這十點七分鐘裡有六分鐘是刻意的觀察窗，用來分辨新穩態與才剛開始的劣化。根因診斷正確率，只有 Guardian 有這個環節，確認之後是百分之百，但我要誠實補一句：偵測當下的第一次比對只有百分之八十三點三，剩下的十七個百分點是靠續觀察與可能的重規劃補回來的。產能達成率，四成一點三、七成二點一、五成四點二、九成四點六。最大交期延遲，一千三百八十五分鐘、三點六分鐘、二十四點五分鐘、零。設備最終健康度，二十七點三、一百、一百、一百。二次損壞，Baseline A 與現行流程都發生，偵測即停機與 Guardian 都沒有。執行後驗證，只有 Guardian 有，而且通過。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這張表要說的是：Baseline A 保不住設備，健康度只剩二十七點三，而且發生了二次損壞；現行流程雖然最後也把設備修好，但九十分鐘的判定期間機台照跑照劣化，三個情境沒有一次真的把九十分鐘判定流程走完——平均在第四十分鐘就被故障自己揭曉打斷；偵測即停機保住了設備，但賠掉了產能；Guardian 兩者都拿到，而且執行完之後回到孿生體驗證通過。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這一頁是整份提案我最想留給各位的一列。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人員危險區曝露，Baseline A 是八十八分鐘，Baseline B 是一分鐘，現行流程和 Baseline A 一模一樣也是八十八分鐘——這是刻意的，現行流程的工安控制是程序性的，不是偵測性的，它沒有一雙一直盯著危險區的眼睛，把攝影機能力送給對照組並不公平。Guardian 是一分鐘。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但請看另一組數字：產能達成率，Baseline A 是九成九，Baseline B 是六成七點五，現行流程和 Baseline A 一樣是九成九，Guardian 是七成四點三。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換句話說，Guardian 用了大約兩成五的產能，換掉八十七分鐘的風險曝露。Baseline A 的產能達成率九成九是三組裡最漂亮的一組，代價是讓人在運轉的機台旁邊站了八十八分鐘。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工安是硬限制，不是加權項。當產能與工安衝突時，工安不是一個可以被權重犧牲掉的準則——這是這套系統的立場，也是我認為它值得被信任的地方。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接下來兩頁回答「資料是假的嗎」。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我把專案裡的感測器指紋餘弦法原封不動搬到 UCI 的 AI4I 2020 公開資料集上，再跟四個對照方法比較 Top-1 根因歸因正確率。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隨機基準是零點二五零。代表現行流程的單一訊號門檻規則是零點四五八。本專案的指紋餘弦法是零點七二四，Top-3 是零點九八五。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但我也要說輸的地方：同樣特徵下的 RandomForest 是零點九三九，LogisticRegression 是零點九六四，兩個都贏過我們。方法在別人的資料上成立，但它不是最強的分類器——這兩件事我都寫在同一頁上。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這個弱點後來被我們自己找到並修好了一部分：外部資料上有一種故障是雙側的，功率過高或過低都算，單一指紋沒辦法同時代表兩個相反的方向。我們讓診斷 Agent 支援一個故障對多個指紋、取最大餘弦，同一份外部資料上 Top-1 從零點七二四升到零點八二一。但誠實地說，LogisticRegression 依然領先，零點九六四對零點八二一，多原型沒有翻轉這個結論。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誠實邊界也要講：AI4I 2020 本身是合成資料集，不是真實工廠量測；這份資料沒有振動訊號，所以覆蓋不到軸承劣化這個 Demo 主線情境——這個缺口由另一份驗證補上，用的是真實加速規量測的軸承振動資料集 CWRU，內圈滾珠外圈三類歸因 Top-1 零點九九四，但我們同樣寫出這個數字幾乎沒有資訊量：單一特徵規則就有零點九二五，而且拿壞得明顯的資料訓練、測剛開始壞的資料，Top-1 掉到零點三三五，等於隨機，所以不宣稱驗證了早期偵測能力。指紋的來源在這裡和專案裡也不一樣。這整套驗證可以用一行指令重現。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第二份外部驗證用的是真實工業錄音，不是合成音訊。資料集是 DCASE2020 Task2 的 pump development set，測試切分有四百筆正常與四百五十六筆異常。方法是 log-mel 頻譜特徵加上 Local Outlier Factor，而且只用正常音訊擬合。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四個泵浦個體逐一比較：id 00 是零點八八四五對零點六七零八；id 02 是零點八六四一對零點六零九四；id 04 是零點九七四三對零點八八八六；id 06 是零點八八九三對零點七三四九。平均 AUC 零點九零三對官方 baseline 的零點七二五九，差距零點一七七一；平均 pAUC 是零點七八五五對零點六，差距零點一八五五。四個個體、兩個指標，八格全部優於官方 baseline。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我想特別說明「訓練集只有正常音訊」這件事：它是特徵，不是限制。真實產線本來就拿不到足量的故障錄音，所以只用正常音訊擬合，反而更貼近實際部署的條件。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談效益。全廠六條線、基準情境下，年度效益是四百五十六萬四千七百五十二元；第一年 ROI 正六成四點五，穩態年度 ROI 正一百七十二點五，簡單回收期四點六個月。這裡用的現況假設是逃逸率百分之二十五的機率混合，不是 Benchmark 表格上的 Baseline C——兩者是兩個不同的建模方式，我們選擇比較保守的那一種留在 ROI 模型裡。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但我想請各位看的是效益的結構，而不是總數。二次損壞避免這一項就佔了六成九點八，避免停機與降載的產出損失佔二成二點四，交期罰則與趕工佔百分之六點七，維修工時節省百分之一，剩下的工安、能源與碳排加起來約千分之一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效益高度集中在單一項目，所以那個項目背後的假設就特別值得被追問。而最敏感的單一參數是現況告警逃逸率，我設為零點二五，這是一個假設值，臨界值是百分之五點三——低於這個逃逸率，方案在財務上就不成立。效益實現率零點八也是假設，它涵蓋感測器安裝品質、門檻校準期、人員採用率，以及模型在真實訊號上的退化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我也要誠實講一件事：單線試點在這個假設下是不會回本的，穩態 ROI 是負一成七點六，因為五 G 專網跟 MEC 是廠級固定成本，攤不到一條線上，我們建議至少兩條線起跳。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我沒有把這些藏在附錄裡，因為每一項效益都追溯到一個實測的 KPI 欄位，而每一個假設都標了分級。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t-TW" dirty="0"/>
              <a:t>最後談落地。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誰用、誰決定、誰買單：使用者是設備維護技師與產線班長；決策者是廠務、設備維護主管與工安主管；採購者通常是數位轉型辦公室或 IT／OT 團隊，預算多半掛在「智慧製造」或「工安改善」項下。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收費分四層：平台 SaaS 依廠、線或機台計費；AI Usage 依 Camera、Agent 與 Inference 用量計費；System Integration 是一次性導入；Managed Service 是後續維運。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而通路就是中華電信既有的基礎設施——整合 5G 專網、MEC、hicloud、OT 資安與維運服務，讓單廠導入變成一個可複製的方案，而不是每一家都從頭做一次。</a:t>
            </a:r>
          </a:p>
          <a:p>
            <a:pPr/>
            <a:endParaRPr lang="zh-Hant-TW" dirty="0"/>
          </a:p>
          <a:p>
            <a:pPr/>
            <a:r>
              <a:rPr lang="zh-Hant-TW" dirty="0"/>
              <a:t>收在一句話：讓客戶願意簽下去的，不是 AI 這兩個字，是工安是硬限制、不是加權項這個立場。謝謝各位。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G Cover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g_cover_split-image-field Layout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fg_cover_split-accent Layout"/>
          <p:cNvSpPr/>
          <p:nvPr/>
        </p:nvSpPr>
        <p:spPr>
          <a:xfrm>
            <a:off x="609600" y="914400"/>
            <a:ext cx="6858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" name="fg_cover_split-title-slot Placeholder"/>
          <p:cNvSpPr>
            <a:spLocks noGrp="1"/>
          </p:cNvSpPr>
          <p:nvPr>
            <p:ph type="title"/>
          </p:nvPr>
        </p:nvSpPr>
        <p:spPr>
          <a:xfrm>
            <a:off x="609600" y="3009900"/>
            <a:ext cx="49530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fg_cover_split-subtitle-slot Placeholder"/>
          <p:cNvSpPr>
            <a:spLocks noGrp="1"/>
          </p:cNvSpPr>
          <p:nvPr>
            <p:ph type="subTitle" idx="1"/>
          </p:nvPr>
        </p:nvSpPr>
        <p:spPr>
          <a:xfrm>
            <a:off x="609600" y="3867150"/>
            <a:ext cx="5334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Hant-TW" sz="24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fg_cover_split-picture-slot Placeholder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</p:spTree>
    <p:extLst>
      <p:ext uri="{BB962C8B-B14F-4D97-AF65-F5344CB8AC3E}">
        <p14:creationId val="1743096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G KPI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g_kpi_row-title-rule Layout"/>
          <p:cNvSpPr/>
          <p:nvPr/>
        </p:nvSpPr>
        <p:spPr>
          <a:xfrm>
            <a:off x="609600" y="1123950"/>
            <a:ext cx="6858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fg_kpi_row-card-1 Layout"/>
          <p:cNvSpPr/>
          <p:nvPr/>
        </p:nvSpPr>
        <p:spPr>
          <a:xfrm>
            <a:off x="609600" y="1485900"/>
            <a:ext cx="2514600" cy="2000250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" name="fg_kpi_row-card-2 Layout"/>
          <p:cNvSpPr/>
          <p:nvPr/>
        </p:nvSpPr>
        <p:spPr>
          <a:xfrm>
            <a:off x="3429000" y="1485900"/>
            <a:ext cx="2514600" cy="2000250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5" name="fg_kpi_row-card-3 Layout"/>
          <p:cNvSpPr/>
          <p:nvPr/>
        </p:nvSpPr>
        <p:spPr>
          <a:xfrm>
            <a:off x="6248400" y="1485900"/>
            <a:ext cx="2514600" cy="2000250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6" name="fg_kpi_row-card-4 Layout"/>
          <p:cNvSpPr/>
          <p:nvPr/>
        </p:nvSpPr>
        <p:spPr>
          <a:xfrm>
            <a:off x="9067800" y="1485900"/>
            <a:ext cx="2514600" cy="2000250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7" name="fg_kpi_row-takeaway Layout"/>
          <p:cNvSpPr/>
          <p:nvPr/>
        </p:nvSpPr>
        <p:spPr>
          <a:xfrm>
            <a:off x="609600" y="3790950"/>
            <a:ext cx="10972800" cy="2000250"/>
          </a:xfrm>
          <a:prstGeom prst="roundRect">
            <a:avLst>
              <a:gd name="adj" fmla="val 5714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8" name="fg_kpi_row-takeaway-mark Layout"/>
          <p:cNvSpPr/>
          <p:nvPr/>
        </p:nvSpPr>
        <p:spPr>
          <a:xfrm>
            <a:off x="609600" y="3790950"/>
            <a:ext cx="38100" cy="2000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fg_kpi_row-title-slot Placeholder"/>
          <p:cNvSpPr>
            <a:spLocks noGrp="1"/>
          </p:cNvSpPr>
          <p:nvPr>
            <p:ph type="title"/>
          </p:nvPr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0" name="fg_kpi_row-kpi-1-slot Placeholder"/>
          <p:cNvSpPr>
            <a:spLocks noGrp="1"/>
          </p:cNvSpPr>
          <p:nvPr>
            <p:ph type="obj" idx="1"/>
          </p:nvPr>
        </p:nvSpPr>
        <p:spPr>
          <a:xfrm>
            <a:off x="762000" y="1638300"/>
            <a:ext cx="2209800" cy="1695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ctr">
              <a:lnSpc>
                <a:spcPts val="2850"/>
              </a:lnSpc>
            </a:pPr>
            <a:r>
              <a:rPr lang="zh-Hant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11" name="fg_kpi_row-kpi-2-slot Placeholder"/>
          <p:cNvSpPr>
            <a:spLocks noGrp="1"/>
          </p:cNvSpPr>
          <p:nvPr>
            <p:ph type="obj" idx="2"/>
          </p:nvPr>
        </p:nvSpPr>
        <p:spPr>
          <a:xfrm>
            <a:off x="3581400" y="1638300"/>
            <a:ext cx="2209800" cy="1695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ctr">
              <a:lnSpc>
                <a:spcPts val="2850"/>
              </a:lnSpc>
            </a:pPr>
            <a:r>
              <a:rPr lang="zh-Hant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12" name="fg_kpi_row-kpi-3-slot Placeholder"/>
          <p:cNvSpPr>
            <a:spLocks noGrp="1"/>
          </p:cNvSpPr>
          <p:nvPr>
            <p:ph type="obj" idx="3"/>
          </p:nvPr>
        </p:nvSpPr>
        <p:spPr>
          <a:xfrm>
            <a:off x="6400800" y="1638300"/>
            <a:ext cx="2209800" cy="1695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ctr">
              <a:lnSpc>
                <a:spcPts val="2850"/>
              </a:lnSpc>
            </a:pPr>
            <a:r>
              <a:rPr lang="zh-Hant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13" name="fg_kpi_row-kpi-4-slot Placeholder"/>
          <p:cNvSpPr>
            <a:spLocks noGrp="1"/>
          </p:cNvSpPr>
          <p:nvPr>
            <p:ph type="obj" idx="4"/>
          </p:nvPr>
        </p:nvSpPr>
        <p:spPr>
          <a:xfrm>
            <a:off x="9220200" y="1638300"/>
            <a:ext cx="2209800" cy="1695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ctr">
              <a:lnSpc>
                <a:spcPts val="2850"/>
              </a:lnSpc>
            </a:pPr>
            <a:r>
              <a:rPr lang="zh-Hant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14" name="fg_kpi_row-evidence-slot Placeholder"/>
          <p:cNvSpPr>
            <a:spLocks noGrp="1"/>
          </p:cNvSpPr>
          <p:nvPr>
            <p:ph type="obj" idx="5"/>
          </p:nvPr>
        </p:nvSpPr>
        <p:spPr>
          <a:xfrm>
            <a:off x="838200" y="3943350"/>
            <a:ext cx="10515600" cy="16954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15" name="fg_kpi_row-page-slot Placeholder"/>
          <p:cNvSpPr>
            <a:spLocks noGrp="1"/>
          </p:cNvSpPr>
          <p:nvPr>
            <p:ph type="sldNum" idx="6"/>
          </p:nvPr>
        </p:nvSpPr>
        <p:spPr>
          <a:xfrm>
            <a:off x="10820400" y="6286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r"/>
            <a:fld id="{5C69815B-E0AC-4D01-BF4C-381FFC984822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172387494"/>
      </p:ext>
    </p:extLst>
  </p:cSld>
  <p:clrMapOvr>
    <a:masterClrMapping/>
  </p:clrMapOvr>
  <p:hf hdr="0" dt="0" ftr="0" sldNum="1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G Thre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g_three_card-title-rule Layout"/>
          <p:cNvSpPr/>
          <p:nvPr/>
        </p:nvSpPr>
        <p:spPr>
          <a:xfrm>
            <a:off x="609600" y="1123950"/>
            <a:ext cx="6858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fg_three_card-panel-1 Layout"/>
          <p:cNvSpPr/>
          <p:nvPr/>
        </p:nvSpPr>
        <p:spPr>
          <a:xfrm>
            <a:off x="609600" y="1447800"/>
            <a:ext cx="3505200" cy="3390900"/>
          </a:xfrm>
          <a:prstGeom prst="roundRect">
            <a:avLst>
              <a:gd name="adj" fmla="val 3371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4" name="fg_three_card-panel-2 Layout"/>
          <p:cNvSpPr/>
          <p:nvPr/>
        </p:nvSpPr>
        <p:spPr>
          <a:xfrm>
            <a:off x="4343400" y="1447800"/>
            <a:ext cx="3505200" cy="3390900"/>
          </a:xfrm>
          <a:prstGeom prst="roundRect">
            <a:avLst>
              <a:gd name="adj" fmla="val 3371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5" name="fg_three_card-panel-3 Layout"/>
          <p:cNvSpPr/>
          <p:nvPr/>
        </p:nvSpPr>
        <p:spPr>
          <a:xfrm>
            <a:off x="8077200" y="1447800"/>
            <a:ext cx="3505200" cy="3390900"/>
          </a:xfrm>
          <a:prstGeom prst="roundRect">
            <a:avLst>
              <a:gd name="adj" fmla="val 3371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6" name="fg_three_card-takeaway Layout"/>
          <p:cNvSpPr/>
          <p:nvPr/>
        </p:nvSpPr>
        <p:spPr>
          <a:xfrm>
            <a:off x="609600" y="5105400"/>
            <a:ext cx="10972800" cy="990600"/>
          </a:xfrm>
          <a:prstGeom prst="roundRect">
            <a:avLst>
              <a:gd name="adj" fmla="val 9615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7" name="fg_three_card-takeaway-mark Layout"/>
          <p:cNvSpPr/>
          <p:nvPr/>
        </p:nvSpPr>
        <p:spPr>
          <a:xfrm>
            <a:off x="609600" y="5105400"/>
            <a:ext cx="381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fg_three_card-title-slot Placeholder"/>
          <p:cNvSpPr>
            <a:spLocks noGrp="1"/>
          </p:cNvSpPr>
          <p:nvPr>
            <p:ph type="title"/>
          </p:nvPr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fg_three_card-card-1-slot Placeholder"/>
          <p:cNvSpPr>
            <a:spLocks noGrp="1"/>
          </p:cNvSpPr>
          <p:nvPr>
            <p:ph type="obj" idx="1"/>
          </p:nvPr>
        </p:nvSpPr>
        <p:spPr>
          <a:xfrm>
            <a:off x="838200" y="1676400"/>
            <a:ext cx="3048000" cy="29337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10" name="fg_three_card-card-2-slot Placeholder"/>
          <p:cNvSpPr>
            <a:spLocks noGrp="1"/>
          </p:cNvSpPr>
          <p:nvPr>
            <p:ph type="obj" idx="2"/>
          </p:nvPr>
        </p:nvSpPr>
        <p:spPr>
          <a:xfrm>
            <a:off x="4572000" y="1676400"/>
            <a:ext cx="3048000" cy="29337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11" name="fg_three_card-card-3-slot Placeholder"/>
          <p:cNvSpPr>
            <a:spLocks noGrp="1"/>
          </p:cNvSpPr>
          <p:nvPr>
            <p:ph type="obj" idx="3"/>
          </p:nvPr>
        </p:nvSpPr>
        <p:spPr>
          <a:xfrm>
            <a:off x="8305800" y="1676400"/>
            <a:ext cx="3048000" cy="29337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12" name="fg_three_card-takeaway-slot Placeholder"/>
          <p:cNvSpPr>
            <a:spLocks noGrp="1"/>
          </p:cNvSpPr>
          <p:nvPr>
            <p:ph type="obj" idx="4"/>
          </p:nvPr>
        </p:nvSpPr>
        <p:spPr>
          <a:xfrm>
            <a:off x="838200" y="525780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>
              <a:lnSpc>
                <a:spcPts val="2400"/>
              </a:lnSpc>
            </a:pPr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13" name="fg_three_card-page-slot Placeholder"/>
          <p:cNvSpPr>
            <a:spLocks noGrp="1"/>
          </p:cNvSpPr>
          <p:nvPr>
            <p:ph type="sldNum" idx="5"/>
          </p:nvPr>
        </p:nvSpPr>
        <p:spPr>
          <a:xfrm>
            <a:off x="10820400" y="6286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r"/>
            <a:fld id="{CB37E137-6B36-4257-8FF1-103170BDAC2B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593714930"/>
      </p:ext>
    </p:extLst>
  </p:cSld>
  <p:clrMapOvr>
    <a:masterClrMapping/>
  </p:clrMapOvr>
  <p:hf hdr="0" dt="0" ftr="0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G Full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g_full_canvas-title-rule Layout"/>
          <p:cNvSpPr/>
          <p:nvPr/>
        </p:nvSpPr>
        <p:spPr>
          <a:xfrm>
            <a:off x="609600" y="1123950"/>
            <a:ext cx="6858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fg_full_canvas-panel Layout"/>
          <p:cNvSpPr/>
          <p:nvPr/>
        </p:nvSpPr>
        <p:spPr>
          <a:xfrm>
            <a:off x="609600" y="1447800"/>
            <a:ext cx="10972800" cy="4648200"/>
          </a:xfrm>
          <a:prstGeom prst="roundRect">
            <a:avLst>
              <a:gd name="adj" fmla="val 2459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4" name="fg_full_canvas-title-slot Placeholder"/>
          <p:cNvSpPr>
            <a:spLocks noGrp="1"/>
          </p:cNvSpPr>
          <p:nvPr>
            <p:ph type="title"/>
          </p:nvPr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fg_full_canvas-object-slot Placeholder"/>
          <p:cNvSpPr>
            <a:spLocks noGrp="1"/>
          </p:cNvSpPr>
          <p:nvPr>
            <p:ph type="obj" idx="1"/>
          </p:nvPr>
        </p:nvSpPr>
        <p:spPr>
          <a:xfrm>
            <a:off x="838200" y="1676400"/>
            <a:ext cx="10515600" cy="4191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fg_full_canvas-page-slot Placeholder"/>
          <p:cNvSpPr>
            <a:spLocks noGrp="1"/>
          </p:cNvSpPr>
          <p:nvPr>
            <p:ph type="sldNum" idx="2"/>
          </p:nvPr>
        </p:nvSpPr>
        <p:spPr>
          <a:xfrm>
            <a:off x="10820400" y="6286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r"/>
            <a:fld id="{C091C311-B0B9-46DC-8DFB-CAB59CEFAE3B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052259294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G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g_two_picture-title-rule Layout"/>
          <p:cNvSpPr/>
          <p:nvPr/>
        </p:nvSpPr>
        <p:spPr>
          <a:xfrm>
            <a:off x="609600" y="1123950"/>
            <a:ext cx="6858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fg_two_picture-left-frame Layout"/>
          <p:cNvSpPr/>
          <p:nvPr/>
        </p:nvSpPr>
        <p:spPr>
          <a:xfrm>
            <a:off x="609600" y="1447800"/>
            <a:ext cx="5257800" cy="2590800"/>
          </a:xfrm>
          <a:prstGeom prst="roundRect">
            <a:avLst>
              <a:gd name="adj" fmla="val 3676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4" name="fg_two_picture-right-frame Layout"/>
          <p:cNvSpPr/>
          <p:nvPr/>
        </p:nvSpPr>
        <p:spPr>
          <a:xfrm>
            <a:off x="6324600" y="1447800"/>
            <a:ext cx="5257800" cy="2590800"/>
          </a:xfrm>
          <a:prstGeom prst="roundRect">
            <a:avLst>
              <a:gd name="adj" fmla="val 3676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5" name="fg_two_picture-left-caption Layout"/>
          <p:cNvSpPr/>
          <p:nvPr/>
        </p:nvSpPr>
        <p:spPr>
          <a:xfrm>
            <a:off x="609600" y="4229100"/>
            <a:ext cx="5257800" cy="1143000"/>
          </a:xfrm>
          <a:prstGeom prst="roundRect">
            <a:avLst>
              <a:gd name="adj" fmla="val 833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6" name="fg_two_picture-right-caption Layout"/>
          <p:cNvSpPr/>
          <p:nvPr/>
        </p:nvSpPr>
        <p:spPr>
          <a:xfrm>
            <a:off x="6324600" y="4229100"/>
            <a:ext cx="5257800" cy="1143000"/>
          </a:xfrm>
          <a:prstGeom prst="roundRect">
            <a:avLst>
              <a:gd name="adj" fmla="val 833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7" name="fg_two_picture-title-slot Placeholder"/>
          <p:cNvSpPr>
            <a:spLocks noGrp="1"/>
          </p:cNvSpPr>
          <p:nvPr>
            <p:ph type="title"/>
          </p:nvPr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fg_two_picture-left-picture-slot Placeholder"/>
          <p:cNvSpPr>
            <a:spLocks noGrp="1"/>
          </p:cNvSpPr>
          <p:nvPr>
            <p:ph type="pic" idx="1"/>
          </p:nvPr>
        </p:nvSpPr>
        <p:spPr>
          <a:xfrm>
            <a:off x="609600" y="1447800"/>
            <a:ext cx="5257800" cy="25908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9" name="fg_two_picture-right-picture-slot Placeholder"/>
          <p:cNvSpPr>
            <a:spLocks noGrp="1"/>
          </p:cNvSpPr>
          <p:nvPr>
            <p:ph type="pic" idx="2"/>
          </p:nvPr>
        </p:nvSpPr>
        <p:spPr>
          <a:xfrm>
            <a:off x="6324600" y="1447800"/>
            <a:ext cx="5257800" cy="25908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0" name="fg_two_picture-left-caption-slot Placeholder"/>
          <p:cNvSpPr>
            <a:spLocks noGrp="1"/>
          </p:cNvSpPr>
          <p:nvPr>
            <p:ph type="body" idx="3"/>
          </p:nvPr>
        </p:nvSpPr>
        <p:spPr>
          <a:xfrm>
            <a:off x="838200" y="441960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lnSpc>
                <a:spcPts val="2100"/>
              </a:lnSpc>
              <a:buNone/>
            </a:pPr>
            <a:r>
              <a:rPr lang="zh-Hant-TW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fg_two_picture-right-caption-slot Placeholder"/>
          <p:cNvSpPr>
            <a:spLocks noGrp="1"/>
          </p:cNvSpPr>
          <p:nvPr>
            <p:ph type="body" idx="4"/>
          </p:nvPr>
        </p:nvSpPr>
        <p:spPr>
          <a:xfrm>
            <a:off x="6553200" y="441960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lnSpc>
                <a:spcPts val="2100"/>
              </a:lnSpc>
              <a:buNone/>
            </a:pPr>
            <a:r>
              <a:rPr lang="zh-Hant-TW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fg_two_picture-page-slot Placeholder"/>
          <p:cNvSpPr>
            <a:spLocks noGrp="1"/>
          </p:cNvSpPr>
          <p:nvPr>
            <p:ph type="sldNum" idx="5"/>
          </p:nvPr>
        </p:nvSpPr>
        <p:spPr>
          <a:xfrm>
            <a:off x="10820400" y="6286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r"/>
            <a:fld id="{51034344-3960-4FD0-96AB-E24A46AA5762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26247384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G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g_comparison-title-rule Layout"/>
          <p:cNvSpPr/>
          <p:nvPr/>
        </p:nvSpPr>
        <p:spPr>
          <a:xfrm>
            <a:off x="609600" y="1123950"/>
            <a:ext cx="6858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fg_comparison-left-panel Layout"/>
          <p:cNvSpPr/>
          <p:nvPr/>
        </p:nvSpPr>
        <p:spPr>
          <a:xfrm>
            <a:off x="609600" y="1447800"/>
            <a:ext cx="5257800" cy="3390900"/>
          </a:xfrm>
          <a:prstGeom prst="roundRect">
            <a:avLst>
              <a:gd name="adj" fmla="val 3371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4" name="fg_comparison-right-panel Layout"/>
          <p:cNvSpPr/>
          <p:nvPr/>
        </p:nvSpPr>
        <p:spPr>
          <a:xfrm>
            <a:off x="6324600" y="1447800"/>
            <a:ext cx="5257800" cy="3390900"/>
          </a:xfrm>
          <a:prstGeom prst="roundRect">
            <a:avLst>
              <a:gd name="adj" fmla="val 3371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5" name="fg_comparison-divider Layout"/>
          <p:cNvSpPr/>
          <p:nvPr/>
        </p:nvSpPr>
        <p:spPr>
          <a:xfrm>
            <a:off x="6076950" y="1752600"/>
            <a:ext cx="38100" cy="27813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fg_comparison-note Layout"/>
          <p:cNvSpPr/>
          <p:nvPr/>
        </p:nvSpPr>
        <p:spPr>
          <a:xfrm>
            <a:off x="609600" y="5105400"/>
            <a:ext cx="10972800" cy="990600"/>
          </a:xfrm>
          <a:prstGeom prst="roundRect">
            <a:avLst>
              <a:gd name="adj" fmla="val 9615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7" name="fg_comparison-note-mark Layout"/>
          <p:cNvSpPr/>
          <p:nvPr/>
        </p:nvSpPr>
        <p:spPr>
          <a:xfrm>
            <a:off x="609600" y="5105400"/>
            <a:ext cx="381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fg_comparison-title-slot Placeholder"/>
          <p:cNvSpPr>
            <a:spLocks noGrp="1"/>
          </p:cNvSpPr>
          <p:nvPr>
            <p:ph type="title"/>
          </p:nvPr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fg_comparison-left-title-slot Placeholder"/>
          <p:cNvSpPr>
            <a:spLocks noGrp="1"/>
          </p:cNvSpPr>
          <p:nvPr>
            <p:ph type="body" idx="1"/>
          </p:nvPr>
        </p:nvSpPr>
        <p:spPr>
          <a:xfrm>
            <a:off x="838200" y="1676400"/>
            <a:ext cx="48006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Hant-TW" sz="24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fg_comparison-left-content-slot Placeholder"/>
          <p:cNvSpPr>
            <a:spLocks noGrp="1"/>
          </p:cNvSpPr>
          <p:nvPr>
            <p:ph type="obj" idx="2"/>
          </p:nvPr>
        </p:nvSpPr>
        <p:spPr>
          <a:xfrm>
            <a:off x="838200" y="2286000"/>
            <a:ext cx="4800600" cy="23241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11" name="fg_comparison-right-title-slot Placeholder"/>
          <p:cNvSpPr>
            <a:spLocks noGrp="1"/>
          </p:cNvSpPr>
          <p:nvPr>
            <p:ph type="body" idx="3"/>
          </p:nvPr>
        </p:nvSpPr>
        <p:spPr>
          <a:xfrm>
            <a:off x="6553200" y="1676400"/>
            <a:ext cx="48006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zh-Hant-TW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fg_comparison-right-content-slot Placeholder"/>
          <p:cNvSpPr>
            <a:spLocks noGrp="1"/>
          </p:cNvSpPr>
          <p:nvPr>
            <p:ph type="obj" idx="4"/>
          </p:nvPr>
        </p:nvSpPr>
        <p:spPr>
          <a:xfrm>
            <a:off x="6553200" y="2286000"/>
            <a:ext cx="4800600" cy="23241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13" name="fg_comparison-note-slot Placeholder"/>
          <p:cNvSpPr>
            <a:spLocks noGrp="1"/>
          </p:cNvSpPr>
          <p:nvPr>
            <p:ph type="obj" idx="5"/>
          </p:nvPr>
        </p:nvSpPr>
        <p:spPr>
          <a:xfrm>
            <a:off x="838200" y="525780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l">
              <a:lnSpc>
                <a:spcPts val="2400"/>
              </a:lnSpc>
            </a:pPr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14" name="fg_comparison-page-slot Placeholder"/>
          <p:cNvSpPr>
            <a:spLocks noGrp="1"/>
          </p:cNvSpPr>
          <p:nvPr>
            <p:ph type="sldNum" idx="6"/>
          </p:nvPr>
        </p:nvSpPr>
        <p:spPr>
          <a:xfrm>
            <a:off x="10820400" y="6286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r"/>
            <a:fld id="{DF0BD294-9CF8-4E73-AF7A-53CD50E572DD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62550374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G Caption 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g_caption_focus-rail-rule Layout"/>
          <p:cNvSpPr/>
          <p:nvPr/>
        </p:nvSpPr>
        <p:spPr>
          <a:xfrm>
            <a:off x="609600" y="2914650"/>
            <a:ext cx="6858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fg_caption_focus-panel Layout"/>
          <p:cNvSpPr/>
          <p:nvPr/>
        </p:nvSpPr>
        <p:spPr>
          <a:xfrm>
            <a:off x="4381500" y="609600"/>
            <a:ext cx="7200900" cy="5638800"/>
          </a:xfrm>
          <a:prstGeom prst="roundRect">
            <a:avLst>
              <a:gd name="adj" fmla="val 2027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4" name="fg_caption_focus-title-slot Placeholder"/>
          <p:cNvSpPr>
            <a:spLocks noGrp="1"/>
          </p:cNvSpPr>
          <p:nvPr>
            <p:ph type="title"/>
          </p:nvPr>
        </p:nvSpPr>
        <p:spPr>
          <a:xfrm>
            <a:off x="609600" y="914400"/>
            <a:ext cx="3086100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>
              <a:lnSpc>
                <a:spcPts val="4500"/>
              </a:lnSpc>
            </a:pPr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fg_caption_focus-body-slot Placeholder"/>
          <p:cNvSpPr>
            <a:spLocks noGrp="1"/>
          </p:cNvSpPr>
          <p:nvPr>
            <p:ph type="body" idx="1"/>
          </p:nvPr>
        </p:nvSpPr>
        <p:spPr>
          <a:xfrm>
            <a:off x="609600" y="3143250"/>
            <a:ext cx="30861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lnSpc>
                <a:spcPts val="2400"/>
              </a:lnSpc>
              <a:buNone/>
            </a:pPr>
            <a:r>
              <a:rPr lang="zh-Hant-TW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fg_caption_focus-object-slot Placeholder"/>
          <p:cNvSpPr>
            <a:spLocks noGrp="1"/>
          </p:cNvSpPr>
          <p:nvPr>
            <p:ph type="obj" idx="2"/>
          </p:nvPr>
        </p:nvSpPr>
        <p:spPr>
          <a:xfrm>
            <a:off x="4610100" y="838200"/>
            <a:ext cx="6743700" cy="5181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7" name="fg_caption_focus-page-slot Placeholder"/>
          <p:cNvSpPr>
            <a:spLocks noGrp="1"/>
          </p:cNvSpPr>
          <p:nvPr>
            <p:ph type="sldNum" idx="3"/>
          </p:nvPr>
        </p:nvSpPr>
        <p:spPr>
          <a:xfrm>
            <a:off x="10820400" y="6286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r"/>
            <a:fld id="{17932FDE-E13E-4315-BC96-C2B9AA15DE20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771100346"/>
      </p:ext>
    </p:extLst>
  </p:cSld>
  <p:clrMapOvr>
    <a:masterClrMapping/>
  </p:clrMapOvr>
  <p:hf hdr="0" dt="0" ftr="0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G Table and Ins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g_table_insight-title-rule Layout"/>
          <p:cNvSpPr/>
          <p:nvPr/>
        </p:nvSpPr>
        <p:spPr>
          <a:xfrm>
            <a:off x="609600" y="1123950"/>
            <a:ext cx="6858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fg_table_insight-table-panel Layout"/>
          <p:cNvSpPr/>
          <p:nvPr/>
        </p:nvSpPr>
        <p:spPr>
          <a:xfrm>
            <a:off x="609600" y="1447800"/>
            <a:ext cx="7239000" cy="4343400"/>
          </a:xfrm>
          <a:prstGeom prst="roundRect">
            <a:avLst>
              <a:gd name="adj" fmla="val 2632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4" name="fg_table_insight-message-panel Layout"/>
          <p:cNvSpPr/>
          <p:nvPr/>
        </p:nvSpPr>
        <p:spPr>
          <a:xfrm>
            <a:off x="8153400" y="1447800"/>
            <a:ext cx="3429000" cy="4343400"/>
          </a:xfrm>
          <a:prstGeom prst="roundRect">
            <a:avLst>
              <a:gd name="adj" fmla="val 333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5" name="fg_table_insight-title-slot Placeholder"/>
          <p:cNvSpPr>
            <a:spLocks noGrp="1"/>
          </p:cNvSpPr>
          <p:nvPr>
            <p:ph type="title"/>
          </p:nvPr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fg_table_insight-table-slot Placeholder"/>
          <p:cNvSpPr>
            <a:spLocks noGrp="1"/>
          </p:cNvSpPr>
          <p:nvPr>
            <p:ph type="tbl" idx="1"/>
          </p:nvPr>
        </p:nvSpPr>
        <p:spPr>
          <a:xfrm>
            <a:off x="838200" y="1676400"/>
            <a:ext cx="6781800" cy="3886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table</a:t>
            </a:r>
            <a:endParaRPr lang="en-US"/>
          </a:p>
        </p:txBody>
      </p:sp>
      <p:sp>
        <p:nvSpPr>
          <p:cNvPr id="7" name="fg_table_insight-message-slot Placeholder"/>
          <p:cNvSpPr>
            <a:spLocks noGrp="1"/>
          </p:cNvSpPr>
          <p:nvPr>
            <p:ph type="body" idx="2"/>
          </p:nvPr>
        </p:nvSpPr>
        <p:spPr>
          <a:xfrm>
            <a:off x="8458200" y="1752600"/>
            <a:ext cx="281940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lnSpc>
                <a:spcPts val="2400"/>
              </a:lnSpc>
              <a:buNone/>
            </a:pPr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fg_table_insight-source-slot Placeholder"/>
          <p:cNvSpPr>
            <a:spLocks noGrp="1"/>
          </p:cNvSpPr>
          <p:nvPr>
            <p:ph type="ftr" idx="3"/>
          </p:nvPr>
        </p:nvSpPr>
        <p:spPr>
          <a:xfrm>
            <a:off x="8458200" y="5181600"/>
            <a:ext cx="2819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9" name="fg_table_insight-page-slot Placeholder"/>
          <p:cNvSpPr>
            <a:spLocks noGrp="1"/>
          </p:cNvSpPr>
          <p:nvPr>
            <p:ph type="sldNum" idx="4"/>
          </p:nvPr>
        </p:nvSpPr>
        <p:spPr>
          <a:xfrm>
            <a:off x="10820400" y="6286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r"/>
            <a:fld id="{0E0E5E05-4899-4BFB-BC88-D972773E4BA8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808549615"/>
      </p:ext>
    </p:extLst>
  </p:cSld>
  <p:clrMapOvr>
    <a:masterClrMapping/>
  </p:clrMapOvr>
  <p:hf hdr="0" dt="0" ftr="1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G Chart and Ins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g_chart_insight-title-rule Layout"/>
          <p:cNvSpPr/>
          <p:nvPr/>
        </p:nvSpPr>
        <p:spPr>
          <a:xfrm>
            <a:off x="609600" y="1123950"/>
            <a:ext cx="6858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fg_chart_insight-chart-panel Layout"/>
          <p:cNvSpPr/>
          <p:nvPr/>
        </p:nvSpPr>
        <p:spPr>
          <a:xfrm>
            <a:off x="609600" y="1447800"/>
            <a:ext cx="7239000" cy="4343400"/>
          </a:xfrm>
          <a:prstGeom prst="roundRect">
            <a:avLst>
              <a:gd name="adj" fmla="val 2632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4" name="fg_chart_insight-message-panel Layout"/>
          <p:cNvSpPr/>
          <p:nvPr/>
        </p:nvSpPr>
        <p:spPr>
          <a:xfrm>
            <a:off x="8153400" y="1447800"/>
            <a:ext cx="3429000" cy="4343400"/>
          </a:xfrm>
          <a:prstGeom prst="roundRect">
            <a:avLst>
              <a:gd name="adj" fmla="val 333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5" name="fg_chart_insight-title-slot Placeholder"/>
          <p:cNvSpPr>
            <a:spLocks noGrp="1"/>
          </p:cNvSpPr>
          <p:nvPr>
            <p:ph type="title"/>
          </p:nvPr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fg_chart_insight-chart-slot Placeholder"/>
          <p:cNvSpPr>
            <a:spLocks noGrp="1"/>
          </p:cNvSpPr>
          <p:nvPr>
            <p:ph type="chart" idx="1"/>
          </p:nvPr>
        </p:nvSpPr>
        <p:spPr>
          <a:xfrm>
            <a:off x="838200" y="1676400"/>
            <a:ext cx="6781800" cy="3886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chart</a:t>
            </a:r>
            <a:endParaRPr lang="en-US"/>
          </a:p>
        </p:txBody>
      </p:sp>
      <p:sp>
        <p:nvSpPr>
          <p:cNvPr id="7" name="fg_chart_insight-message-slot Placeholder"/>
          <p:cNvSpPr>
            <a:spLocks noGrp="1"/>
          </p:cNvSpPr>
          <p:nvPr>
            <p:ph type="body" idx="2"/>
          </p:nvPr>
        </p:nvSpPr>
        <p:spPr>
          <a:xfrm>
            <a:off x="8458200" y="1752600"/>
            <a:ext cx="281940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lnSpc>
                <a:spcPts val="2400"/>
              </a:lnSpc>
              <a:buNone/>
            </a:pPr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fg_chart_insight-source-slot Placeholder"/>
          <p:cNvSpPr>
            <a:spLocks noGrp="1"/>
          </p:cNvSpPr>
          <p:nvPr>
            <p:ph type="ftr" idx="3"/>
          </p:nvPr>
        </p:nvSpPr>
        <p:spPr>
          <a:xfrm>
            <a:off x="8458200" y="5181600"/>
            <a:ext cx="2819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9" name="fg_chart_insight-page-slot Placeholder"/>
          <p:cNvSpPr>
            <a:spLocks noGrp="1"/>
          </p:cNvSpPr>
          <p:nvPr>
            <p:ph type="sldNum" idx="4"/>
          </p:nvPr>
        </p:nvSpPr>
        <p:spPr>
          <a:xfrm>
            <a:off x="10820400" y="6286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r"/>
            <a:fld id="{38F3055F-1DB6-45AF-BDCF-AA899A53C699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705852111"/>
      </p:ext>
    </p:extLst>
  </p:cSld>
  <p:clrMapOvr>
    <a:masterClrMapping/>
  </p:clrMapOvr>
  <p:hf hdr="0" dt="0" ftr="1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G Data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g_data_story-title-rule Layout"/>
          <p:cNvSpPr/>
          <p:nvPr/>
        </p:nvSpPr>
        <p:spPr>
          <a:xfrm>
            <a:off x="609600" y="1123950"/>
            <a:ext cx="6858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fg_data_story-evidence-panel Layout"/>
          <p:cNvSpPr/>
          <p:nvPr/>
        </p:nvSpPr>
        <p:spPr>
          <a:xfrm>
            <a:off x="609600" y="1447800"/>
            <a:ext cx="7239000" cy="4343400"/>
          </a:xfrm>
          <a:prstGeom prst="roundRect">
            <a:avLst>
              <a:gd name="adj" fmla="val 2632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4" name="fg_data_story-insight-panel Layout"/>
          <p:cNvSpPr/>
          <p:nvPr/>
        </p:nvSpPr>
        <p:spPr>
          <a:xfrm>
            <a:off x="8153400" y="1447800"/>
            <a:ext cx="3429000" cy="4343400"/>
          </a:xfrm>
          <a:prstGeom prst="roundRect">
            <a:avLst>
              <a:gd name="adj" fmla="val 333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5" name="fg_data_story-source-rule Layout"/>
          <p:cNvSpPr/>
          <p:nvPr/>
        </p:nvSpPr>
        <p:spPr>
          <a:xfrm>
            <a:off x="609600" y="6057900"/>
            <a:ext cx="9906000" cy="190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6" name="fg_data_story-title-slot Placeholder"/>
          <p:cNvSpPr>
            <a:spLocks noGrp="1"/>
          </p:cNvSpPr>
          <p:nvPr>
            <p:ph type="title"/>
          </p:nvPr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fg_data_story-evidence-slot Placeholder"/>
          <p:cNvSpPr>
            <a:spLocks noGrp="1"/>
          </p:cNvSpPr>
          <p:nvPr>
            <p:ph type="obj" idx="1"/>
          </p:nvPr>
        </p:nvSpPr>
        <p:spPr>
          <a:xfrm>
            <a:off x="838200" y="1676400"/>
            <a:ext cx="6781800" cy="3886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8" name="fg_data_story-insight-slot Placeholder"/>
          <p:cNvSpPr>
            <a:spLocks noGrp="1"/>
          </p:cNvSpPr>
          <p:nvPr>
            <p:ph type="body" idx="2"/>
          </p:nvPr>
        </p:nvSpPr>
        <p:spPr>
          <a:xfrm>
            <a:off x="8458200" y="1752600"/>
            <a:ext cx="28194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lnSpc>
                <a:spcPts val="2250"/>
              </a:lnSpc>
              <a:buNone/>
            </a:pPr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fg_data_story-source-slot Placeholder"/>
          <p:cNvSpPr>
            <a:spLocks noGrp="1"/>
          </p:cNvSpPr>
          <p:nvPr>
            <p:ph type="ftr" idx="3"/>
          </p:nvPr>
        </p:nvSpPr>
        <p:spPr>
          <a:xfrm>
            <a:off x="609600" y="62103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10" name="fg_data_story-page-slot Placeholder"/>
          <p:cNvSpPr>
            <a:spLocks noGrp="1"/>
          </p:cNvSpPr>
          <p:nvPr>
            <p:ph type="sldNum" idx="4"/>
          </p:nvPr>
        </p:nvSpPr>
        <p:spPr>
          <a:xfrm>
            <a:off x="10820400" y="6286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r"/>
            <a:fld id="{8EF55DC3-279B-49C1-9664-54FD1B7913D6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275802372"/>
      </p:ext>
    </p:extLst>
  </p:cSld>
  <p:clrMapOvr>
    <a:masterClrMapping/>
  </p:clrMapOvr>
  <p:hf hdr="0" dt="0" ftr="1" sldNum="1"/>
</p:sldLayout>
</file>

<file path=ppt/slideLayouts/slideLayout2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G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g_two_content-title-rule Layout"/>
          <p:cNvSpPr/>
          <p:nvPr/>
        </p:nvSpPr>
        <p:spPr>
          <a:xfrm>
            <a:off x="609600" y="1123950"/>
            <a:ext cx="6858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fg_two_content-left-panel Layout"/>
          <p:cNvSpPr/>
          <p:nvPr/>
        </p:nvSpPr>
        <p:spPr>
          <a:xfrm>
            <a:off x="609600" y="1447800"/>
            <a:ext cx="5257800" cy="4038600"/>
          </a:xfrm>
          <a:prstGeom prst="roundRect">
            <a:avLst>
              <a:gd name="adj" fmla="val 2830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4" name="fg_two_content-right-panel Layout"/>
          <p:cNvSpPr/>
          <p:nvPr/>
        </p:nvSpPr>
        <p:spPr>
          <a:xfrm>
            <a:off x="6324600" y="1447800"/>
            <a:ext cx="5257800" cy="4038600"/>
          </a:xfrm>
          <a:prstGeom prst="roundRect">
            <a:avLst>
              <a:gd name="adj" fmla="val 2830"/>
            </a:avLst>
          </a:prstGeom>
          <a:solidFill>
            <a:srgbClr val="FAFBFC"/>
          </a:solidFill>
          <a:ln w="9525">
            <a:solidFill>
              <a:srgbClr val="E8EDF2"/>
            </a:solidFill>
          </a:ln>
        </p:spPr>
      </p:sp>
      <p:sp>
        <p:nvSpPr>
          <p:cNvPr id="5" name="fg_two_content-close Layout"/>
          <p:cNvSpPr/>
          <p:nvPr/>
        </p:nvSpPr>
        <p:spPr>
          <a:xfrm>
            <a:off x="609600" y="5676900"/>
            <a:ext cx="9906000" cy="914400"/>
          </a:xfrm>
          <a:prstGeom prst="roundRect">
            <a:avLst>
              <a:gd name="adj" fmla="val 1041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6" name="fg_two_content-close-mark Layout"/>
          <p:cNvSpPr/>
          <p:nvPr/>
        </p:nvSpPr>
        <p:spPr>
          <a:xfrm>
            <a:off x="609600" y="5676900"/>
            <a:ext cx="381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" name="fg_two_content-title-slot Placeholder"/>
          <p:cNvSpPr>
            <a:spLocks noGrp="1"/>
          </p:cNvSpPr>
          <p:nvPr>
            <p:ph type="title"/>
          </p:nvPr>
        </p:nvSpPr>
        <p:spPr>
          <a:xfrm>
            <a:off x="609600" y="4191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fg_two_content-left-slot Placeholder"/>
          <p:cNvSpPr>
            <a:spLocks noGrp="1"/>
          </p:cNvSpPr>
          <p:nvPr>
            <p:ph type="obj" idx="1"/>
          </p:nvPr>
        </p:nvSpPr>
        <p:spPr>
          <a:xfrm>
            <a:off x="838200" y="1676400"/>
            <a:ext cx="4800600" cy="35814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9" name="fg_two_content-right-slot Placeholder"/>
          <p:cNvSpPr>
            <a:spLocks noGrp="1"/>
          </p:cNvSpPr>
          <p:nvPr>
            <p:ph type="obj" idx="2"/>
          </p:nvPr>
        </p:nvSpPr>
        <p:spPr>
          <a:xfrm>
            <a:off x="6553200" y="1676400"/>
            <a:ext cx="4800600" cy="35814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10" name="fg_two_content-close-slot Placeholder"/>
          <p:cNvSpPr>
            <a:spLocks noGrp="1"/>
          </p:cNvSpPr>
          <p:nvPr>
            <p:ph type="obj" idx="3"/>
          </p:nvPr>
        </p:nvSpPr>
        <p:spPr>
          <a:xfrm>
            <a:off x="838200" y="58293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11" name="fg_two_content-page-slot Placeholder"/>
          <p:cNvSpPr>
            <a:spLocks noGrp="1"/>
          </p:cNvSpPr>
          <p:nvPr>
            <p:ph type="sldNum" idx="4"/>
          </p:nvPr>
        </p:nvSpPr>
        <p:spPr>
          <a:xfrm>
            <a:off x="10820400" y="6286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r"/>
            <a:fld id="{CE08C363-E640-410F-9521-39B4323F7CB7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69684110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  <Relationship Id="rId23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Presentation Cor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f8a0a6bdd814af52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23f5061bc928af02.png"/>
  <Relationship Id="rId3" Type="http://schemas.openxmlformats.org/officeDocument/2006/relationships/image" Target="../media/image_418fc649a435e6dc.pn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  <Relationship Id="rId2" Type="http://schemas.openxmlformats.org/officeDocument/2006/relationships/chart" Target="../charts/chart1101.xml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  <Relationship Id="rId2" Type="http://schemas.openxmlformats.org/officeDocument/2006/relationships/chart" Target="../charts/chart1201.xml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  <Relationship Id="rId2" Type="http://schemas.openxmlformats.org/officeDocument/2006/relationships/chart" Target="../charts/chart1301.xml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2.xml"/>
  <Relationship Id="rId2" Type="http://schemas.openxmlformats.org/officeDocument/2006/relationships/image" Target="../media/image_8ecb40efa32fa7e5.png"/>
  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g_cover_split-title-slot Placeholder Carrier"/>
          <p:cNvSpPr txBox="1"/>
          <p:nvPr>
            <p:ph type="title"/>
          </p:nvPr>
        </p:nvSpPr>
        <p:spPr>
          <a:xfrm>
            <a:off x="593598" y="3203258"/>
            <a:ext cx="429571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Factory Guardian AI</a:t>
            </a:r>
          </a:p>
        </p:txBody>
      </p:sp>
      <p:sp>
        <p:nvSpPr>
          <p:cNvPr id="6" name="fg_cover_split-subtitle-slot Placeholder Carrier"/>
          <p:cNvSpPr txBox="1"/>
          <p:nvPr>
            <p:ph type="subTitle" idx="1"/>
          </p:nvPr>
        </p:nvSpPr>
        <p:spPr>
          <a:xfrm>
            <a:off x="597408" y="4008120"/>
            <a:ext cx="487070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Hant-TW" sz="24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智慧工廠自主營運與風險管理平台</a:t>
            </a:r>
          </a:p>
        </p:txBody>
      </p:sp>
      <p:pic>
        <p:nvPicPr>
          <p:cNvPr id="7" name="fg_cover_split-picture-slot Placeholder Carrier"/>
          <p:cNvPicPr>
            <a:picLocks noChangeAspect="1"/>
          </p:cNvPicPr>
          <p:nvPr>
            <p:ph type="pic" idx="2"/>
          </p:nvPr>
        </p:nvPicPr>
        <p:blipFill>
          <a:blip r:embed="rId2"/>
          <a:stretch>
            <a:fillRect/>
          </a:stretch>
        </p:blipFill>
        <p:spPr>
          <a:xfrm>
            <a:off x="6858000" y="0"/>
            <a:ext cx="4572000" cy="68580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590550" y="1397318"/>
            <a:ext cx="4387596" cy="1566862"/>
            <a:chOff x="590550" y="1397318"/>
            <a:chExt cx="4387596" cy="1566862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139731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四組對照組跑在同一個孿生體上，產能最漂亮的那一組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1687830"/>
              <a:ext cx="3121167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6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88 分鐘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2742" y="4709160"/>
            <a:ext cx="3914203" cy="819341"/>
            <a:chOff x="602742" y="4709160"/>
            <a:chExt cx="3914203" cy="819341"/>
          </a:xfrm>
        </p:grpSpPr>
        <p:sp>
          <p:nvSpPr>
            <p:cNvPr id="11" name="TextBox 11"/>
            <p:cNvSpPr txBox="1"/>
            <p:nvPr/>
          </p:nvSpPr>
          <p:spPr>
            <a:xfrm>
              <a:off x="603504" y="47091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八階段閉環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2742" y="4997768"/>
              <a:ext cx="3914203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Hant-TW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偵測 → 診斷 → 影響分析 → 方案規劃 → 安全檢查 → 人</a:t>
              </a:r>
              <a:br/>
              <a:r>
                <a:rPr lang="zh-Hant-TW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工核准 → 執行派工 → 驗證恢復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03504" y="6195060"/>
            <a:ext cx="44244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2026 中華電信智慧創新應用大賽 ／ 智慧製造 ／ 競賽 MVP</a:t>
            </a:r>
          </a:p>
        </p:txBody>
      </p: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g_kpi_row-title-slot Placeholder Carrier"/>
          <p:cNvSpPr txBox="1"/>
          <p:nvPr>
            <p:ph type="title"/>
          </p:nvPr>
        </p:nvSpPr>
        <p:spPr>
          <a:xfrm>
            <a:off x="593598" y="555308"/>
            <a:ext cx="920215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同一組孿生體、同一個 seed，四組對照組的差距</a:t>
            </a:r>
          </a:p>
        </p:txBody>
      </p:sp>
      <p:sp>
        <p:nvSpPr>
          <p:cNvPr id="11" name="fg_kpi_row-kpi-1-slot Placeholder Carrier"/>
          <p:cNvSpPr txBox="1"/>
          <p:nvPr>
            <p:ph idx="1"/>
          </p:nvPr>
        </p:nvSpPr>
        <p:spPr>
          <a:xfrm>
            <a:off x="1088065" y="1816418"/>
            <a:ext cx="1252871" cy="11974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2850"/>
              </a:lnSpc>
            </a:pPr>
            <a:r>
              <a:rPr lang="zh-Hant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產能達成率</a:t>
            </a:r>
          </a:p>
          <a:p>
            <a:pPr algn="ctr">
              <a:lnSpc>
                <a:spcPts val="2850"/>
              </a:lnSpc>
            </a:pPr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現況 54.2%</a:t>
            </a:r>
          </a:p>
          <a:p>
            <a:pPr algn="ctr">
              <a:lnSpc>
                <a:spcPts val="2850"/>
              </a:lnSpc>
              <a:spcBef>
                <a:spcPts val="1650"/>
              </a:spcBef>
            </a:pPr>
            <a:r>
              <a:rPr lang="zh-Hant-TW" sz="31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94.6%</a:t>
            </a:r>
          </a:p>
        </p:txBody>
      </p:sp>
      <p:sp>
        <p:nvSpPr>
          <p:cNvPr id="12" name="fg_kpi_row-kpi-2-slot Placeholder Carrier"/>
          <p:cNvSpPr txBox="1"/>
          <p:nvPr>
            <p:ph idx="2"/>
          </p:nvPr>
        </p:nvSpPr>
        <p:spPr>
          <a:xfrm>
            <a:off x="3997452" y="1816418"/>
            <a:ext cx="1072896" cy="11974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2850"/>
              </a:lnSpc>
            </a:pPr>
            <a:r>
              <a:rPr lang="zh-Hant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最大交期延遲</a:t>
            </a:r>
          </a:p>
          <a:p>
            <a:pPr algn="ctr">
              <a:lnSpc>
                <a:spcPts val="2850"/>
              </a:lnSpc>
            </a:pPr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現況 1,385 min</a:t>
            </a:r>
          </a:p>
          <a:p>
            <a:pPr algn="ctr">
              <a:lnSpc>
                <a:spcPts val="2850"/>
              </a:lnSpc>
              <a:spcBef>
                <a:spcPts val="1650"/>
              </a:spcBef>
            </a:pPr>
            <a:r>
              <a:rPr lang="zh-Hant-TW" sz="31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 min</a:t>
            </a:r>
          </a:p>
        </p:txBody>
      </p:sp>
      <p:sp>
        <p:nvSpPr>
          <p:cNvPr id="13" name="fg_kpi_row-kpi-3-slot Placeholder Carrier"/>
          <p:cNvSpPr txBox="1"/>
          <p:nvPr>
            <p:ph idx="3"/>
          </p:nvPr>
        </p:nvSpPr>
        <p:spPr>
          <a:xfrm>
            <a:off x="6746367" y="1816418"/>
            <a:ext cx="1213866" cy="11974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2850"/>
              </a:lnSpc>
            </a:pPr>
            <a:r>
              <a:rPr lang="zh-Hant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人員危險區曝露</a:t>
            </a:r>
          </a:p>
          <a:p>
            <a:pPr algn="ctr">
              <a:lnSpc>
                <a:spcPts val="2850"/>
              </a:lnSpc>
            </a:pPr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現況 88 min</a:t>
            </a:r>
          </a:p>
          <a:p>
            <a:pPr algn="ctr">
              <a:lnSpc>
                <a:spcPts val="2850"/>
              </a:lnSpc>
              <a:spcBef>
                <a:spcPts val="1650"/>
              </a:spcBef>
            </a:pPr>
            <a:r>
              <a:rPr lang="zh-Hant-TW" sz="31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 min</a:t>
            </a:r>
          </a:p>
        </p:txBody>
      </p:sp>
      <p:sp>
        <p:nvSpPr>
          <p:cNvPr id="14" name="fg_kpi_row-kpi-4-slot Placeholder Carrier"/>
          <p:cNvSpPr txBox="1"/>
          <p:nvPr>
            <p:ph idx="4"/>
          </p:nvPr>
        </p:nvSpPr>
        <p:spPr>
          <a:xfrm>
            <a:off x="9546265" y="1816418"/>
            <a:ext cx="1252871" cy="11974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2850"/>
              </a:lnSpc>
            </a:pPr>
            <a:r>
              <a:rPr lang="zh-Hant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初次診斷正確率</a:t>
            </a:r>
          </a:p>
          <a:p>
            <a:pPr algn="ctr">
              <a:lnSpc>
                <a:spcPts val="2850"/>
              </a:lnSpc>
            </a:pPr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現況 —</a:t>
            </a:r>
          </a:p>
          <a:p>
            <a:pPr algn="ctr">
              <a:lnSpc>
                <a:spcPts val="2850"/>
              </a:lnSpc>
              <a:spcBef>
                <a:spcPts val="1650"/>
              </a:spcBef>
            </a:pPr>
            <a:r>
              <a:rPr lang="zh-Hant-TW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83.3%</a:t>
            </a:r>
          </a:p>
        </p:txBody>
      </p:sp>
      <p:grpSp>
        <p:nvGrpSpPr>
          <p:cNvPr id="19" name="fg_kpi_row-evidence-slot Proxy Content"/>
          <p:cNvGrpSpPr/>
          <p:nvPr/>
        </p:nvGrpSpPr>
        <p:grpSpPr>
          <a:xfrm>
            <a:off x="1055370" y="4024312"/>
            <a:ext cx="10069830" cy="1624394"/>
            <a:chOff x="1055370" y="4024312"/>
            <a:chExt cx="10069830" cy="1624394"/>
          </a:xfrm>
        </p:grpSpPr>
        <p:sp>
          <p:nvSpPr>
            <p:cNvPr id="15" name="TextBox 15"/>
            <p:cNvSpPr txBox="1"/>
            <p:nvPr/>
          </p:nvSpPr>
          <p:spPr>
            <a:xfrm>
              <a:off x="1055370" y="4024312"/>
              <a:ext cx="8881110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Hant-TW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產能達成率、交期延遲與工安曝露同時改善，而這幾個數字都來自同一</a:t>
              </a:r>
              <a:br/>
              <a:r>
                <a:rPr lang="zh-Hant-TW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次可重跑的 benchmark。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066800" y="493395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rgbClr val="E8ED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60704" y="5090160"/>
              <a:ext cx="9025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產能欄的現況是 Baseline C 現行流程：告警後人工判定根因 90 分鐘，機台照跑照劣化；交期與工安欄的現況是 Baseline A。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0704" y="5414010"/>
              <a:ext cx="8541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來源：factory-guardian benchmark 實際執行結果（非預錄），四組跑在相同 seed／情境／總時長上。分級：實測。</a:t>
              </a:r>
            </a:p>
          </p:txBody>
        </p:sp>
      </p:grpSp>
      <p:sp>
        <p:nvSpPr>
          <p:cNvPr id="20" name="fg_kpi_row-page-slot Placeholder Carrier"/>
          <p:cNvSpPr txBox="1"/>
          <p:nvPr>
            <p:ph type="sldNum" idx="6"/>
          </p:nvPr>
        </p:nvSpPr>
        <p:spPr>
          <a:xfrm>
            <a:off x="11398606" y="6366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21" name="Placeholder Binding obj 5" hidden="1"/>
          <p:cNvSpPr>
            <a:spLocks noGrp="1"/>
          </p:cNvSpPr>
          <p:nvPr>
            <p:ph type="obj" idx="5"/>
          </p:nvPr>
        </p:nvSpPr>
        <p:spPr>
          <a:xfrm>
            <a:off x="838200" y="3943350"/>
            <a:ext cx="10515600" cy="16954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g_three_card-title-slot Placeholder Carrier"/>
          <p:cNvSpPr txBox="1"/>
          <p:nvPr>
            <p:ph type="title"/>
          </p:nvPr>
        </p:nvSpPr>
        <p:spPr>
          <a:xfrm>
            <a:off x="593598" y="555308"/>
            <a:ext cx="842189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現行流程在告警之後，還有 90 分鐘是人工的</a:t>
            </a:r>
          </a:p>
        </p:txBody>
      </p:sp>
      <p:grpSp>
        <p:nvGrpSpPr>
          <p:cNvPr id="14" name="fg_three_card-card-1-slot Proxy Content"/>
          <p:cNvGrpSpPr/>
          <p:nvPr/>
        </p:nvGrpSpPr>
        <p:grpSpPr>
          <a:xfrm>
            <a:off x="822198" y="1771650"/>
            <a:ext cx="2491740" cy="2829306"/>
            <a:chOff x="822198" y="1771650"/>
            <a:chExt cx="2491740" cy="2829306"/>
          </a:xfrm>
        </p:grpSpPr>
        <p:sp>
          <p:nvSpPr>
            <p:cNvPr id="10" name="Freeform 10"/>
            <p:cNvSpPr/>
            <p:nvPr/>
          </p:nvSpPr>
          <p:spPr>
            <a:xfrm>
              <a:off x="864989" y="1771650"/>
              <a:ext cx="235871" cy="285750"/>
            </a:xfrm>
            <a:custGeom>
              <a:avLst/>
              <a:gdLst/>
              <a:ahLst/>
              <a:cxnLst/>
              <a:rect l="l" t="t" r="r" b="b"/>
              <a:pathLst>
                <a:path w="235871" h="285750">
                  <a:moveTo>
                    <a:pt x="62508" y="35719"/>
                  </a:moveTo>
                  <a:lnTo>
                    <a:pt x="98227" y="35719"/>
                  </a:lnTo>
                  <a:lnTo>
                    <a:pt x="98227" y="54943"/>
                  </a:lnTo>
                  <a:cubicBezTo>
                    <a:pt x="42593" y="63534"/>
                    <a:pt x="0" y="111625"/>
                    <a:pt x="0" y="169664"/>
                  </a:cubicBezTo>
                  <a:cubicBezTo>
                    <a:pt x="0" y="233777"/>
                    <a:pt x="51973" y="285750"/>
                    <a:pt x="116086" y="285750"/>
                  </a:cubicBezTo>
                  <a:cubicBezTo>
                    <a:pt x="180199" y="285750"/>
                    <a:pt x="232172" y="233777"/>
                    <a:pt x="232172" y="169664"/>
                  </a:cubicBezTo>
                  <a:cubicBezTo>
                    <a:pt x="232172" y="144052"/>
                    <a:pt x="223878" y="120377"/>
                    <a:pt x="209828" y="101179"/>
                  </a:cubicBezTo>
                  <a:lnTo>
                    <a:pt x="235871" y="75136"/>
                  </a:lnTo>
                  <a:lnTo>
                    <a:pt x="210614" y="49879"/>
                  </a:lnTo>
                  <a:lnTo>
                    <a:pt x="184571" y="75922"/>
                  </a:lnTo>
                  <a:cubicBezTo>
                    <a:pt x="169925" y="65204"/>
                    <a:pt x="152674" y="57835"/>
                    <a:pt x="133945" y="54943"/>
                  </a:cubicBezTo>
                  <a:lnTo>
                    <a:pt x="133945" y="35719"/>
                  </a:lnTo>
                  <a:lnTo>
                    <a:pt x="169664" y="35719"/>
                  </a:lnTo>
                  <a:lnTo>
                    <a:pt x="169664" y="0"/>
                  </a:lnTo>
                  <a:lnTo>
                    <a:pt x="62508" y="0"/>
                  </a:lnTo>
                  <a:lnTo>
                    <a:pt x="62508" y="35719"/>
                  </a:lnTo>
                  <a:close/>
                  <a:moveTo>
                    <a:pt x="98227" y="107156"/>
                  </a:moveTo>
                  <a:lnTo>
                    <a:pt x="98227" y="178594"/>
                  </a:lnTo>
                  <a:lnTo>
                    <a:pt x="133945" y="178594"/>
                  </a:lnTo>
                  <a:lnTo>
                    <a:pt x="133945" y="107156"/>
                  </a:lnTo>
                  <a:lnTo>
                    <a:pt x="98227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2198" y="2326958"/>
              <a:ext cx="15034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90 分鐘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2997518"/>
              <a:ext cx="248259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人工判定根因所需工時：到場 15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＋ 現場量測 30 ＋ 查手冊與歷史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工單 30 ＋ 與生產確認 15。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104" y="4366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假設｜商業案例假設參數全表</a:t>
              </a:r>
            </a:p>
          </p:txBody>
        </p:sp>
      </p:grpSp>
      <p:grpSp>
        <p:nvGrpSpPr>
          <p:cNvPr id="21" name="fg_three_card-card-2-slot Proxy Content"/>
          <p:cNvGrpSpPr/>
          <p:nvPr/>
        </p:nvGrpSpPr>
        <p:grpSpPr>
          <a:xfrm>
            <a:off x="4555998" y="1771650"/>
            <a:ext cx="2594610" cy="2829306"/>
            <a:chOff x="4555998" y="1771650"/>
            <a:chExt cx="2594610" cy="2829306"/>
          </a:xfrm>
        </p:grpSpPr>
        <p:grpSp>
          <p:nvGrpSpPr>
            <p:cNvPr id="17" name="Group 17"/>
            <p:cNvGrpSpPr/>
            <p:nvPr/>
          </p:nvGrpSpPr>
          <p:grpSpPr>
            <a:xfrm>
              <a:off x="4607719" y="1771650"/>
              <a:ext cx="214312" cy="285750"/>
              <a:chOff x="4607719" y="1771650"/>
              <a:chExt cx="214312" cy="2857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4679156" y="1771650"/>
                <a:ext cx="71438" cy="5357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53578">
                    <a:moveTo>
                      <a:pt x="71438" y="0"/>
                    </a:moveTo>
                    <a:lnTo>
                      <a:pt x="0" y="0"/>
                    </a:lnTo>
                    <a:lnTo>
                      <a:pt x="0" y="53578"/>
                    </a:lnTo>
                    <a:lnTo>
                      <a:pt x="71438" y="53578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607719" y="1807369"/>
                <a:ext cx="214312" cy="250031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50031">
                    <a:moveTo>
                      <a:pt x="35719" y="0"/>
                    </a:moveTo>
                    <a:lnTo>
                      <a:pt x="0" y="0"/>
                    </a:lnTo>
                    <a:lnTo>
                      <a:pt x="0" y="250031"/>
                    </a:lnTo>
                    <a:lnTo>
                      <a:pt x="214312" y="250031"/>
                    </a:lnTo>
                    <a:lnTo>
                      <a:pt x="214312" y="0"/>
                    </a:lnTo>
                    <a:lnTo>
                      <a:pt x="178594" y="0"/>
                    </a:lnTo>
                    <a:lnTo>
                      <a:pt x="178594" y="53578"/>
                    </a:lnTo>
                    <a:lnTo>
                      <a:pt x="35719" y="53578"/>
                    </a:lnTo>
                    <a:lnTo>
                      <a:pt x="357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4555998" y="2326958"/>
              <a:ext cx="8557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5142" y="2997518"/>
              <a:ext cx="258546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現行人工工單完整度：有故障描述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與機台，缺手冊條款、建議零件與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標準作業程序連結。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5904" y="4366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假設｜同上</a:t>
              </a:r>
            </a:p>
          </p:txBody>
        </p:sp>
      </p:grpSp>
      <p:grpSp>
        <p:nvGrpSpPr>
          <p:cNvPr id="26" name="fg_three_card-card-3-slot Proxy Content"/>
          <p:cNvGrpSpPr/>
          <p:nvPr/>
        </p:nvGrpSpPr>
        <p:grpSpPr>
          <a:xfrm>
            <a:off x="8289798" y="1771650"/>
            <a:ext cx="2594610" cy="2829306"/>
            <a:chOff x="8289798" y="1771650"/>
            <a:chExt cx="2594610" cy="2829306"/>
          </a:xfrm>
        </p:grpSpPr>
        <p:sp>
          <p:nvSpPr>
            <p:cNvPr id="22" name="Freeform 22"/>
            <p:cNvSpPr/>
            <p:nvPr/>
          </p:nvSpPr>
          <p:spPr>
            <a:xfrm>
              <a:off x="8305800" y="17716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78594" y="62508"/>
                  </a:moveTo>
                  <a:lnTo>
                    <a:pt x="233210" y="7892"/>
                  </a:lnTo>
                  <a:cubicBezTo>
                    <a:pt x="221999" y="2822"/>
                    <a:pt x="209557" y="0"/>
                    <a:pt x="196453" y="0"/>
                  </a:cubicBezTo>
                  <a:cubicBezTo>
                    <a:pt x="147136" y="0"/>
                    <a:pt x="107156" y="39980"/>
                    <a:pt x="107156" y="89297"/>
                  </a:cubicBezTo>
                  <a:cubicBezTo>
                    <a:pt x="107156" y="97477"/>
                    <a:pt x="108256" y="105400"/>
                    <a:pt x="110316" y="112926"/>
                  </a:cubicBezTo>
                  <a:lnTo>
                    <a:pt x="0" y="223242"/>
                  </a:lnTo>
                  <a:lnTo>
                    <a:pt x="62508" y="285750"/>
                  </a:lnTo>
                  <a:lnTo>
                    <a:pt x="172824" y="175434"/>
                  </a:lnTo>
                  <a:cubicBezTo>
                    <a:pt x="180349" y="177494"/>
                    <a:pt x="188274" y="178594"/>
                    <a:pt x="196453" y="178594"/>
                  </a:cubicBezTo>
                  <a:cubicBezTo>
                    <a:pt x="245770" y="178594"/>
                    <a:pt x="285750" y="138614"/>
                    <a:pt x="285750" y="89297"/>
                  </a:cubicBezTo>
                  <a:cubicBezTo>
                    <a:pt x="285750" y="76194"/>
                    <a:pt x="282928" y="63750"/>
                    <a:pt x="277858" y="52540"/>
                  </a:cubicBezTo>
                  <a:lnTo>
                    <a:pt x="223242" y="107156"/>
                  </a:lnTo>
                  <a:lnTo>
                    <a:pt x="178594" y="107156"/>
                  </a:lnTo>
                  <a:lnTo>
                    <a:pt x="178594" y="625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9798" y="2326958"/>
              <a:ext cx="21522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少數老師傅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98942" y="2997518"/>
              <a:ext cx="25854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維修判斷分散且未結構化，換班或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退休就把判斷依據一起帶走。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9704" y="43662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目標客戶痛點</a:t>
              </a:r>
            </a:p>
          </p:txBody>
        </p:sp>
      </p:grpSp>
      <p:sp>
        <p:nvSpPr>
          <p:cNvPr id="27" name="fg_three_card-takeaway-slot Proxy Content"/>
          <p:cNvSpPr txBox="1"/>
          <p:nvPr/>
        </p:nvSpPr>
        <p:spPr>
          <a:xfrm>
            <a:off x="829056" y="5368290"/>
            <a:ext cx="9162288" cy="6568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400"/>
              </a:lnSpc>
            </a:pPr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缺的不是更靈敏的告警，是告警之後能自己走完診斷、規劃、安全檢查與驗證的閉環。這段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流程已寫進 Benchmark，成為第四組對照組 Baseline C。</a:t>
            </a:r>
          </a:p>
        </p:txBody>
      </p:sp>
      <p:sp>
        <p:nvSpPr>
          <p:cNvPr id="28" name="fg_three_card-page-slot Placeholder Carrier"/>
          <p:cNvSpPr txBox="1"/>
          <p:nvPr>
            <p:ph type="sldNum" idx="5"/>
          </p:nvPr>
        </p:nvSpPr>
        <p:spPr>
          <a:xfrm>
            <a:off x="11398606" y="6366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9" name="Placeholder Binding obj 1" hidden="1"/>
          <p:cNvSpPr>
            <a:spLocks noGrp="1"/>
          </p:cNvSpPr>
          <p:nvPr>
            <p:ph type="obj" idx="1"/>
          </p:nvPr>
        </p:nvSpPr>
        <p:spPr>
          <a:xfrm>
            <a:off x="838200" y="1676400"/>
            <a:ext cx="3048000" cy="29337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30" name="Placeholder Binding obj 2" hidden="1"/>
          <p:cNvSpPr>
            <a:spLocks noGrp="1"/>
          </p:cNvSpPr>
          <p:nvPr>
            <p:ph type="obj" idx="2"/>
          </p:nvPr>
        </p:nvSpPr>
        <p:spPr>
          <a:xfrm>
            <a:off x="4572000" y="1676400"/>
            <a:ext cx="3048000" cy="29337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31" name="Placeholder Binding obj 3" hidden="1"/>
          <p:cNvSpPr>
            <a:spLocks noGrp="1"/>
          </p:cNvSpPr>
          <p:nvPr>
            <p:ph type="obj" idx="3"/>
          </p:nvPr>
        </p:nvSpPr>
        <p:spPr>
          <a:xfrm>
            <a:off x="8305800" y="1676400"/>
            <a:ext cx="3048000" cy="29337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32" name="Placeholder Binding obj 4" hidden="1"/>
          <p:cNvSpPr>
            <a:spLocks noGrp="1"/>
          </p:cNvSpPr>
          <p:nvPr>
            <p:ph type="obj" idx="4"/>
          </p:nvPr>
        </p:nvSpPr>
        <p:spPr>
          <a:xfrm>
            <a:off x="838200" y="525780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g_full_canvas-title-slot Placeholder Carrier"/>
          <p:cNvSpPr txBox="1"/>
          <p:nvPr>
            <p:ph type="title"/>
          </p:nvPr>
        </p:nvSpPr>
        <p:spPr>
          <a:xfrm>
            <a:off x="593598" y="555308"/>
            <a:ext cx="774192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AI 不只警告，而是自動走完八階段閉環</a:t>
            </a:r>
          </a:p>
        </p:txBody>
      </p:sp>
      <p:grpSp>
        <p:nvGrpSpPr>
          <p:cNvPr id="41" name="fg_full_canvas-object-slot Proxy Content"/>
          <p:cNvGrpSpPr/>
          <p:nvPr/>
        </p:nvGrpSpPr>
        <p:grpSpPr>
          <a:xfrm>
            <a:off x="895350" y="1866900"/>
            <a:ext cx="10401300" cy="4143756"/>
            <a:chOff x="895350" y="1866900"/>
            <a:chExt cx="10401300" cy="4143756"/>
          </a:xfrm>
        </p:grpSpPr>
        <p:sp>
          <p:nvSpPr>
            <p:cNvPr id="6" name="Freeform 6"/>
            <p:cNvSpPr/>
            <p:nvPr/>
          </p:nvSpPr>
          <p:spPr>
            <a:xfrm>
              <a:off x="895350" y="1866900"/>
              <a:ext cx="1200150" cy="571500"/>
            </a:xfrm>
            <a:prstGeom prst="chevron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2209800" y="1866900"/>
              <a:ext cx="1200150" cy="571500"/>
            </a:xfrm>
            <a:prstGeom prst="chevron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524250" y="1866900"/>
              <a:ext cx="1200150" cy="571500"/>
            </a:xfrm>
            <a:prstGeom prst="chevron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838700" y="1866900"/>
              <a:ext cx="1200150" cy="571500"/>
            </a:xfrm>
            <a:prstGeom prst="chevron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153150" y="1866900"/>
              <a:ext cx="1200150" cy="571500"/>
            </a:xfrm>
            <a:prstGeom prst="chevron">
              <a:avLst/>
            </a:prstGeom>
            <a:solidFill>
              <a:srgbClr val="FDECEA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7467600" y="1866900"/>
              <a:ext cx="1200150" cy="571500"/>
            </a:xfrm>
            <a:prstGeom prst="chevron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782050" y="1866900"/>
              <a:ext cx="1200150" cy="571500"/>
            </a:xfrm>
            <a:prstGeom prst="chevron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0096500" y="1866900"/>
              <a:ext cx="1200150" cy="571500"/>
            </a:xfrm>
            <a:prstGeom prst="chevron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422905" y="2050732"/>
              <a:ext cx="9346190" cy="322707"/>
              <a:chOff x="1422905" y="2050732"/>
              <a:chExt cx="9346190" cy="322707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422905" y="20507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6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737355" y="20507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6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051805" y="20507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6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366255" y="20507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6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80705" y="20507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65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995155" y="20507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6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6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309605" y="20507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6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7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624055" y="20507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Hant-TW" sz="16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8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237107" y="2635568"/>
              <a:ext cx="9809226" cy="492633"/>
              <a:chOff x="1237107" y="2635568"/>
              <a:chExt cx="9809226" cy="492633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1237107" y="2635568"/>
                <a:ext cx="516636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zh-Hant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偵測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Detect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86787" y="2635568"/>
                <a:ext cx="646176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zh-Hant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診斷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Diagnose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74567" y="2635568"/>
                <a:ext cx="699516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zh-Hant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影響分析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Impact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089017" y="2635568"/>
                <a:ext cx="699516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zh-Hant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方案規劃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Plan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03467" y="2635568"/>
                <a:ext cx="699516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zh-Hant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安全檢查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Safety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17917" y="2635568"/>
                <a:ext cx="699516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zh-Hant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人工核准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Approve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032367" y="2635568"/>
                <a:ext cx="699516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zh-Hant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執行派工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Execute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346817" y="2635568"/>
                <a:ext cx="699516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zh-Hant-TW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驗證恢復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zh-Hant-TW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Verify</a:t>
                </a:r>
              </a:p>
            </p:txBody>
          </p:sp>
        </p:grpSp>
        <p:sp>
          <p:nvSpPr>
            <p:cNvPr id="32" name="Line 32"/>
            <p:cNvSpPr/>
            <p:nvPr/>
          </p:nvSpPr>
          <p:spPr>
            <a:xfrm>
              <a:off x="1066800" y="335280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9525">
              <a:solidFill>
                <a:srgbClr val="E8EDF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60704" y="35280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各階段的負責角色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57656" y="3749040"/>
              <a:ext cx="9336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Monitoring ｜ Diagnosis ｜ Production ｜ Safety ｜ Policy Engine ｜ Verification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66800" y="4210050"/>
              <a:ext cx="10058400" cy="838200"/>
            </a:xfrm>
            <a:prstGeom prst="roundRect">
              <a:avLst>
                <a:gd name="adj" fmla="val 11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66800" y="4210050"/>
              <a:ext cx="381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359408" y="4293870"/>
              <a:ext cx="68634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Factory Digital Twin —— 唯一知道真相的地方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64742" y="4712018"/>
              <a:ext cx="64557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真實故障答案只存在孿生體內部，對外的狀態快照不會輸出給任何一個 Agent。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7656" y="5101590"/>
              <a:ext cx="899083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Orchestrator 協調八階段，驗證不通過就重新規劃；排名是加權多準則計算，不是 LLM</a:t>
              </a:r>
              <a:br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，排名後再跑一次 ±20% 權重穩健性掃描。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60704" y="5775960"/>
              <a:ext cx="7483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沒有金鑰也能跑完整 Demo：LLM 敘述退回確定性離線敘述器。全套 986 個測試，離線約 40 秒跑完。</a:t>
              </a:r>
            </a:p>
          </p:txBody>
        </p:sp>
      </p:grpSp>
      <p:sp>
        <p:nvSpPr>
          <p:cNvPr id="42" name="fg_full_canvas-page-slot Placeholder Carrier"/>
          <p:cNvSpPr txBox="1"/>
          <p:nvPr>
            <p:ph type="sldNum" idx="2"/>
          </p:nvPr>
        </p:nvSpPr>
        <p:spPr>
          <a:xfrm>
            <a:off x="11398606" y="6366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43" name="Placeholder Binding obj 1" hidden="1"/>
          <p:cNvSpPr>
            <a:spLocks noGrp="1"/>
          </p:cNvSpPr>
          <p:nvPr>
            <p:ph type="obj" idx="1"/>
          </p:nvPr>
        </p:nvSpPr>
        <p:spPr>
          <a:xfrm>
            <a:off x="838200" y="1676400"/>
            <a:ext cx="10515600" cy="4191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g_two_picture-title-slot Placeholder Carrier"/>
          <p:cNvSpPr txBox="1"/>
          <p:nvPr>
            <p:ph type="title"/>
          </p:nvPr>
        </p:nvSpPr>
        <p:spPr>
          <a:xfrm>
            <a:off x="593598" y="555308"/>
            <a:ext cx="639279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這個閉環是跑得動的，不是流程圖</a:t>
            </a:r>
          </a:p>
        </p:txBody>
      </p:sp>
      <p:pic>
        <p:nvPicPr>
          <p:cNvPr id="9" name="fg_two_picture-left-picture-slot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723900" y="1584084"/>
            <a:ext cx="5029200" cy="2222983"/>
          </a:xfrm>
          <a:prstGeom prst="rect">
            <a:avLst/>
          </a:prstGeom>
        </p:spPr>
      </p:pic>
      <p:pic>
        <p:nvPicPr>
          <p:cNvPr id="10" name="fg_two_picture-right-picture-slot Placeholder Carrier"/>
          <p:cNvPicPr>
            <a:picLocks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6438900" y="1971675"/>
            <a:ext cx="5029200" cy="1552575"/>
          </a:xfrm>
          <a:prstGeom prst="rect">
            <a:avLst/>
          </a:prstGeom>
        </p:spPr>
      </p:pic>
      <p:sp>
        <p:nvSpPr>
          <p:cNvPr id="11" name="fg_two_picture-left-caption-slot Placeholder Carrier"/>
          <p:cNvSpPr txBox="1"/>
          <p:nvPr>
            <p:ph type="body" idx="3"/>
          </p:nvPr>
        </p:nvSpPr>
        <p:spPr>
          <a:xfrm>
            <a:off x="831342" y="4521518"/>
            <a:ext cx="3939921" cy="530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100"/>
              </a:lnSpc>
              <a:buNone/>
            </a:pPr>
            <a:r>
              <a:rPr lang="zh-Hant-TW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主要加工機振動 8.89 mm/s 已是 CRITICAL、健康度</a:t>
            </a:r>
            <a:br/>
            <a:r>
              <a:rPr lang="zh-Hant-TW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52，到達門檻的剩餘時間顯示已踩線。</a:t>
            </a:r>
          </a:p>
        </p:txBody>
      </p:sp>
      <p:sp>
        <p:nvSpPr>
          <p:cNvPr id="12" name="fg_two_picture-right-caption-slot Placeholder Carrier"/>
          <p:cNvSpPr txBox="1"/>
          <p:nvPr>
            <p:ph type="body" idx="4"/>
          </p:nvPr>
        </p:nvSpPr>
        <p:spPr>
          <a:xfrm>
            <a:off x="6546342" y="4521518"/>
            <a:ext cx="4008501" cy="530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100"/>
              </a:lnSpc>
              <a:buNone/>
            </a:pPr>
            <a:r>
              <a:rPr lang="zh-Hant-TW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閉環停在第 5 格安全把關與第 6 格核准（等人簽名）</a:t>
            </a:r>
            <a:br/>
            <a:r>
              <a:rPr lang="zh-Hant-TW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，左側虛線是驗證未過就退回重新規劃。</a:t>
            </a:r>
          </a:p>
        </p:txBody>
      </p:sp>
      <p:sp>
        <p:nvSpPr>
          <p:cNvPr id="13" name="fg_two_picture-page-slot Placeholder Carrier"/>
          <p:cNvSpPr txBox="1"/>
          <p:nvPr>
            <p:ph type="sldNum" idx="5"/>
          </p:nvPr>
        </p:nvSpPr>
        <p:spPr>
          <a:xfrm>
            <a:off x="11398606" y="6366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00456" y="5692140"/>
            <a:ext cx="8350758" cy="637794"/>
            <a:chOff x="600456" y="5692140"/>
            <a:chExt cx="8350758" cy="637794"/>
          </a:xfrm>
        </p:grpSpPr>
        <p:sp>
          <p:nvSpPr>
            <p:cNvPr id="14" name="TextBox 14"/>
            <p:cNvSpPr txBox="1"/>
            <p:nvPr/>
          </p:nvSpPr>
          <p:spPr>
            <a:xfrm>
              <a:off x="600456" y="5692140"/>
              <a:ext cx="8350758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每一格步驟卡都能展開推理：看到什麼 → 怎麼算 → 為什麼不是別的 → 結論；畫面上</a:t>
              </a:r>
              <a:br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每個數字都取自後端算過的結果。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g_three_card-title-slot Placeholder Carrier"/>
          <p:cNvSpPr txBox="1"/>
          <p:nvPr>
            <p:ph type="title"/>
          </p:nvPr>
        </p:nvSpPr>
        <p:spPr>
          <a:xfrm>
            <a:off x="593598" y="555308"/>
            <a:ext cx="893711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三個可信度原則，每一個都有會失敗的測試守著</a:t>
            </a:r>
          </a:p>
        </p:txBody>
      </p:sp>
      <p:grpSp>
        <p:nvGrpSpPr>
          <p:cNvPr id="16" name="fg_three_card-card-1-slot Proxy Content"/>
          <p:cNvGrpSpPr/>
          <p:nvPr/>
        </p:nvGrpSpPr>
        <p:grpSpPr>
          <a:xfrm>
            <a:off x="822198" y="1771650"/>
            <a:ext cx="2594610" cy="2829306"/>
            <a:chOff x="822198" y="1771650"/>
            <a:chExt cx="2594610" cy="2829306"/>
          </a:xfrm>
        </p:grpSpPr>
        <p:grpSp>
          <p:nvGrpSpPr>
            <p:cNvPr id="12" name="Group 12"/>
            <p:cNvGrpSpPr/>
            <p:nvPr/>
          </p:nvGrpSpPr>
          <p:grpSpPr>
            <a:xfrm>
              <a:off x="873919" y="1771650"/>
              <a:ext cx="214312" cy="285750"/>
              <a:chOff x="873919" y="1771650"/>
              <a:chExt cx="214312" cy="2857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45356" y="1771650"/>
                <a:ext cx="71438" cy="5357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53578">
                    <a:moveTo>
                      <a:pt x="71438" y="0"/>
                    </a:moveTo>
                    <a:lnTo>
                      <a:pt x="0" y="0"/>
                    </a:lnTo>
                    <a:lnTo>
                      <a:pt x="0" y="53578"/>
                    </a:lnTo>
                    <a:lnTo>
                      <a:pt x="71438" y="53578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73919" y="1807369"/>
                <a:ext cx="214312" cy="250031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50031">
                    <a:moveTo>
                      <a:pt x="35719" y="0"/>
                    </a:moveTo>
                    <a:lnTo>
                      <a:pt x="0" y="0"/>
                    </a:lnTo>
                    <a:lnTo>
                      <a:pt x="0" y="250031"/>
                    </a:lnTo>
                    <a:lnTo>
                      <a:pt x="214312" y="250031"/>
                    </a:lnTo>
                    <a:lnTo>
                      <a:pt x="214312" y="0"/>
                    </a:lnTo>
                    <a:lnTo>
                      <a:pt x="178594" y="0"/>
                    </a:lnTo>
                    <a:lnTo>
                      <a:pt x="178594" y="53578"/>
                    </a:lnTo>
                    <a:lnTo>
                      <a:pt x="35719" y="53578"/>
                    </a:lnTo>
                    <a:lnTo>
                      <a:pt x="357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822198" y="232695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合成資料標示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342" y="2997518"/>
              <a:ext cx="258546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感測器、訂單、手冊與維修歷史全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部標記為合成資料，命令列與畫面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常駐顯示，不靠口頭聲明。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104" y="43662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標記消失，測試當場失敗</a:t>
              </a:r>
            </a:p>
          </p:txBody>
        </p:sp>
      </p:grpSp>
      <p:grpSp>
        <p:nvGrpSpPr>
          <p:cNvPr id="21" name="fg_three_card-card-2-slot Proxy Content"/>
          <p:cNvGrpSpPr/>
          <p:nvPr/>
        </p:nvGrpSpPr>
        <p:grpSpPr>
          <a:xfrm>
            <a:off x="4555998" y="1771650"/>
            <a:ext cx="2594610" cy="2829306"/>
            <a:chOff x="4555998" y="1771650"/>
            <a:chExt cx="2594610" cy="2829306"/>
          </a:xfrm>
        </p:grpSpPr>
        <p:sp>
          <p:nvSpPr>
            <p:cNvPr id="17" name="Freeform 17"/>
            <p:cNvSpPr/>
            <p:nvPr/>
          </p:nvSpPr>
          <p:spPr>
            <a:xfrm>
              <a:off x="4572000" y="1771650"/>
              <a:ext cx="280519" cy="280519"/>
            </a:xfrm>
            <a:custGeom>
              <a:avLst/>
              <a:gdLst/>
              <a:ahLst/>
              <a:cxnLst/>
              <a:rect l="l" t="t" r="r" b="b"/>
              <a:pathLst>
                <a:path w="280519" h="280519">
                  <a:moveTo>
                    <a:pt x="199886" y="225142"/>
                  </a:moveTo>
                  <a:cubicBezTo>
                    <a:pt x="179015" y="240773"/>
                    <a:pt x="153097" y="250031"/>
                    <a:pt x="125016" y="250031"/>
                  </a:cubicBezTo>
                  <a:cubicBezTo>
                    <a:pt x="55971" y="250031"/>
                    <a:pt x="0" y="194060"/>
                    <a:pt x="0" y="125016"/>
                  </a:cubicBezTo>
                  <a:cubicBezTo>
                    <a:pt x="0" y="55971"/>
                    <a:pt x="55971" y="0"/>
                    <a:pt x="125016" y="0"/>
                  </a:cubicBezTo>
                  <a:cubicBezTo>
                    <a:pt x="194060" y="0"/>
                    <a:pt x="250031" y="55971"/>
                    <a:pt x="250031" y="125016"/>
                  </a:cubicBezTo>
                  <a:cubicBezTo>
                    <a:pt x="250031" y="153097"/>
                    <a:pt x="240773" y="179015"/>
                    <a:pt x="225142" y="199886"/>
                  </a:cubicBezTo>
                  <a:lnTo>
                    <a:pt x="280519" y="255262"/>
                  </a:lnTo>
                  <a:lnTo>
                    <a:pt x="255262" y="280519"/>
                  </a:lnTo>
                  <a:lnTo>
                    <a:pt x="199886" y="225142"/>
                  </a:lnTo>
                  <a:close/>
                  <a:moveTo>
                    <a:pt x="99759" y="150273"/>
                  </a:moveTo>
                  <a:lnTo>
                    <a:pt x="74502" y="175530"/>
                  </a:lnTo>
                  <a:cubicBezTo>
                    <a:pt x="46604" y="147631"/>
                    <a:pt x="46604" y="102400"/>
                    <a:pt x="74502" y="74502"/>
                  </a:cubicBezTo>
                  <a:cubicBezTo>
                    <a:pt x="102400" y="46604"/>
                    <a:pt x="147631" y="46604"/>
                    <a:pt x="175530" y="74502"/>
                  </a:cubicBezTo>
                  <a:lnTo>
                    <a:pt x="150273" y="99759"/>
                  </a:lnTo>
                  <a:cubicBezTo>
                    <a:pt x="136323" y="85810"/>
                    <a:pt x="113708" y="85810"/>
                    <a:pt x="99759" y="99759"/>
                  </a:cubicBezTo>
                  <a:cubicBezTo>
                    <a:pt x="85810" y="113708"/>
                    <a:pt x="85810" y="136323"/>
                    <a:pt x="99759" y="1502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55998" y="2326958"/>
              <a:ext cx="21522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看不到答案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5142" y="2997518"/>
              <a:ext cx="258546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真實故障答案只存在孿生體內部，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對外快照不輸出；規劃用的是診斷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信念模型，不是答案本身。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5904" y="43662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快照洩漏答案就失敗</a:t>
              </a:r>
            </a:p>
          </p:txBody>
        </p:sp>
      </p:grpSp>
      <p:grpSp>
        <p:nvGrpSpPr>
          <p:cNvPr id="26" name="fg_three_card-card-3-slot Proxy Content"/>
          <p:cNvGrpSpPr/>
          <p:nvPr/>
        </p:nvGrpSpPr>
        <p:grpSpPr>
          <a:xfrm>
            <a:off x="8289798" y="1771650"/>
            <a:ext cx="2576322" cy="2829306"/>
            <a:chOff x="8289798" y="1771650"/>
            <a:chExt cx="2576322" cy="2829306"/>
          </a:xfrm>
        </p:grpSpPr>
        <p:sp>
          <p:nvSpPr>
            <p:cNvPr id="22" name="Freeform 22"/>
            <p:cNvSpPr/>
            <p:nvPr/>
          </p:nvSpPr>
          <p:spPr>
            <a:xfrm>
              <a:off x="8305800" y="17716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285750"/>
                  </a:moveTo>
                  <a:cubicBezTo>
                    <a:pt x="221783" y="285750"/>
                    <a:pt x="285750" y="221783"/>
                    <a:pt x="285750" y="142875"/>
                  </a:cubicBezTo>
                  <a:cubicBezTo>
                    <a:pt x="285750" y="63967"/>
                    <a:pt x="221783" y="0"/>
                    <a:pt x="142875" y="0"/>
                  </a:cubicBezTo>
                  <a:cubicBezTo>
                    <a:pt x="63967" y="0"/>
                    <a:pt x="0" y="63967"/>
                    <a:pt x="0" y="142875"/>
                  </a:cubicBezTo>
                  <a:cubicBezTo>
                    <a:pt x="0" y="221783"/>
                    <a:pt x="63967" y="285750"/>
                    <a:pt x="142875" y="285750"/>
                  </a:cubicBezTo>
                  <a:close/>
                  <a:moveTo>
                    <a:pt x="226941" y="101925"/>
                  </a:moveTo>
                  <a:lnTo>
                    <a:pt x="201684" y="76668"/>
                  </a:lnTo>
                  <a:lnTo>
                    <a:pt x="116086" y="162267"/>
                  </a:lnTo>
                  <a:lnTo>
                    <a:pt x="84066" y="130246"/>
                  </a:lnTo>
                  <a:lnTo>
                    <a:pt x="58809" y="155504"/>
                  </a:lnTo>
                  <a:lnTo>
                    <a:pt x="116086" y="212780"/>
                  </a:lnTo>
                  <a:lnTo>
                    <a:pt x="226941" y="1019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89798" y="232695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31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回模擬器驗證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98942" y="2997518"/>
              <a:ext cx="2534031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執行真的改變孿生體狀態，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Verification Agent 在真實孿生</a:t>
              </a:r>
              <a:br/>
              <a:r>
                <a:rPr lang="zh-Hant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體上量 KPI，不通過就重新規劃。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9704" y="4366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閉環必須走到一次通過的驗證</a:t>
              </a:r>
            </a:p>
          </p:txBody>
        </p:sp>
      </p:grpSp>
      <p:sp>
        <p:nvSpPr>
          <p:cNvPr id="27" name="fg_three_card-takeaway-slot Proxy Content"/>
          <p:cNvSpPr txBox="1"/>
          <p:nvPr/>
        </p:nvSpPr>
        <p:spPr>
          <a:xfrm>
            <a:off x="829056" y="5368290"/>
            <a:ext cx="9162288" cy="6568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400"/>
              </a:lnSpc>
            </a:pPr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這三件事正好是最容易作弊的三個地方：資料來源不標、規劃時偷看答案、驗證只看預測而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不回到模擬器實測。全套 986 個測試，離線約 40 秒跑完。</a:t>
            </a:r>
          </a:p>
        </p:txBody>
      </p:sp>
      <p:sp>
        <p:nvSpPr>
          <p:cNvPr id="28" name="fg_three_card-page-slot Placeholder Carrier"/>
          <p:cNvSpPr txBox="1"/>
          <p:nvPr>
            <p:ph type="sldNum" idx="5"/>
          </p:nvPr>
        </p:nvSpPr>
        <p:spPr>
          <a:xfrm>
            <a:off x="11398606" y="6366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29" name="Placeholder Binding obj 1" hidden="1"/>
          <p:cNvSpPr>
            <a:spLocks noGrp="1"/>
          </p:cNvSpPr>
          <p:nvPr>
            <p:ph type="obj" idx="1"/>
          </p:nvPr>
        </p:nvSpPr>
        <p:spPr>
          <a:xfrm>
            <a:off x="838200" y="1676400"/>
            <a:ext cx="3048000" cy="29337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30" name="Placeholder Binding obj 2" hidden="1"/>
          <p:cNvSpPr>
            <a:spLocks noGrp="1"/>
          </p:cNvSpPr>
          <p:nvPr>
            <p:ph type="obj" idx="2"/>
          </p:nvPr>
        </p:nvSpPr>
        <p:spPr>
          <a:xfrm>
            <a:off x="4572000" y="1676400"/>
            <a:ext cx="3048000" cy="29337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31" name="Placeholder Binding obj 3" hidden="1"/>
          <p:cNvSpPr>
            <a:spLocks noGrp="1"/>
          </p:cNvSpPr>
          <p:nvPr>
            <p:ph type="obj" idx="3"/>
          </p:nvPr>
        </p:nvSpPr>
        <p:spPr>
          <a:xfrm>
            <a:off x="8305800" y="1676400"/>
            <a:ext cx="3048000" cy="29337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32" name="Placeholder Binding obj 4" hidden="1"/>
          <p:cNvSpPr>
            <a:spLocks noGrp="1"/>
          </p:cNvSpPr>
          <p:nvPr>
            <p:ph type="obj" idx="4"/>
          </p:nvPr>
        </p:nvSpPr>
        <p:spPr>
          <a:xfrm>
            <a:off x="838200" y="525780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g_comparison-title-slot Placeholder Carrier"/>
          <p:cNvSpPr txBox="1"/>
          <p:nvPr>
            <p:ph type="title"/>
          </p:nvPr>
        </p:nvSpPr>
        <p:spPr>
          <a:xfrm>
            <a:off x="593598" y="555308"/>
            <a:ext cx="799784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診斷錯了，投影就會錯 —— 這是刻意留下的</a:t>
            </a:r>
          </a:p>
        </p:txBody>
      </p:sp>
      <p:sp>
        <p:nvSpPr>
          <p:cNvPr id="10" name="fg_comparison-left-title-slot Placeholder Carrier"/>
          <p:cNvSpPr txBox="1"/>
          <p:nvPr>
            <p:ph type="body" idx="1"/>
          </p:nvPr>
        </p:nvSpPr>
        <p:spPr>
          <a:xfrm>
            <a:off x="826008" y="1760220"/>
            <a:ext cx="422452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Hant-TW" sz="24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如果方案投影直接跑在真值上</a:t>
            </a:r>
          </a:p>
        </p:txBody>
      </p:sp>
      <p:grpSp>
        <p:nvGrpSpPr>
          <p:cNvPr id="13" name="fg_comparison-left-content-slot Proxy Content"/>
          <p:cNvGrpSpPr/>
          <p:nvPr/>
        </p:nvGrpSpPr>
        <p:grpSpPr>
          <a:xfrm>
            <a:off x="829056" y="2415540"/>
            <a:ext cx="4142632" cy="2046161"/>
            <a:chOff x="829056" y="2415540"/>
            <a:chExt cx="4142632" cy="2046161"/>
          </a:xfrm>
        </p:grpSpPr>
        <p:sp>
          <p:nvSpPr>
            <p:cNvPr id="11" name="TextBox 11"/>
            <p:cNvSpPr txBox="1"/>
            <p:nvPr/>
          </p:nvSpPr>
          <p:spPr>
            <a:xfrm>
              <a:off x="829056" y="2415540"/>
              <a:ext cx="3881628" cy="961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等於讓 Production Agent 偷看答案。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診斷正確與否就不再影響結果，整個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Demo 也就失去意義。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4197668"/>
              <a:ext cx="4140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診斷錯 → 投影就錯 → Verification 抓出 → 重新規劃</a:t>
              </a:r>
            </a:p>
          </p:txBody>
        </p:sp>
      </p:grpSp>
      <p:sp>
        <p:nvSpPr>
          <p:cNvPr id="14" name="fg_comparison-right-title-slot Placeholder Carrier"/>
          <p:cNvSpPr txBox="1"/>
          <p:nvPr>
            <p:ph type="body" idx="3"/>
          </p:nvPr>
        </p:nvSpPr>
        <p:spPr>
          <a:xfrm>
            <a:off x="6541008" y="1760220"/>
            <a:ext cx="260908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Hant-TW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改用信念模型之後</a:t>
            </a:r>
          </a:p>
        </p:txBody>
      </p:sp>
      <p:grpSp>
        <p:nvGrpSpPr>
          <p:cNvPr id="17" name="fg_comparison-right-content-slot Proxy Content"/>
          <p:cNvGrpSpPr/>
          <p:nvPr/>
        </p:nvGrpSpPr>
        <p:grpSpPr>
          <a:xfrm>
            <a:off x="6544056" y="2415540"/>
            <a:ext cx="4144518" cy="2046161"/>
            <a:chOff x="6544056" y="2415540"/>
            <a:chExt cx="4144518" cy="2046161"/>
          </a:xfrm>
        </p:grpSpPr>
        <p:sp>
          <p:nvSpPr>
            <p:cNvPr id="15" name="TextBox 15"/>
            <p:cNvSpPr txBox="1"/>
            <p:nvPr/>
          </p:nvSpPr>
          <p:spPr>
            <a:xfrm>
              <a:off x="6544056" y="2415540"/>
              <a:ext cx="4144518" cy="961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拿掉真實故障標籤，換上 Diagnosis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Agent 推論出來的故障，並用觀測到的健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康度反推嚴重程度。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6342" y="4197668"/>
              <a:ext cx="4139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指紋餘弦 0.75 ＋ 歷史先驗 0.15 ＋ 文件支持 0.10</a:t>
              </a:r>
            </a:p>
          </p:txBody>
        </p:sp>
      </p:grpSp>
      <p:sp>
        <p:nvSpPr>
          <p:cNvPr id="18" name="fg_comparison-note-slot Proxy Content"/>
          <p:cNvSpPr txBox="1"/>
          <p:nvPr/>
        </p:nvSpPr>
        <p:spPr>
          <a:xfrm>
            <a:off x="829056" y="5349240"/>
            <a:ext cx="9185148" cy="6568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400"/>
              </a:lnSpc>
            </a:pPr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信心度會被訊號強度壓抑：訊號還微弱時不給高信心，Orchestrator 先繼續觀察而不急著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動設備。RAG 的價值在於產生可引用的證據，而不是決定答案。</a:t>
            </a:r>
          </a:p>
        </p:txBody>
      </p:sp>
      <p:sp>
        <p:nvSpPr>
          <p:cNvPr id="19" name="fg_comparison-page-slot Placeholder Carrier"/>
          <p:cNvSpPr txBox="1"/>
          <p:nvPr>
            <p:ph type="sldNum" idx="6"/>
          </p:nvPr>
        </p:nvSpPr>
        <p:spPr>
          <a:xfrm>
            <a:off x="11398606" y="6366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20" name="Placeholder Binding obj 2" hidden="1"/>
          <p:cNvSpPr>
            <a:spLocks noGrp="1"/>
          </p:cNvSpPr>
          <p:nvPr>
            <p:ph type="obj" idx="2"/>
          </p:nvPr>
        </p:nvSpPr>
        <p:spPr>
          <a:xfrm>
            <a:off x="838200" y="2286000"/>
            <a:ext cx="4800600" cy="23241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21" name="Placeholder Binding obj 4" hidden="1"/>
          <p:cNvSpPr>
            <a:spLocks noGrp="1"/>
          </p:cNvSpPr>
          <p:nvPr>
            <p:ph type="obj" idx="4"/>
          </p:nvPr>
        </p:nvSpPr>
        <p:spPr>
          <a:xfrm>
            <a:off x="6553200" y="2286000"/>
            <a:ext cx="4800600" cy="23241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22" name="Placeholder Binding obj 5" hidden="1"/>
          <p:cNvSpPr>
            <a:spLocks noGrp="1"/>
          </p:cNvSpPr>
          <p:nvPr>
            <p:ph type="obj" idx="5"/>
          </p:nvPr>
        </p:nvSpPr>
        <p:spPr>
          <a:xfrm>
            <a:off x="838200" y="525780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g_caption_focus-title-slot Placeholder Carrier"/>
          <p:cNvSpPr txBox="1"/>
          <p:nvPr>
            <p:ph type="title"/>
          </p:nvPr>
        </p:nvSpPr>
        <p:spPr>
          <a:xfrm>
            <a:off x="593598" y="993458"/>
            <a:ext cx="2432304" cy="1759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4500"/>
              </a:lnSpc>
            </a:pPr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安全把關看的</a:t>
            </a:r>
            <a:br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是方案會把設</a:t>
            </a:r>
            <a:br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備帶到哪裡</a:t>
            </a:r>
          </a:p>
        </p:txBody>
      </p:sp>
      <p:sp>
        <p:nvSpPr>
          <p:cNvPr id="6" name="fg_caption_focus-body-slot Placeholder Carrier"/>
          <p:cNvSpPr txBox="1"/>
          <p:nvPr>
            <p:ph type="body" idx="1"/>
          </p:nvPr>
        </p:nvSpPr>
        <p:spPr>
          <a:xfrm>
            <a:off x="600456" y="3234690"/>
            <a:ext cx="2532888" cy="2485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00"/>
              </a:lnSpc>
              <a:buNone/>
            </a:pPr>
            <a:r>
              <a:rPr lang="zh-Hant-TW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早期偵測的價值在於訊號</a:t>
            </a:r>
            <a:br/>
            <a:r>
              <a:rPr lang="zh-Hant-TW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還很微弱時就介入——但</a:t>
            </a:r>
            <a:br/>
            <a:r>
              <a:rPr lang="zh-Hant-TW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那時候「維持全速運轉」</a:t>
            </a:r>
            <a:br/>
            <a:r>
              <a:rPr lang="zh-Hant-TW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在當下並不違規，只看現</a:t>
            </a:r>
            <a:br/>
            <a:r>
              <a:rPr lang="zh-Hant-TW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況的規則擋不住它。預測</a:t>
            </a:r>
            <a:br/>
            <a:r>
              <a:rPr lang="zh-Hant-TW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型規則 SR-02P、SR-03P</a:t>
            </a:r>
            <a:br/>
            <a:r>
              <a:rPr lang="zh-Hant-TW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、SR-13 拿方案乾跑出</a:t>
            </a:r>
            <a:br/>
            <a:r>
              <a:rPr lang="zh-Hant-TW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來的訊號峰值來判斷。</a:t>
            </a:r>
          </a:p>
        </p:txBody>
      </p:sp>
      <p:grpSp>
        <p:nvGrpSpPr>
          <p:cNvPr id="21" name="fg_caption_focus-object-slot Proxy Content"/>
          <p:cNvGrpSpPr/>
          <p:nvPr/>
        </p:nvGrpSpPr>
        <p:grpSpPr>
          <a:xfrm>
            <a:off x="4791456" y="1089660"/>
            <a:ext cx="6409944" cy="4787646"/>
            <a:chOff x="4791456" y="1089660"/>
            <a:chExt cx="6409944" cy="4787646"/>
          </a:xfrm>
        </p:grpSpPr>
        <p:sp>
          <p:nvSpPr>
            <p:cNvPr id="7" name="TextBox 7"/>
            <p:cNvSpPr txBox="1"/>
            <p:nvPr/>
          </p:nvSpPr>
          <p:spPr>
            <a:xfrm>
              <a:off x="4794504" y="1089660"/>
              <a:ext cx="4761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M-A 振動（mm/s）：現況、危險門檻與方案乾跑出來的預測峰值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029200" y="1866900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19050">
              <a:solidFill>
                <a:srgbClr val="E8EDF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029200" y="1809750"/>
              <a:ext cx="2124075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53275" y="1809750"/>
              <a:ext cx="3209925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7658100" y="1504950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19050">
              <a:solidFill>
                <a:srgbClr val="E8890C"/>
              </a:solidFill>
              <a:custDash>
                <a:ds d="300000" sp="20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265022" y="1299210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rgbClr val="E8890C"/>
                  </a:solidFill>
                  <a:latin typeface="+mn-lt"/>
                  <a:ea typeface="+mn-ea"/>
                  <a:cs typeface="+mn-cs"/>
                </a:rPr>
                <a:t>危險門檻 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46783" y="2165032"/>
              <a:ext cx="10163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6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5.65 現況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89899" y="2165032"/>
              <a:ext cx="15827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6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14.18 預測峰值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800600" y="2705100"/>
              <a:ext cx="6400800" cy="1676400"/>
            </a:xfrm>
            <a:prstGeom prst="roundRect">
              <a:avLst>
                <a:gd name="adj" fmla="val 5682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800600" y="2705100"/>
              <a:ext cx="38100" cy="1676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99304" y="2880360"/>
              <a:ext cx="29174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Safety Agent 擋下 PLAN-A 的裁決原文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96256" y="3177540"/>
              <a:ext cx="5047488" cy="1266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模擬顯示本方案會讓 M-A 振動由目前 5.65 mm/s</a:t>
              </a:r>
              <a:br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升至 14.18 mm/s，超過危險門檻 7 mm/s。在振</a:t>
              </a:r>
              <a:br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動持續上升的情況下維持產出，等同於為了產量接</a:t>
              </a:r>
              <a:br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受旋轉件破損風險。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91456" y="4682490"/>
              <a:ext cx="5733288" cy="961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被擋下的方案不會從畫面上消失：它以紅底刪除線保留並</a:t>
              </a:r>
              <a:br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列出被擋的理由，評審看得到系統否決了什麼、依據哪一</a:t>
              </a:r>
              <a:br/>
              <a:r>
                <a:rPr lang="zh-Hant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條規則。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4504" y="5642610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分級：振動數值為 bearing-degradation 情境實測。</a:t>
              </a:r>
            </a:p>
          </p:txBody>
        </p:sp>
      </p:grpSp>
      <p:sp>
        <p:nvSpPr>
          <p:cNvPr id="22" name="fg_caption_focus-page-slot Placeholder Carrier"/>
          <p:cNvSpPr txBox="1"/>
          <p:nvPr>
            <p:ph type="sldNum" idx="3"/>
          </p:nvPr>
        </p:nvSpPr>
        <p:spPr>
          <a:xfrm>
            <a:off x="11398606" y="6366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23" name="Placeholder Binding obj 2" hidden="1"/>
          <p:cNvSpPr>
            <a:spLocks noGrp="1"/>
          </p:cNvSpPr>
          <p:nvPr>
            <p:ph type="obj" idx="2"/>
          </p:nvPr>
        </p:nvSpPr>
        <p:spPr>
          <a:xfrm>
            <a:off x="4610100" y="838200"/>
            <a:ext cx="6743700" cy="5181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g_comparison-title-slot Placeholder Carrier"/>
          <p:cNvSpPr txBox="1"/>
          <p:nvPr>
            <p:ph type="title"/>
          </p:nvPr>
        </p:nvSpPr>
        <p:spPr>
          <a:xfrm>
            <a:off x="593598" y="555308"/>
            <a:ext cx="952867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min–max 會把 0.15 的實質差距端走 0.30 的權重</a:t>
            </a:r>
          </a:p>
        </p:txBody>
      </p:sp>
      <p:sp>
        <p:nvSpPr>
          <p:cNvPr id="10" name="fg_comparison-left-title-slot Placeholder Carrier"/>
          <p:cNvSpPr txBox="1"/>
          <p:nvPr>
            <p:ph type="body" idx="1"/>
          </p:nvPr>
        </p:nvSpPr>
        <p:spPr>
          <a:xfrm>
            <a:off x="826008" y="1760220"/>
            <a:ext cx="19629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Hant-TW" sz="24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改用固定尺規</a:t>
            </a:r>
          </a:p>
        </p:txBody>
      </p:sp>
      <p:grpSp>
        <p:nvGrpSpPr>
          <p:cNvPr id="13" name="fg_comparison-left-content-slot Proxy Content"/>
          <p:cNvGrpSpPr/>
          <p:nvPr/>
        </p:nvGrpSpPr>
        <p:grpSpPr>
          <a:xfrm>
            <a:off x="829056" y="2415540"/>
            <a:ext cx="4201668" cy="2046161"/>
            <a:chOff x="829056" y="2415540"/>
            <a:chExt cx="4201668" cy="2046161"/>
          </a:xfrm>
        </p:grpSpPr>
        <p:sp>
          <p:nvSpPr>
            <p:cNvPr id="11" name="TextBox 11"/>
            <p:cNvSpPr txBox="1"/>
            <p:nvPr/>
          </p:nvSpPr>
          <p:spPr>
            <a:xfrm>
              <a:off x="829056" y="2415540"/>
              <a:ext cx="4201668" cy="961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min–max 是相對比較：候選方案差距很小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時，正規化仍會把最好的拉到 1、最差的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壓到 0，無中生有地製造鑑別力。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41976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固定尺規讓分數有絕對意義</a:t>
              </a:r>
            </a:p>
          </p:txBody>
        </p:sp>
      </p:grpSp>
      <p:sp>
        <p:nvSpPr>
          <p:cNvPr id="14" name="fg_comparison-right-title-slot Placeholder Carrier"/>
          <p:cNvSpPr txBox="1"/>
          <p:nvPr>
            <p:ph type="body" idx="3"/>
          </p:nvPr>
        </p:nvSpPr>
        <p:spPr>
          <a:xfrm>
            <a:off x="6541008" y="1760220"/>
            <a:ext cx="272620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Hant-TW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需核准只扣 0.1 分</a:t>
            </a:r>
          </a:p>
        </p:txBody>
      </p:sp>
      <p:grpSp>
        <p:nvGrpSpPr>
          <p:cNvPr id="17" name="fg_comparison-right-content-slot Proxy Content"/>
          <p:cNvGrpSpPr/>
          <p:nvPr/>
        </p:nvGrpSpPr>
        <p:grpSpPr>
          <a:xfrm>
            <a:off x="6544056" y="2415540"/>
            <a:ext cx="4133088" cy="2046161"/>
            <a:chOff x="6544056" y="2415540"/>
            <a:chExt cx="4133088" cy="2046161"/>
          </a:xfrm>
        </p:grpSpPr>
        <p:sp>
          <p:nvSpPr>
            <p:cNvPr id="15" name="TextBox 15"/>
            <p:cNvSpPr txBox="1"/>
            <p:nvPr/>
          </p:nvSpPr>
          <p:spPr>
            <a:xfrm>
              <a:off x="6544056" y="2415540"/>
              <a:ext cx="4133088" cy="961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它是治理程序，不是安全缺陷。早期版本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扣到 0.4，結果系統會為了避開核准流程</a:t>
              </a:r>
              <a:br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而偏好比較糟的方案。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6342" y="41976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扣分幅度會改變系統的行為偏好</a:t>
              </a:r>
            </a:p>
          </p:txBody>
        </p:sp>
      </p:grpSp>
      <p:sp>
        <p:nvSpPr>
          <p:cNvPr id="18" name="fg_comparison-note-slot Proxy Content"/>
          <p:cNvSpPr txBox="1"/>
          <p:nvPr/>
        </p:nvSpPr>
        <p:spPr>
          <a:xfrm>
            <a:off x="829056" y="5349240"/>
            <a:ext cx="9162288" cy="6568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400"/>
              </a:lnSpc>
            </a:pPr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驗證比的是反事實：實際結果有沒有達到這個方案自己的預測？有沒有贏過什麼都不做？排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名之後再跑 ±20% 權重穩健性掃描，推薦不變比例 100%。</a:t>
            </a:r>
          </a:p>
        </p:txBody>
      </p:sp>
      <p:sp>
        <p:nvSpPr>
          <p:cNvPr id="19" name="fg_comparison-page-slot Placeholder Carrier"/>
          <p:cNvSpPr txBox="1"/>
          <p:nvPr>
            <p:ph type="sldNum" idx="6"/>
          </p:nvPr>
        </p:nvSpPr>
        <p:spPr>
          <a:xfrm>
            <a:off x="11398606" y="6366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sp>
        <p:nvSpPr>
          <p:cNvPr id="20" name="Placeholder Binding obj 2" hidden="1"/>
          <p:cNvSpPr>
            <a:spLocks noGrp="1"/>
          </p:cNvSpPr>
          <p:nvPr>
            <p:ph type="obj" idx="2"/>
          </p:nvPr>
        </p:nvSpPr>
        <p:spPr>
          <a:xfrm>
            <a:off x="838200" y="2286000"/>
            <a:ext cx="4800600" cy="23241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21" name="Placeholder Binding obj 4" hidden="1"/>
          <p:cNvSpPr>
            <a:spLocks noGrp="1"/>
          </p:cNvSpPr>
          <p:nvPr>
            <p:ph type="obj" idx="4"/>
          </p:nvPr>
        </p:nvSpPr>
        <p:spPr>
          <a:xfrm>
            <a:off x="6553200" y="2286000"/>
            <a:ext cx="4800600" cy="23241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22" name="Placeholder Binding obj 5" hidden="1"/>
          <p:cNvSpPr>
            <a:spLocks noGrp="1"/>
          </p:cNvSpPr>
          <p:nvPr>
            <p:ph type="obj" idx="5"/>
          </p:nvPr>
        </p:nvSpPr>
        <p:spPr>
          <a:xfrm>
            <a:off x="838200" y="525780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g_table_insight-title-slot Placeholder Carrier"/>
          <p:cNvSpPr txBox="1"/>
          <p:nvPr>
            <p:ph type="title"/>
          </p:nvPr>
        </p:nvSpPr>
        <p:spPr>
          <a:xfrm>
            <a:off x="593598" y="555308"/>
            <a:ext cx="590153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設備故障情境的完整 KPI 對照</a:t>
            </a:r>
          </a:p>
        </p:txBody>
      </p:sp>
      <p:graphicFrame>
        <p:nvGraphicFramePr>
          <p:cNvPr id="7" name="fg_table_insight-table-slot Placeholder Carrier"/>
          <p:cNvGraphicFramePr>
            <a:graphicFrameLocks noGrp="1"/>
          </p:cNvGraphicFramePr>
          <p:nvPr>
            <p:ph type="tbl" idx="1"/>
          </p:nvPr>
        </p:nvGraphicFramePr>
        <p:xfrm>
          <a:off x="838200" y="1676400"/>
          <a:ext cx="6781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200150"/>
                <a:gridCol w="1200150"/>
                <a:gridCol w="1200150"/>
                <a:gridCol w="1200150"/>
              </a:tblGrid>
              <a:tr h="457200">
                <a:tc>
                  <a:txBody>
                    <a:bodyPr/>
                    <a:lstStyle/>
                    <a:p>
                      <a:pPr/>
                      <a:r>
                        <a:rPr lang="zh-Hant-TW" sz="1200" b="1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KPI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200" b="1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Baseline A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200" b="1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Baseline B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200" b="1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Baseline C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2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Guardian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偵測延遲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7.3 min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4.7 min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7.3 min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4.7 min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rgbClr val="E7EE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診斷確認 MTTD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40.0 min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10.7 min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rgbClr val="E7EE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初次診斷正確率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83.3%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rgbClr val="E7EE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最終診斷正確率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rgbClr val="E7EE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產能達成率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41.3%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72.1%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54.2%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94.6%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rgbClr val="E7EE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最大交期延遲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1,385 min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3.6 min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24.5 min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0 min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rgbClr val="E7EE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設備最終健康度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27.3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rgbClr val="E7EE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二次損壞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發生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未發生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發生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未發生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rgbClr val="E7EE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Hant-TW" sz="1350" b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執行後驗證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Hant-TW" sz="1350" b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通過</a:t>
                      </a:r>
                    </a:p>
                  </a:txBody>
                  <a:tcPr anchor="ctr"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E8EDF2"/>
                      </a:solidFill>
                      <a:prstDash val="solid"/>
                    </a:lnB>
                    <a:solidFill>
                      <a:srgbClr val="E7EEF5"/>
                    </a:solidFill>
                  </a:tcPr>
                </a:tc>
              </a:tr>
            </a:tbl>
          </a:graphicData>
        </a:graphic>
      </p:graphicFrame>
      <p:sp>
        <p:nvSpPr>
          <p:cNvPr id="8" name="fg_table_insight-message-slot Placeholder Carrier"/>
          <p:cNvSpPr txBox="1"/>
          <p:nvPr>
            <p:ph type="body" idx="2"/>
          </p:nvPr>
        </p:nvSpPr>
        <p:spPr>
          <a:xfrm>
            <a:off x="8449056" y="1901190"/>
            <a:ext cx="2304288" cy="21808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00"/>
              </a:lnSpc>
              <a:buNone/>
            </a:pPr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Baseline A 保不住設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備；現行流程 90 分鐘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判定沒一次跑完，平均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第 40 分鐘就被故障揭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曉打斷。Guardian 的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10.7 分鐘裡有 6 分鐘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是刻意的觀察窗。</a:t>
            </a:r>
          </a:p>
        </p:txBody>
      </p:sp>
      <p:sp>
        <p:nvSpPr>
          <p:cNvPr id="9" name="fg_table_insight-source-slot Placeholder Carrier"/>
          <p:cNvSpPr txBox="1"/>
          <p:nvPr>
            <p:ph type="ftr" idx="3"/>
          </p:nvPr>
        </p:nvSpPr>
        <p:spPr>
          <a:xfrm>
            <a:off x="8452104" y="5280660"/>
            <a:ext cx="17003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來源：benchmark 實測</a:t>
            </a:r>
          </a:p>
        </p:txBody>
      </p:sp>
      <p:sp>
        <p:nvSpPr>
          <p:cNvPr id="10" name="fg_table_insight-page-slot Placeholder Carrier"/>
          <p:cNvSpPr txBox="1"/>
          <p:nvPr>
            <p:ph type="sldNum" idx="4"/>
          </p:nvPr>
        </p:nvSpPr>
        <p:spPr>
          <a:xfrm>
            <a:off x="11398606" y="6366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0781FB-93FC-4A1B-AEA7-2EA720B3C54E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10</a:t>
            </a:fld>
          </a:p>
        </p:txBody>
      </p: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c="http://schemas.openxmlformats.org/drawingml/2006/chart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g_chart_insight-title-slot Placeholder Carrier"/>
          <p:cNvSpPr txBox="1"/>
          <p:nvPr>
            <p:ph type="title"/>
          </p:nvPr>
        </p:nvSpPr>
        <p:spPr>
          <a:xfrm>
            <a:off x="593598" y="555308"/>
            <a:ext cx="739250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25% 的產能，換 87 分鐘的風險曝露</a:t>
            </a:r>
          </a:p>
        </p:txBody>
      </p:sp>
      <p:graphicFrame>
        <p:nvGraphicFramePr>
          <p:cNvPr id="7" name="fg_chart_insight-chart-slot Placeholder Carrier"/>
          <p:cNvGraphicFramePr>
            <a:graphicFrameLocks noGrp="1"/>
          </p:cNvGraphicFramePr>
          <p:nvPr>
            <p:ph type="chart" idx="1"/>
          </p:nvPr>
        </p:nvGraphicFramePr>
        <p:xfrm>
          <a:off x="838200" y="1676400"/>
          <a:ext cx="6781800" cy="38862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fg_chart_insight-message-slot Placeholder Carrier"/>
          <p:cNvSpPr txBox="1"/>
          <p:nvPr>
            <p:ph type="body" idx="2"/>
          </p:nvPr>
        </p:nvSpPr>
        <p:spPr>
          <a:xfrm>
            <a:off x="8449056" y="1901190"/>
            <a:ext cx="2304288" cy="24856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00"/>
              </a:lnSpc>
              <a:buNone/>
            </a:pPr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工安是硬限制，不是加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權項。現行流程的工安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控制是程序性的，沒有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一雙一直盯著危險區的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眼睛。產能達成率 A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99.0%／B 67.5%／C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99.0%／Guardian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74.3%。</a:t>
            </a:r>
          </a:p>
        </p:txBody>
      </p:sp>
      <p:sp>
        <p:nvSpPr>
          <p:cNvPr id="9" name="fg_chart_insight-source-slot Placeholder Carrier"/>
          <p:cNvSpPr txBox="1"/>
          <p:nvPr>
            <p:ph type="ftr" idx="3"/>
          </p:nvPr>
        </p:nvSpPr>
        <p:spPr>
          <a:xfrm>
            <a:off x="8452104" y="5280660"/>
            <a:ext cx="17003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來源：benchmark 實測</a:t>
            </a:r>
          </a:p>
        </p:txBody>
      </p:sp>
      <p:sp>
        <p:nvSpPr>
          <p:cNvPr id="10" name="fg_chart_insight-page-slot Placeholder Carrier"/>
          <p:cNvSpPr txBox="1"/>
          <p:nvPr>
            <p:ph type="sldNum" idx="4"/>
          </p:nvPr>
        </p:nvSpPr>
        <p:spPr>
          <a:xfrm>
            <a:off x="11398606" y="6366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0781FB-93FC-4A1B-AEA7-2EA720B3C54E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fld>
          </a:p>
        </p:txBody>
      </p: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c="http://schemas.openxmlformats.org/drawingml/2006/chart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g_chart_insight-title-slot Placeholder Carrier"/>
          <p:cNvSpPr txBox="1"/>
          <p:nvPr>
            <p:ph type="title"/>
          </p:nvPr>
        </p:nvSpPr>
        <p:spPr>
          <a:xfrm>
            <a:off x="593598" y="555308"/>
            <a:ext cx="936117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方法在別人的資料上成立，但它不是最強的分類器</a:t>
            </a:r>
          </a:p>
        </p:txBody>
      </p:sp>
      <p:graphicFrame>
        <p:nvGraphicFramePr>
          <p:cNvPr id="7" name="fg_chart_insight-chart-slot Placeholder Carrier"/>
          <p:cNvGraphicFramePr>
            <a:graphicFrameLocks noGrp="1"/>
          </p:cNvGraphicFramePr>
          <p:nvPr>
            <p:ph type="chart" idx="1"/>
          </p:nvPr>
        </p:nvGraphicFramePr>
        <p:xfrm>
          <a:off x="838200" y="1676400"/>
          <a:ext cx="6781800" cy="38862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fg_chart_insight-message-slot Placeholder Carrier"/>
          <p:cNvSpPr txBox="1"/>
          <p:nvPr>
            <p:ph type="body" idx="2"/>
          </p:nvPr>
        </p:nvSpPr>
        <p:spPr>
          <a:xfrm>
            <a:off x="8449056" y="1901190"/>
            <a:ext cx="2384298" cy="15712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00"/>
              </a:lnSpc>
              <a:buNone/>
            </a:pPr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多原型改法讓 Top-1 從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0.724 升到 0.821；但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LogisticRegression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0.964 仍領先，這個結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論沒有被翻轉。</a:t>
            </a:r>
          </a:p>
        </p:txBody>
      </p:sp>
      <p:sp>
        <p:nvSpPr>
          <p:cNvPr id="9" name="fg_chart_insight-source-slot Placeholder Carrier"/>
          <p:cNvSpPr txBox="1"/>
          <p:nvPr>
            <p:ph type="ftr" idx="3"/>
          </p:nvPr>
        </p:nvSpPr>
        <p:spPr>
          <a:xfrm>
            <a:off x="8452104" y="5280660"/>
            <a:ext cx="15313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來源：UCI AI4I 2020</a:t>
            </a:r>
          </a:p>
        </p:txBody>
      </p:sp>
      <p:sp>
        <p:nvSpPr>
          <p:cNvPr id="10" name="fg_chart_insight-page-slot Placeholder Carrier"/>
          <p:cNvSpPr txBox="1"/>
          <p:nvPr>
            <p:ph type="sldNum" idx="4"/>
          </p:nvPr>
        </p:nvSpPr>
        <p:spPr>
          <a:xfrm>
            <a:off x="11398606" y="6366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0781FB-93FC-4A1B-AEA7-2EA720B3C54E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</a:t>
            </a:fld>
          </a:p>
        </p:txBody>
      </p: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c="http://schemas.openxmlformats.org/drawingml/2006/chart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g_chart_insight-title-slot Placeholder Carrier"/>
          <p:cNvSpPr txBox="1"/>
          <p:nvPr>
            <p:ph type="title"/>
          </p:nvPr>
        </p:nvSpPr>
        <p:spPr>
          <a:xfrm>
            <a:off x="593598" y="555308"/>
            <a:ext cx="826287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真實工業錄音：八格全部優於官方 baseline</a:t>
            </a:r>
          </a:p>
        </p:txBody>
      </p:sp>
      <p:graphicFrame>
        <p:nvGraphicFramePr>
          <p:cNvPr id="7" name="fg_chart_insight-chart-slot Placeholder Carrier"/>
          <p:cNvGraphicFramePr>
            <a:graphicFrameLocks noGrp="1"/>
          </p:cNvGraphicFramePr>
          <p:nvPr>
            <p:ph type="chart" idx="1"/>
          </p:nvPr>
        </p:nvGraphicFramePr>
        <p:xfrm>
          <a:off x="838200" y="1676400"/>
          <a:ext cx="6781800" cy="38862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8" name="fg_chart_insight-message-slot Placeholder Carrier"/>
          <p:cNvSpPr txBox="1"/>
          <p:nvPr>
            <p:ph type="body" idx="2"/>
          </p:nvPr>
        </p:nvSpPr>
        <p:spPr>
          <a:xfrm>
            <a:off x="8449056" y="1901190"/>
            <a:ext cx="2441448" cy="15712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00"/>
              </a:lnSpc>
              <a:buNone/>
            </a:pPr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平均 AUC 0.9030 對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0.7259、pAUC 0.7855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對 0.6000。訓練集只有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正常音訊是特徵，不是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限制。</a:t>
            </a:r>
          </a:p>
        </p:txBody>
      </p:sp>
      <p:sp>
        <p:nvSpPr>
          <p:cNvPr id="9" name="fg_chart_insight-source-slot Placeholder Carrier"/>
          <p:cNvSpPr txBox="1"/>
          <p:nvPr>
            <p:ph type="ftr" idx="3"/>
          </p:nvPr>
        </p:nvSpPr>
        <p:spPr>
          <a:xfrm>
            <a:off x="8452104" y="5280660"/>
            <a:ext cx="22831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來源：DCASE2020 Task2 pump</a:t>
            </a:r>
          </a:p>
        </p:txBody>
      </p:sp>
      <p:sp>
        <p:nvSpPr>
          <p:cNvPr id="10" name="fg_chart_insight-page-slot Placeholder Carrier"/>
          <p:cNvSpPr txBox="1"/>
          <p:nvPr>
            <p:ph type="sldNum" idx="4"/>
          </p:nvPr>
        </p:nvSpPr>
        <p:spPr>
          <a:xfrm>
            <a:off x="11398606" y="6366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0781FB-93FC-4A1B-AEA7-2EA720B3C54E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fld>
          </a:p>
        </p:txBody>
      </p:sp>
    </p:spTree>
  </p:cSld>
  <p:clrMapOvr>
    <a:masterClrMapping/>
  </p:clrMapOvr>
  <p:transition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g_data_story-title-slot Placeholder Carrier"/>
          <p:cNvSpPr txBox="1"/>
          <p:nvPr>
            <p:ph type="title"/>
          </p:nvPr>
        </p:nvSpPr>
        <p:spPr>
          <a:xfrm>
            <a:off x="593598" y="555308"/>
            <a:ext cx="614366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69.8% 的效益來自二次損壞避免</a:t>
            </a:r>
          </a:p>
        </p:txBody>
      </p:sp>
      <p:grpSp>
        <p:nvGrpSpPr>
          <p:cNvPr id="49" name="fg_data_story-evidence-slot Proxy Content"/>
          <p:cNvGrpSpPr/>
          <p:nvPr/>
        </p:nvGrpSpPr>
        <p:grpSpPr>
          <a:xfrm>
            <a:off x="972007" y="2013585"/>
            <a:ext cx="6495593" cy="3406521"/>
            <a:chOff x="972007" y="2013585"/>
            <a:chExt cx="6495593" cy="3406521"/>
          </a:xfrm>
        </p:grpSpPr>
        <p:sp>
          <p:nvSpPr>
            <p:cNvPr id="8" name="Line 8"/>
            <p:cNvSpPr/>
            <p:nvPr/>
          </p:nvSpPr>
          <p:spPr>
            <a:xfrm>
              <a:off x="1447800" y="4762500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447800" y="209550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38555" y="46805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447800" y="4095750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9525">
              <a:solidFill>
                <a:srgbClr val="E8ED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0856" y="401383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850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447800" y="3429000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9525">
              <a:solidFill>
                <a:srgbClr val="E8ED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2007" y="334708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1700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447800" y="2762250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9525">
              <a:solidFill>
                <a:srgbClr val="E8EDF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2007" y="268033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2550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447800" y="2095500"/>
              <a:ext cx="6019800" cy="9525"/>
            </a:xfrm>
            <a:custGeom>
              <a:avLst/>
              <a:gdLst/>
              <a:ahLst/>
              <a:cxnLst/>
              <a:rect l="l" t="t" r="r" b="b"/>
              <a:pathLst>
                <a:path w="6019800" h="9525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noFill/>
            <a:ln w="9525">
              <a:solidFill>
                <a:srgbClr val="E8EDF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72007" y="201358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3400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571625" y="2266950"/>
              <a:ext cx="609600" cy="2495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90454" y="204216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3185.4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47241" y="4880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二次損壞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428875" y="3962400"/>
              <a:ext cx="609600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447704" y="373761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1024.2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04491" y="4880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停機降載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295650" y="4524375"/>
              <a:ext cx="609600" cy="238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361125" y="429958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304.0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71266" y="4880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交期罰則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152900" y="4724400"/>
              <a:ext cx="6096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65021" y="449961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46.6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28516" y="4880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維修工時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010150" y="4752975"/>
              <a:ext cx="609600" cy="9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168917" y="452818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4.3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85766" y="4880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工安事故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76925" y="4752975"/>
              <a:ext cx="609600" cy="9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35692" y="452818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52541" y="4880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能源浪費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734175" y="4752975"/>
              <a:ext cx="609600" cy="9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92942" y="452818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9791" y="4880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碳排成本</a:t>
              </a:r>
            </a:p>
          </p:txBody>
        </p:sp>
        <p:sp>
          <p:nvSpPr>
            <p:cNvPr id="40" name="Polyline 40"/>
            <p:cNvSpPr/>
            <p:nvPr/>
          </p:nvSpPr>
          <p:spPr>
            <a:xfrm>
              <a:off x="1876425" y="2095500"/>
              <a:ext cx="5162550" cy="809625"/>
            </a:xfrm>
            <a:custGeom>
              <a:avLst/>
              <a:gdLst/>
              <a:ahLst/>
              <a:cxnLst/>
              <a:rect l="l" t="t" r="r" b="b"/>
              <a:pathLst>
                <a:path w="5162550" h="809625">
                  <a:moveTo>
                    <a:pt x="0" y="809625"/>
                  </a:moveTo>
                  <a:lnTo>
                    <a:pt x="857250" y="209550"/>
                  </a:lnTo>
                  <a:lnTo>
                    <a:pt x="1724025" y="28575"/>
                  </a:lnTo>
                  <a:lnTo>
                    <a:pt x="2581275" y="0"/>
                  </a:lnTo>
                  <a:lnTo>
                    <a:pt x="3438525" y="0"/>
                  </a:lnTo>
                  <a:lnTo>
                    <a:pt x="4305300" y="0"/>
                  </a:lnTo>
                  <a:lnTo>
                    <a:pt x="51625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838325" y="28670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695575" y="22669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3562350" y="20859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4419600" y="2057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5276850" y="2057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143625" y="2057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7000875" y="2057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441704" y="51854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年度效益（千元），紅線為累積占比</a:t>
              </a:r>
            </a:p>
          </p:txBody>
        </p:sp>
      </p:grpSp>
      <p:sp>
        <p:nvSpPr>
          <p:cNvPr id="50" name="fg_data_story-insight-slot Placeholder Carrier"/>
          <p:cNvSpPr txBox="1"/>
          <p:nvPr>
            <p:ph type="body" idx="2"/>
          </p:nvPr>
        </p:nvSpPr>
        <p:spPr>
          <a:xfrm>
            <a:off x="8449056" y="1901190"/>
            <a:ext cx="2361438" cy="32095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效益高度集中在單一項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目，所以那個假設特別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值得被追問。全廠 6 線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、基準情境：年度效益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4,564,752 元，第一年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ROI +64.5%，穩態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+172.5%，回收期 4.6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個月。最敏感的單一參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數是現況告警逃逸率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0.25（假設），臨界值</a:t>
            </a:r>
            <a:br/>
            <a:r>
              <a:rPr lang="zh-Hant-TW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5.3%。</a:t>
            </a:r>
          </a:p>
        </p:txBody>
      </p:sp>
      <p:sp>
        <p:nvSpPr>
          <p:cNvPr id="51" name="fg_data_story-source-slot Placeholder Carrier"/>
          <p:cNvSpPr txBox="1"/>
          <p:nvPr>
            <p:ph type="ftr" idx="3"/>
          </p:nvPr>
        </p:nvSpPr>
        <p:spPr>
          <a:xfrm>
            <a:off x="603504" y="6290310"/>
            <a:ext cx="74450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每一項效益都追溯到一個實測 KPI 欄位，每一個假設都標了分級；fp-* 無故障干擾情境不計為事件。</a:t>
            </a:r>
          </a:p>
        </p:txBody>
      </p:sp>
      <p:sp>
        <p:nvSpPr>
          <p:cNvPr id="52" name="fg_data_story-page-slot Placeholder Carrier"/>
          <p:cNvSpPr txBox="1"/>
          <p:nvPr>
            <p:ph type="sldNum" idx="4"/>
          </p:nvPr>
        </p:nvSpPr>
        <p:spPr>
          <a:xfrm>
            <a:off x="11398606" y="6366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0781FB-93FC-4A1B-AEA7-2EA720B3C54E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</a:t>
            </a:fld>
          </a:p>
        </p:txBody>
      </p:sp>
      <p:sp>
        <p:nvSpPr>
          <p:cNvPr id="53" name="Placeholder Binding obj 1" hidden="1"/>
          <p:cNvSpPr>
            <a:spLocks noGrp="1"/>
          </p:cNvSpPr>
          <p:nvPr>
            <p:ph type="obj" idx="1"/>
          </p:nvPr>
        </p:nvSpPr>
        <p:spPr>
          <a:xfrm>
            <a:off x="838200" y="1676400"/>
            <a:ext cx="6781800" cy="3886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g_two_content-title-slot Placeholder Carrier"/>
          <p:cNvSpPr txBox="1"/>
          <p:nvPr>
            <p:ph type="title"/>
          </p:nvPr>
        </p:nvSpPr>
        <p:spPr>
          <a:xfrm>
            <a:off x="593598" y="555308"/>
            <a:ext cx="554469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t-TW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把單廠導入變成可複製的方案</a:t>
            </a:r>
          </a:p>
        </p:txBody>
      </p:sp>
      <p:grpSp>
        <p:nvGrpSpPr>
          <p:cNvPr id="22" name="fg_two_content-left-slot Proxy Content"/>
          <p:cNvGrpSpPr/>
          <p:nvPr/>
        </p:nvGrpSpPr>
        <p:grpSpPr>
          <a:xfrm>
            <a:off x="829056" y="1851660"/>
            <a:ext cx="4809744" cy="3619691"/>
            <a:chOff x="829056" y="1851660"/>
            <a:chExt cx="4809744" cy="3619691"/>
          </a:xfrm>
        </p:grpSpPr>
        <p:sp>
          <p:nvSpPr>
            <p:cNvPr id="9" name="TextBox 9"/>
            <p:cNvSpPr txBox="1"/>
            <p:nvPr/>
          </p:nvSpPr>
          <p:spPr>
            <a:xfrm>
              <a:off x="832104" y="18516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誰用、誰決定、誰買單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056" y="2205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0606" y="2205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設備維護技師、產線班長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056" y="26250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決策者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00606" y="26250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廠務／設備維護主管、工安主管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056" y="30441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採購者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00606" y="3044190"/>
              <a:ext cx="35387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數位轉型辦公室或 IT／OT 團隊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38200" y="38481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E8ED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2104" y="4004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收費方式（四層）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1342" y="4350068"/>
              <a:ext cx="234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 SaaS　依廠／線／機台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1342" y="4635818"/>
              <a:ext cx="3298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Usage　Camera／Agent／Inference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342" y="4921568"/>
              <a:ext cx="2821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System Integration　一次性導入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1342" y="5207318"/>
              <a:ext cx="23862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Managed Service　後續維運</a:t>
              </a:r>
            </a:p>
          </p:txBody>
        </p:sp>
      </p:grpSp>
      <p:grpSp>
        <p:nvGrpSpPr>
          <p:cNvPr id="29" name="fg_two_content-right-slot Proxy Content"/>
          <p:cNvGrpSpPr/>
          <p:nvPr/>
        </p:nvGrpSpPr>
        <p:grpSpPr>
          <a:xfrm>
            <a:off x="6547104" y="1676400"/>
            <a:ext cx="4806696" cy="3591306"/>
            <a:chOff x="6547104" y="1676400"/>
            <a:chExt cx="4806696" cy="3591306"/>
          </a:xfrm>
        </p:grpSpPr>
        <p:sp>
          <p:nvSpPr>
            <p:cNvPr id="23" name="Rectangle 23"/>
            <p:cNvSpPr/>
            <p:nvPr/>
          </p:nvSpPr>
          <p:spPr>
            <a:xfrm>
              <a:off x="6553200" y="1676400"/>
              <a:ext cx="4800600" cy="914400"/>
            </a:xfrm>
            <a:prstGeom prst="roundRect">
              <a:avLst>
                <a:gd name="adj" fmla="val 1041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553200" y="1676400"/>
              <a:ext cx="3810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10756" y="180594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通路就是中華電信既有的基礎設施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13804" y="2156460"/>
              <a:ext cx="37459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整合 5G 專網、MEC、hicloud、OT 資安與維運服務；控</a:t>
              </a:r>
              <a:br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制關鍵路徑一律在 EDGE。</a:t>
              </a:r>
            </a:p>
          </p:txBody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24738" y="2781300"/>
              <a:ext cx="3057525" cy="2038350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6547104" y="5033010"/>
              <a:ext cx="4108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示意圖（AI 生成）：工廠 → 5G 小基站 → 邊緣機櫃 → 雲</a:t>
              </a:r>
            </a:p>
          </p:txBody>
        </p:sp>
      </p:grpSp>
      <p:grpSp>
        <p:nvGrpSpPr>
          <p:cNvPr id="32" name="fg_two_content-close-slot Proxy Content"/>
          <p:cNvGrpSpPr/>
          <p:nvPr/>
        </p:nvGrpSpPr>
        <p:grpSpPr>
          <a:xfrm>
            <a:off x="826770" y="5853112"/>
            <a:ext cx="5781180" cy="763905"/>
            <a:chOff x="826770" y="5853112"/>
            <a:chExt cx="5781180" cy="763905"/>
          </a:xfrm>
        </p:grpSpPr>
        <p:sp>
          <p:nvSpPr>
            <p:cNvPr id="30" name="TextBox 30"/>
            <p:cNvSpPr txBox="1"/>
            <p:nvPr/>
          </p:nvSpPr>
          <p:spPr>
            <a:xfrm>
              <a:off x="826770" y="5853112"/>
              <a:ext cx="5781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讓客戶願意簽下去的，不是 AI 兩個字 ——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6770" y="6176962"/>
              <a:ext cx="42633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t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是工安是硬限制，不是加權項。</a:t>
              </a:r>
            </a:p>
          </p:txBody>
        </p:sp>
      </p:grpSp>
      <p:sp>
        <p:nvSpPr>
          <p:cNvPr id="33" name="fg_two_content-page-slot Placeholder Carrier"/>
          <p:cNvSpPr txBox="1"/>
          <p:nvPr>
            <p:ph type="sldNum" idx="4"/>
          </p:nvPr>
        </p:nvSpPr>
        <p:spPr>
          <a:xfrm>
            <a:off x="11398606" y="63665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3E0781FB-93FC-4A1B-AEA7-2EA720B3C54E}" type="slidenum">
              <a:rPr lang="zh-Hant-TW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fld>
          </a:p>
        </p:txBody>
      </p:sp>
      <p:sp>
        <p:nvSpPr>
          <p:cNvPr id="34" name="Placeholder Binding obj 1" hidden="1"/>
          <p:cNvSpPr>
            <a:spLocks noGrp="1"/>
          </p:cNvSpPr>
          <p:nvPr>
            <p:ph type="obj" idx="1"/>
          </p:nvPr>
        </p:nvSpPr>
        <p:spPr>
          <a:xfrm>
            <a:off x="838200" y="1676400"/>
            <a:ext cx="4800600" cy="35814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35" name="Placeholder Binding obj 2" hidden="1"/>
          <p:cNvSpPr>
            <a:spLocks noGrp="1"/>
          </p:cNvSpPr>
          <p:nvPr>
            <p:ph type="obj" idx="2"/>
          </p:nvPr>
        </p:nvSpPr>
        <p:spPr>
          <a:xfrm>
            <a:off x="6553200" y="1676400"/>
            <a:ext cx="4800600" cy="35814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  <p:sp>
        <p:nvSpPr>
          <p:cNvPr id="36" name="Placeholder Binding obj 3" hidden="1"/>
          <p:cNvSpPr>
            <a:spLocks noGrp="1"/>
          </p:cNvSpPr>
          <p:nvPr>
            <p:ph type="obj" idx="3"/>
          </p:nvPr>
        </p:nvSpPr>
        <p:spPr>
          <a:xfrm>
            <a:off x="838200" y="58293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6202B"/>
      </a:dk1>
      <a:lt1>
        <a:srgbClr val="FFFFFF"/>
      </a:lt1>
      <a:dk2>
        <a:srgbClr val="1F497D"/>
      </a:dk2>
      <a:lt2>
        <a:srgbClr val="F1F4F8"/>
      </a:lt2>
      <a:accent1>
        <a:srgbClr val="0F4C81"/>
      </a:accent1>
      <a:accent2>
        <a:srgbClr val="E2231A"/>
      </a:accent2>
      <a:accent3>
        <a:srgbClr val="1B7F5A"/>
      </a:accent3>
      <a:accent4>
        <a:srgbClr val="0F4C81"/>
      </a:accent4>
      <a:accent5>
        <a:srgbClr val="5A6B7D"/>
      </a:accent5>
      <a:accent6>
        <a:srgbClr val="D5DDE5"/>
      </a:accent6>
      <a:hlink>
        <a:srgbClr val="E2231A"/>
      </a:hlink>
      <a:folHlink>
        <a:srgbClr val="1B7F5A"/>
      </a:folHlink>
    </a:clrScheme>
    <a:fontScheme name="PPT Master">
      <a:maj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6202B"/>
      </a:dk1>
      <a:lt1>
        <a:srgbClr val="FFFFFF"/>
      </a:lt1>
      <a:dk2>
        <a:srgbClr val="1F497D"/>
      </a:dk2>
      <a:lt2>
        <a:srgbClr val="F1F4F8"/>
      </a:lt2>
      <a:accent1>
        <a:srgbClr val="0F4C81"/>
      </a:accent1>
      <a:accent2>
        <a:srgbClr val="E2231A"/>
      </a:accent2>
      <a:accent3>
        <a:srgbClr val="1B7F5A"/>
      </a:accent3>
      <a:accent4>
        <a:srgbClr val="0F4C81"/>
      </a:accent4>
      <a:accent5>
        <a:srgbClr val="5A6B7D"/>
      </a:accent5>
      <a:accent6>
        <a:srgbClr val="D5DDE5"/>
      </a:accent6>
      <a:hlink>
        <a:srgbClr val="E2231A"/>
      </a:hlink>
      <a:folHlink>
        <a:srgbClr val="1B7F5A"/>
      </a:folHlink>
    </a:clrScheme>
    <a:fontScheme name="PPT Master">
      <a:maj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zh-Hant-TW</dc:language>
  <cp:lastModifiedBy/>
  <cp:revision>1</cp:revision>
  <dcterms:created xsi:type="dcterms:W3CDTF">2026-09-06T07:04:32Z</dcterms:created>
  <dcterms:modified xsi:type="dcterms:W3CDTF">2026-09-06T07:04:32Z</dcterms:modified>
  <cp:category/>
  <cp:contentStatus/>
</cp:coreProperties>
</file>