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Hant-TW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各位評審好。我想用一個數字開場。在我們的工安情境測試裡，有一組對照組的產能達成率是三組裡最漂亮的，九成九。代價是它讓人在運轉中的機台旁邊，站了八十八分鐘。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這份提案要談的不只是技術，是取捨的立場。Factory Guardian AI 是一套 Agentic AI 的智慧工廠自主營運與風險管理平台：異常發生時，它不只發警告，而是自動走完偵測、診斷、影響分析、方案規劃、安全檢查、人工核准、執行派工、驗證恢復這八個階段。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我先把幾個數字交給各位。現在是四組對照組跑在同一個孿生體上，相同的隨機種子、相同的情境、相同的總時長，所以每一個數字都直接可比——比 8/9 版多了一組，稍後解釋為什麼。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產能達成率，從現行流程的五成四點二提升到九成四點六，這是設備故障情境下三種故障的平均。最大交期延遲，從一千三百八十五分鐘（固定門檻告警、之後不處理的極端）降到零。人員危險區曝露，從八十八分鐘降到一分鐘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我想強調的是最後這一項與前兩項同時成立。產能、交期與工安通常是互相衝突的，而這幾個數字來自同一次可重跑的 benchmark，不是挑最好的結果拼起來的。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為什麼現況會是那樣？因為現行流程在告警之後，還有九十分鐘是人工的。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偵測到異常、告警發出，然後就斷了。中間這段空白要靠人：到場十五分鐘、現場量測三十分鐘、查手冊與歷史工單三十分鐘、再跟生產確認十五分鐘，加起來九十分鐘才判得出根因。這是一個假設參數，依據寫在我們的商業案例假設參數全表裡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二個痛點是工單完整度。現行人工工單大約只有六成完整——有故障描述、有機台，但缺手冊條款、缺建議零件、缺標準作業程序連結。第三個是知識問題：維修判斷分散在少數老師傅身上，沒有結構化，換班或退休就把判斷依據帶走了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所以缺的不是更靈敏的告警。缺的是告警之後，能自己走完診斷、規劃、安全檢查與驗證的那個閉環。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這段描述現在也直接寫進了 Benchmark，成為第四組對照組，我們叫它 Baseline C，現行流程：固定門檻偵測、告警後人工判定根因九十分鐘、機台照跑照劣化、判定完才停機維修，不轉單。加這一組是因為原本的兩組對照組都是理論上的極端——完全沒人接告警，或者接了就零等待立刻停機——沒有工廠真的是這樣運作。Baseline C 才是評審問「哪家工廠是這樣」時,我們答得出來的那一組。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這就是那個閉環，八個階段。偵測、診斷、影響分析、方案規劃、安全檢查、人工核准、執行派工、驗證恢復。各階段分別由 Monitoring、Diagnosis、Production、Safety 幾個 Agent，加上 Policy Engine 與 Verification Agent 負責。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請注意中間標紅的那一關是安全檢查。等一下我會單獨講它，因為它是這套系統裡最不像一般預測性維護產品的地方。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底下這一條是整套設計的根：Factory Digital Twin 是唯一知道真相的地方。真實故障答案只存在孿生體內部，對外的狀態快照不會把它輸出給任何一個 Agent。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還有兩件事值得說明。Orchestrator 負責協調這八個階段，如果驗證不通過就重新規劃；而決策層的方案排名是加權多準則計算，不是 LLM，而且排名之後還會再跑一次權重穩健性掃描，回答「權重是你自己訂的，換一組會不會換人」。另外，沒有 OpenAI 金鑰也能跑完整 Demo，LLM 敘述會自動退回確定性的離線敘述器——LLM 在這套系統裡的角色僅止於產生說明文字。全套九百八十六個測試，離線約四十秒跑完。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在講可信度之前，我想先讓各位確認一件事：前一頁那八個階段不是投影片上的框，是一個正在推進的系統。畫面上兩張都是實際擷取的。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左上是孿生體現在看到的機台狀態：主要加工機的振動八點八九，已經是 CRITICAL，健康度掉到五十二，右邊那格寫著到達門檻的剩餘時間已踩線；替代加工機與包裝機都還是一百，正常。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右上是八階段閉環的即時進度。已經走完的四格是發現異常、找出根因、算出影響、比較方案；現在正停在第五格安全把關與第六格核准——安全把關擋下了一個方案，而核准這一格在等人簽名，所以整條環停在這裡。左邊那條虛線是「驗證沒過就退回重新規劃」。下面的小圖是 CAM-01 工安畫面，危險區內零人。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下半部左邊是排名理由：推薦方案 D，而且在正負兩成的權重擾動下推薦不變的比例是百分之百，最敏感的準則是工安裕度。右邊是核准之後的執行結果，三項檢查全部通過，蓋上 VERIFIED。每一格步驟卡都能點開它的推理：看到什麼、怎麼算、為什麼不是別的、結論是什麼。畫面上每一個數字都取自後端算過的結果，前端不補敘述。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競賽 Demo 最容易被質疑的一句話是「數字是不是編的」。我不打算用解釋回答，我用架構回答，而且每一條都有一個會失敗的測試守著。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第一，合成資料明確標示。所有感測器、訂單、手冊與維修歷史都標記為 synthetic，命令列與 Dashboard 常駐顯示，不靠口頭聲明。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第二，Agent 看不到答案。真實故障答案只存在孿生體內部，對外快照不輸出；規劃階段用的是診斷信念模型，不是真值。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第三，執行後回到模擬器驗證。執行會真的改變孿生體狀態，Verification Agent 在真實的孿生體上量 KPI，不通過就重新規劃。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這三件事正好是最容易作弊的三個地方：資料來源不標、規劃時偷看答案、驗證只看預測而不回到模擬器實測。三個原則各自有一個具名的測試守著，可以在現場直接重跑。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我想單獨解釋第二個原則，因為它是整份 Demo 有沒有意義的關鍵。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如果方案投影直接在帶著真值的孿生體上乾跑，等於讓 Production Agent 偷看答案。那樣一來，診斷正確與否就不再影響結果，整個 Demo 也就失去意義了。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所以改用信念模型之後，系統會拿掉真實故障標籤，換上 Diagnosis Agent 自己推論出來的故障，並且用觀測到的健康度反推嚴重程度。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這帶來一條刻意留下的失效鏈：診斷錯，投影就會錯，然後由 Verification Agent 在真實孿生體上抓出來，觸發重新規劃。我沒有把這條路徑藏起來，因為它正是系統會自我修正的證明。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診斷本身的排名由感測器指紋餘弦相似度主導，權重零點七五，加上歷史先驗零點一五與文件支持度零點一。RAG 的價值在於產生可引用的證據，而不是決定答案——因為三份手冊都會提到同樣那四個訊號，純文字相似度的鑑別力其實很有限。信心度還會被訊號強度壓抑：訊號還微弱時不給高信心，Orchestrator 會先繼續觀察，不急著動設備。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安全檢查這一關的設計，來自一個很實際的矛盾。早期偵測的價值在於訊號還很微弱時就介入——但那個時候，「維持全速運轉」在當下並不違規。只看現況數值的規則，擋不住它。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所以 Safety Agent 除了現況規則之外，還有預測型規則，代號 SR-02P、SR-03P 與 SR-13。它們拿方案乾跑出來的訊號峰值來判斷。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畫面上這條刻度就是實際的 Demo 情況：M-A 的振動目前是五點六五，危險門檻是七，而這個方案乾跑出來的預測峰值是十四點一八。系統擋下 PLAN-A 的裁決原文是：模擬顯示本方案會讓 M-A 振動由目前五點六五升至十四點一八，超過危險門檻七；在振動持續上升的情況下維持產出，等同於為了產量接受旋轉件破損風險。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另外請注意，被擋下的方案不會從畫面上消失。它會以紅底刪除線保留，並列出被擋的理由——評審看得到系統否決了什麼，以及依據哪一條規則。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排名的算法看起來像技術細節，但它會直接改變系統的行為，所以我講兩個決定。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第一，改用固定尺規，不用 min–max 正規化。min–max 是相對比較：當候選方案在某個準則上差距很小時，正規化仍然會把最好的拉到一、最差的壓到零，等於無中生有地製造鑑別力——一個零點一五的實質差距，可以整碗端走零點三的權重。改用固定尺規之後，分數有絕對意義，跨情境、跨執行都代表同一件事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第二，「需要人工核准」只扣零點一分。它是治理程序，不是安全缺陷。早期版本扣到零點四，結果系統會為了避開核准流程，而偏好那些不用人簽名、但其實比較糟的方案。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還有一件事：驗證比的是反事實，不是事故前的狀態。設備劣化是進行式的，拿三十分鐘後的結果去比事故剛發生時的達成率，任何方案都必定變差，那個比較沒有意義。真正該回答的是兩個問題：實際結果有沒有達到這個方案自己的預測？有沒有贏過什麼都不做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這是設備故障情境的完整 KPI 對照，現在是四組跑在同一個孿生體上：固定門檻告警、偵測即停機、現行流程、Guardian。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偵測延遲，Baseline A 是七點三分鐘，偵測即停機與 Guardian 都是四點七分鐘，現行流程因為用的是同一種固定門檻偵測，也是七點三分鐘。診斷確認時間只有現行流程與 Guardian 有這個環節：現行流程四十分鐘，Guardian 十點七分鐘——這十點七分鐘裡有六分鐘是刻意的觀察窗，用來分辨新穩態與才剛開始的劣化。根因診斷正確率，只有 Guardian 有這個環節，確認之後是百分之百，但我要誠實補一句：偵測當下的第一次比對只有百分之八十三點三，剩下的十七個百分點是靠續觀察與可能的重規劃補回來的。產能達成率，四成一點三、七成二點一、五成四點二、九成四點六。最大交期延遲，一千三百八十五分鐘、三點六分鐘、二十四點五分鐘、零。設備最終健康度，二十七點三、一百、一百、一百。二次損壞，Baseline A 與現行流程都發生，偵測即停機與 Guardian 都沒有。執行後驗證，只有 Guardian 有，而且通過。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這張表要說的是：Baseline A 保不住設備，健康度只剩二十七點三，而且發生了二次損壞；現行流程雖然最後也把設備修好，但九十分鐘的判定期間機台照跑照劣化，三個情境沒有一次真的把九十分鐘判定流程走完——平均在第四十分鐘就被故障自己揭曉打斷；偵測即停機保住了設備，但賠掉了產能；Guardian 兩者都拿到，而且執行完之後回到孿生體驗證通過。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這一頁是整份提案我最想留給各位的一列。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人員危險區曝露，Baseline A 是八十八分鐘，Baseline B 是一分鐘，現行流程和 Baseline A 一模一樣也是八十八分鐘——這是刻意的，現行流程的工安控制是程序性的，不是偵測性的，它沒有一雙一直盯著危險區的眼睛，把攝影機能力送給對照組並不公平。Guardian 是一分鐘。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但請看另一組數字：產能達成率，Baseline A 是九成九，Baseline B 是六成七點五，現行流程和 Baseline A 一樣是九成九，Guardian 是七成四點三。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換句話說，Guardian 用了大約兩成五的產能，換掉八十七分鐘的風險曝露。Baseline A 的產能達成率九成九是三組裡最漂亮的一組，代價是讓人在運轉的機台旁邊站了八十八分鐘。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工安是硬限制，不是加權項。當產能與工安衝突時，工安不是一個可以被權重犧牲掉的準則——這是這套系統的立場，也是我認為它值得被信任的地方。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接下來兩頁回答「資料是假的嗎」。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我把專案裡的感測器指紋餘弦法原封不動搬到 UCI 的 AI4I 2020 公開資料集上，再跟四個對照方法比較 Top-1 根因歸因正確率。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隨機基準是零點二五零。代表現行流程的單一訊號門檻規則是零點四五八。本專案的指紋餘弦法是零點七二四，Top-3 是零點九八五。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但我也要說輸的地方：同樣特徵下的 RandomForest 是零點九三九，LogisticRegression 是零點九六四，兩個都贏過我們。方法在別人的資料上成立，但它不是最強的分類器——這兩件事我都寫在同一頁上。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這個弱點後來被我們自己找到並修好了一部分：外部資料上有一種故障是雙側的，功率過高或過低都算，單一指紋沒辦法同時代表兩個相反的方向。我們讓診斷 Agent 支援一個故障對多個指紋、取最大餘弦，同一份外部資料上 Top-1 從零點七二四升到零點八二一。但誠實地說，LogisticRegression 依然領先，零點九六四對零點八二一，多原型沒有翻轉這個結論。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誠實邊界也要講：AI4I 2020 本身是合成資料集，不是真實工廠量測；這份資料沒有振動訊號，所以覆蓋不到軸承劣化這個 Demo 主線情境——這個缺口由另一份驗證補上，用的是真實加速規量測的軸承振動資料集 CWRU，內圈滾珠外圈三類歸因 Top-1 零點九九四，但我們同樣寫出這個數字幾乎沒有資訊量：單一特徵規則就有零點九二五，而且拿壞得明顯的資料訓練、測剛開始壞的資料，Top-1 掉到零點三三五，等於隨機，所以不宣稱驗證了早期偵測能力。指紋的來源在這裡和專案裡也不一樣。這整套驗證可以用一行指令重現。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第二份外部驗證用的是真實工業錄音，不是合成音訊。資料集是 DCASE2020 Task2 的 pump development set，測試切分有四百筆正常與四百五十六筆異常。方法是 log-mel 頻譜特徵加上 Local Outlier Factor，而且只用正常音訊擬合。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四個泵浦個體逐一比較：id 00 是零點八八四五對零點六七零八；id 02 是零點八六四一對零點六零九四；id 04 是零點九七四三對零點八八八六；id 06 是零點八八九三對零點七三四九。平均 AUC 零點九零三對官方 baseline 的零點七二五九，差距零點一七七一；平均 pAUC 是零點七八五五對零點六，差距零點一八五五。四個個體、兩個指標，八格全部優於官方 baseline。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我想特別說明「訓練集只有正常音訊」這件事：它是特徵，不是限制。真實產線本來就拿不到足量的故障錄音，所以只用正常音訊擬合，反而更貼近實際部署的條件。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談效益。全廠六條線、基準情境下，年度效益是四百五十六萬四千七百五十二元；第一年 ROI 正六成四點五，穩態年度 ROI 正一百七十二點五，簡單回收期四點六個月。這裡用的現況假設是逃逸率百分之二十五的機率混合，不是 Benchmark 表格上的 Baseline C——兩者是兩個不同的建模方式，我們選擇比較保守的那一種留在 ROI 模型裡。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但我想請各位看的是效益的結構，而不是總數。二次損壞避免這一項就佔了六成九點八，避免停機與降載的產出損失佔二成二點四，交期罰則與趕工佔百分之六點七，維修工時節省百分之一，剩下的工安、能源與碳排加起來約千分之一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效益高度集中在單一項目，所以那個項目背後的假設就特別值得被追問。而最敏感的單一參數是現況告警逃逸率，我設為零點二五，這是一個假設值，臨界值是百分之五點三——低於這個逃逸率，方案在財務上就不成立。效益實現率零點八也是假設，它涵蓋感測器安裝品質、門檻校準期、人員採用率，以及模型在真實訊號上的退化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我也要誠實講一件事：單線試點在這個假設下是不會回本的，穩態 ROI 是負一成七點六，因為五 G 專網跟 MEC 是廠級固定成本，攤不到一條線上，我們建議至少兩條線起跳。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我沒有把這些藏在附錄裡，因為每一項效益都追溯到一個實測的 KPI 欄位，而每一個假設都標了分級。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最後談落地。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誰用、誰決定、誰買單：使用者是設備維護技師與產線班長；決策者是廠務、設備維護主管與工安主管；採購者通常是數位轉型辦公室或 IT／OT 團隊，預算多半掛在「智慧製造」或「工安改善」項下。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收費分四層：平台 SaaS 依廠、線或機台計費；AI Usage 依 Camera、Agent 與 Inference 用量計費；System Integration 是一次性導入；Managed Service 是後續維運。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而通路就是中華電信既有的基礎設施——整合 5G 專網、MEC、hicloud、OT 資安與維運服務，讓單廠導入變成一個可複製的方案，而不是每一家都從頭做一次。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收在一句話：讓客戶願意簽下去的，不是 AI 這兩個字，是工安是硬限制、不是加權項這個立場。謝謝各位。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mart_factor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mart_factor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8a0a6bdd814af52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3f5061bc928af02.png"/>
  <Relationship Id="rId3" Type="http://schemas.openxmlformats.org/officeDocument/2006/relationships/image" Target="../media/image_418fc649a435e6dc.png"/>
  <Relationship Id="rId4" Type="http://schemas.openxmlformats.org/officeDocument/2006/relationships/image" Target="../media/image_b97a57fecb6a783d.png"/>
  <Relationship Id="rId5" Type="http://schemas.openxmlformats.org/officeDocument/2006/relationships/image" Target="../media/image_b764bfc1f7744d72.png"/>
  <Relationship Id="rId6" Type="http://schemas.openxmlformats.org/officeDocument/2006/relationships/image" Target="../media/image_cf5aea4d8db3d604.png"/>
  <Relationship Id="rId7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028d0e649fe30ff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ecb40efa32fa7e5.png"/>
  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410700" y="1524000"/>
            <a:ext cx="2095500" cy="3143250"/>
            <a:chOff x="9410700" y="1524000"/>
            <a:chExt cx="2095500" cy="3143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10700" y="1524000"/>
              <a:ext cx="2095500" cy="314325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666750" y="1795462"/>
            <a:ext cx="7299960" cy="2591372"/>
            <a:chOff x="666750" y="1795462"/>
            <a:chExt cx="7299960" cy="2591372"/>
          </a:xfrm>
        </p:grpSpPr>
        <p:sp>
          <p:nvSpPr>
            <p:cNvPr id="4" name="TextBox 4"/>
            <p:cNvSpPr txBox="1"/>
            <p:nvPr/>
          </p:nvSpPr>
          <p:spPr>
            <a:xfrm>
              <a:off x="674370" y="1795462"/>
              <a:ext cx="72923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四組對照組跑在同一個孿生體上，產能最漂亮的那一組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2392680"/>
              <a:ext cx="312116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88</a:t>
              </a:r>
              <a:r>
                <a:rPr lang="zh-Hant-TW" sz="6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分鐘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3608" y="358902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讓人站在運轉中的機台旁邊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4034790"/>
              <a:ext cx="4925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而它的產能達成率是四組裡最漂亮的 99.0%。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9798" y="4667250"/>
            <a:ext cx="8760638" cy="1319784"/>
            <a:chOff x="669798" y="4667250"/>
            <a:chExt cx="8760638" cy="1319784"/>
          </a:xfrm>
        </p:grpSpPr>
        <p:sp>
          <p:nvSpPr>
            <p:cNvPr id="9" name="Rectangle 9"/>
            <p:cNvSpPr/>
            <p:nvPr/>
          </p:nvSpPr>
          <p:spPr>
            <a:xfrm>
              <a:off x="685800" y="4667250"/>
              <a:ext cx="11430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9798" y="4765358"/>
              <a:ext cx="42957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Factory Guardian AI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5330190"/>
              <a:ext cx="49683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Agentic AI 智慧工廠自主營運與風險管理平台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87537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偵測 → 診斷 → 影響分析 → 方案規劃 → 安全檢查 → 人工核准 → 執行派工 → 驗證恢復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9704" y="6137910"/>
            <a:ext cx="44244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2026 中華電信智慧創新應用大賽 ／ 智慧製造 ／ 競賽 MVP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9202150" cy="616077"/>
            <a:chOff x="669798" y="726758"/>
            <a:chExt cx="920215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92021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同一組孿生體、同一個 seed，四組對照組的差距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619250"/>
            <a:ext cx="3371850" cy="2276856"/>
            <a:chOff x="666750" y="1619250"/>
            <a:chExt cx="3371850" cy="2276856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33528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685800" y="1747838"/>
              <a:ext cx="228600" cy="185738"/>
            </a:xfrm>
            <a:custGeom>
              <a:avLst/>
              <a:gdLst/>
              <a:ahLst/>
              <a:cxnLst/>
              <a:rect l="l" t="t" r="r" b="b"/>
              <a:pathLst>
                <a:path w="228600" h="185738">
                  <a:moveTo>
                    <a:pt x="25069" y="185738"/>
                  </a:moveTo>
                  <a:cubicBezTo>
                    <a:pt x="9383" y="166169"/>
                    <a:pt x="0" y="141331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41331"/>
                    <a:pt x="219217" y="166169"/>
                    <a:pt x="203531" y="185738"/>
                  </a:cubicBezTo>
                  <a:lnTo>
                    <a:pt x="131469" y="185738"/>
                  </a:lnTo>
                  <a:lnTo>
                    <a:pt x="181941" y="131144"/>
                  </a:lnTo>
                  <a:lnTo>
                    <a:pt x="160959" y="111745"/>
                  </a:lnTo>
                  <a:lnTo>
                    <a:pt x="92554" y="185738"/>
                  </a:lnTo>
                  <a:lnTo>
                    <a:pt x="25069" y="185738"/>
                  </a:lnTo>
                  <a:close/>
                  <a:moveTo>
                    <a:pt x="100012" y="42862"/>
                  </a:moveTo>
                  <a:cubicBezTo>
                    <a:pt x="100012" y="50753"/>
                    <a:pt x="106409" y="57150"/>
                    <a:pt x="114300" y="57150"/>
                  </a:cubicBezTo>
                  <a:cubicBezTo>
                    <a:pt x="122191" y="57150"/>
                    <a:pt x="128588" y="50753"/>
                    <a:pt x="128588" y="42862"/>
                  </a:cubicBezTo>
                  <a:cubicBezTo>
                    <a:pt x="128588" y="34972"/>
                    <a:pt x="122191" y="28575"/>
                    <a:pt x="114300" y="28575"/>
                  </a:cubicBezTo>
                  <a:cubicBezTo>
                    <a:pt x="106409" y="28575"/>
                    <a:pt x="100012" y="34972"/>
                    <a:pt x="100012" y="42862"/>
                  </a:cubicBezTo>
                  <a:close/>
                  <a:moveTo>
                    <a:pt x="164306" y="78581"/>
                  </a:moveTo>
                  <a:cubicBezTo>
                    <a:pt x="156415" y="78581"/>
                    <a:pt x="150019" y="72184"/>
                    <a:pt x="150019" y="64294"/>
                  </a:cubicBezTo>
                  <a:cubicBezTo>
                    <a:pt x="150019" y="56403"/>
                    <a:pt x="156415" y="50006"/>
                    <a:pt x="164306" y="50006"/>
                  </a:cubicBezTo>
                  <a:cubicBezTo>
                    <a:pt x="172197" y="50006"/>
                    <a:pt x="178594" y="56403"/>
                    <a:pt x="178594" y="64294"/>
                  </a:cubicBezTo>
                  <a:cubicBezTo>
                    <a:pt x="178594" y="72184"/>
                    <a:pt x="172197" y="78581"/>
                    <a:pt x="164306" y="78581"/>
                  </a:cubicBezTo>
                  <a:close/>
                  <a:moveTo>
                    <a:pt x="28575" y="114300"/>
                  </a:moveTo>
                  <a:cubicBezTo>
                    <a:pt x="28575" y="122191"/>
                    <a:pt x="34972" y="128588"/>
                    <a:pt x="42862" y="128588"/>
                  </a:cubicBezTo>
                  <a:cubicBezTo>
                    <a:pt x="50753" y="128588"/>
                    <a:pt x="57150" y="122191"/>
                    <a:pt x="57150" y="114300"/>
                  </a:cubicBezTo>
                  <a:cubicBezTo>
                    <a:pt x="57150" y="106409"/>
                    <a:pt x="50753" y="100012"/>
                    <a:pt x="42862" y="100012"/>
                  </a:cubicBezTo>
                  <a:cubicBezTo>
                    <a:pt x="34972" y="100012"/>
                    <a:pt x="28575" y="106409"/>
                    <a:pt x="28575" y="114300"/>
                  </a:cubicBezTo>
                  <a:close/>
                  <a:moveTo>
                    <a:pt x="64294" y="78581"/>
                  </a:moveTo>
                  <a:cubicBezTo>
                    <a:pt x="56403" y="78581"/>
                    <a:pt x="50006" y="72184"/>
                    <a:pt x="50006" y="64294"/>
                  </a:cubicBezTo>
                  <a:cubicBezTo>
                    <a:pt x="50006" y="56403"/>
                    <a:pt x="56403" y="50006"/>
                    <a:pt x="64294" y="50006"/>
                  </a:cubicBezTo>
                  <a:cubicBezTo>
                    <a:pt x="72185" y="50006"/>
                    <a:pt x="78581" y="56403"/>
                    <a:pt x="78581" y="64294"/>
                  </a:cubicBezTo>
                  <a:cubicBezTo>
                    <a:pt x="78581" y="72184"/>
                    <a:pt x="72185" y="78581"/>
                    <a:pt x="64294" y="785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02792" y="1778318"/>
              <a:ext cx="982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產能達成率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8942" y="215931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現行流程 </a:t>
              </a:r>
              <a:r>
                <a:rPr lang="zh-Hant-TW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54.2%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2430780"/>
              <a:ext cx="2790204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66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94.6%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33785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設備故障情境三種故障平均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3661410"/>
              <a:ext cx="345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實測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00550" y="1619250"/>
            <a:ext cx="3371850" cy="2276856"/>
            <a:chOff x="4400550" y="1619250"/>
            <a:chExt cx="3371850" cy="2276856"/>
          </a:xfrm>
        </p:grpSpPr>
        <p:sp>
          <p:nvSpPr>
            <p:cNvPr id="12" name="Rectangle 12"/>
            <p:cNvSpPr/>
            <p:nvPr/>
          </p:nvSpPr>
          <p:spPr>
            <a:xfrm>
              <a:off x="4419600" y="1619250"/>
              <a:ext cx="33528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41031" y="1733550"/>
              <a:ext cx="188696" cy="228600"/>
            </a:xfrm>
            <a:custGeom>
              <a:avLst/>
              <a:gdLst/>
              <a:ahLst/>
              <a:cxnLst/>
              <a:rect l="l" t="t" r="r" b="b"/>
              <a:pathLst>
                <a:path w="188696" h="228600">
                  <a:moveTo>
                    <a:pt x="50006" y="28575"/>
                  </a:moveTo>
                  <a:lnTo>
                    <a:pt x="78581" y="28575"/>
                  </a:lnTo>
                  <a:lnTo>
                    <a:pt x="78581" y="43955"/>
                  </a:lnTo>
                  <a:cubicBezTo>
                    <a:pt x="34074" y="50827"/>
                    <a:pt x="0" y="89300"/>
                    <a:pt x="0" y="135731"/>
                  </a:cubicBezTo>
                  <a:cubicBezTo>
                    <a:pt x="0" y="187022"/>
                    <a:pt x="41579" y="228600"/>
                    <a:pt x="92869" y="228600"/>
                  </a:cubicBezTo>
                  <a:cubicBezTo>
                    <a:pt x="144159" y="228600"/>
                    <a:pt x="185738" y="187022"/>
                    <a:pt x="185738" y="135731"/>
                  </a:cubicBezTo>
                  <a:cubicBezTo>
                    <a:pt x="185738" y="115242"/>
                    <a:pt x="179102" y="96302"/>
                    <a:pt x="167862" y="80943"/>
                  </a:cubicBezTo>
                  <a:lnTo>
                    <a:pt x="188696" y="60109"/>
                  </a:lnTo>
                  <a:lnTo>
                    <a:pt x="168491" y="39903"/>
                  </a:lnTo>
                  <a:lnTo>
                    <a:pt x="147657" y="60738"/>
                  </a:lnTo>
                  <a:cubicBezTo>
                    <a:pt x="135940" y="52163"/>
                    <a:pt x="122140" y="46268"/>
                    <a:pt x="107156" y="43955"/>
                  </a:cubicBezTo>
                  <a:lnTo>
                    <a:pt x="107156" y="28575"/>
                  </a:lnTo>
                  <a:lnTo>
                    <a:pt x="135731" y="28575"/>
                  </a:lnTo>
                  <a:lnTo>
                    <a:pt x="135731" y="0"/>
                  </a:lnTo>
                  <a:lnTo>
                    <a:pt x="50006" y="0"/>
                  </a:lnTo>
                  <a:lnTo>
                    <a:pt x="50006" y="28575"/>
                  </a:lnTo>
                  <a:close/>
                  <a:moveTo>
                    <a:pt x="78581" y="85725"/>
                  </a:moveTo>
                  <a:lnTo>
                    <a:pt x="78581" y="142875"/>
                  </a:lnTo>
                  <a:lnTo>
                    <a:pt x="107156" y="142875"/>
                  </a:lnTo>
                  <a:lnTo>
                    <a:pt x="107156" y="85725"/>
                  </a:lnTo>
                  <a:lnTo>
                    <a:pt x="78581" y="85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36592" y="1778318"/>
              <a:ext cx="11795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最大交期延遲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2742" y="2159318"/>
              <a:ext cx="1276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現況 </a:t>
              </a:r>
              <a:r>
                <a:rPr lang="zh-Hant-TW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1,385 min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00550" y="2430780"/>
              <a:ext cx="232374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66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 min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2742" y="3378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受影響訂單全部準時交付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13504" y="3661410"/>
              <a:ext cx="345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實測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34350" y="1619250"/>
            <a:ext cx="3371850" cy="2276856"/>
            <a:chOff x="8134350" y="1619250"/>
            <a:chExt cx="3371850" cy="2276856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3528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153400" y="1747838"/>
              <a:ext cx="228600" cy="214312"/>
              <a:chOff x="8153400" y="1747838"/>
              <a:chExt cx="228600" cy="21431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235828" y="1747838"/>
                <a:ext cx="6374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3745" h="57150">
                    <a:moveTo>
                      <a:pt x="17585" y="0"/>
                    </a:moveTo>
                    <a:lnTo>
                      <a:pt x="0" y="57150"/>
                    </a:lnTo>
                    <a:lnTo>
                      <a:pt x="63745" y="57150"/>
                    </a:lnTo>
                    <a:lnTo>
                      <a:pt x="46160" y="0"/>
                    </a:lnTo>
                    <a:lnTo>
                      <a:pt x="1758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13847" y="1833562"/>
                <a:ext cx="10770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07705" h="42862">
                    <a:moveTo>
                      <a:pt x="0" y="42862"/>
                    </a:moveTo>
                    <a:lnTo>
                      <a:pt x="13189" y="0"/>
                    </a:lnTo>
                    <a:lnTo>
                      <a:pt x="94518" y="0"/>
                    </a:lnTo>
                    <a:lnTo>
                      <a:pt x="107705" y="42862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53400" y="1905000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51655" y="0"/>
                    </a:moveTo>
                    <a:lnTo>
                      <a:pt x="176945" y="0"/>
                    </a:lnTo>
                    <a:lnTo>
                      <a:pt x="185738" y="28575"/>
                    </a:lnTo>
                    <a:lnTo>
                      <a:pt x="228600" y="28575"/>
                    </a:lnTo>
                    <a:lnTo>
                      <a:pt x="228600" y="57150"/>
                    </a:lnTo>
                    <a:lnTo>
                      <a:pt x="0" y="57150"/>
                    </a:lnTo>
                    <a:lnTo>
                      <a:pt x="0" y="28575"/>
                    </a:lnTo>
                    <a:lnTo>
                      <a:pt x="42862" y="28575"/>
                    </a:lnTo>
                    <a:lnTo>
                      <a:pt x="516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8470392" y="1778318"/>
              <a:ext cx="1376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人員危險區曝露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6542" y="2159318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現況 </a:t>
              </a:r>
              <a:r>
                <a:rPr lang="zh-Hant-TW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88 min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34350" y="2430780"/>
              <a:ext cx="232374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min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6542" y="3378518"/>
              <a:ext cx="189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hazard-zone 工安情境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7304" y="3661410"/>
              <a:ext cx="345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實測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5800" y="4286250"/>
            <a:ext cx="10820400" cy="940117"/>
            <a:chOff x="685800" y="4286250"/>
            <a:chExt cx="10820400" cy="940117"/>
          </a:xfrm>
        </p:grpSpPr>
        <p:sp>
          <p:nvSpPr>
            <p:cNvPr id="31" name="Rectangle 31"/>
            <p:cNvSpPr/>
            <p:nvPr/>
          </p:nvSpPr>
          <p:spPr>
            <a:xfrm>
              <a:off x="685800" y="4286250"/>
              <a:ext cx="1082040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4286250"/>
              <a:ext cx="3810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9170" y="4424362"/>
              <a:ext cx="6437948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Hant-TW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產能達成率、交期延遲與工安曝露同時改善，</a:t>
              </a:r>
              <a:br/>
              <a:r>
                <a:rPr lang="zh-Hant-TW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而這幾個數字都來自同一次可重跑的 benchmark。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6656" y="5501640"/>
            <a:ext cx="10075164" cy="890016"/>
            <a:chOff x="676656" y="5501640"/>
            <a:chExt cx="10075164" cy="890016"/>
          </a:xfrm>
        </p:grpSpPr>
        <p:sp>
          <p:nvSpPr>
            <p:cNvPr id="35" name="TextBox 35"/>
            <p:cNvSpPr txBox="1"/>
            <p:nvPr/>
          </p:nvSpPr>
          <p:spPr>
            <a:xfrm>
              <a:off x="676656" y="5501640"/>
              <a:ext cx="80846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跑在相同 seed、相同情境、相同總時長的孿生體上，所以 KPI 直接可比。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9704" y="5890260"/>
              <a:ext cx="9026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來源：factory-guardian benchmark 實際執行結果（非預錄）。設備故障情境為 bearing／cooling／motor 三種故障平均。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9704" y="6156960"/>
              <a:ext cx="10072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產能欄的現況是 Baseline C（現行流程：告警後人工判定 90 分鐘再停機維修）；交期與工安欄的現況是 Baseline A。四組對照見第 10 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8421893" cy="616077"/>
            <a:chOff x="669798" y="726758"/>
            <a:chExt cx="842189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84218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現行流程在告警之後，還有 </a:t>
              </a:r>
              <a:r>
                <a:rPr lang="zh-Hant-TW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90 分鐘</a:t>
              </a:r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是人工的</a:t>
              </a:r>
            </a:p>
          </p:txBody>
        </p:sp>
      </p:grpSp>
      <p:sp>
        <p:nvSpPr>
          <p:cNvPr id="4" name="Freeform 4"/>
          <p:cNvSpPr/>
          <p:nvPr/>
        </p:nvSpPr>
        <p:spPr>
          <a:xfrm>
            <a:off x="685800" y="1714500"/>
            <a:ext cx="3238500" cy="857250"/>
          </a:xfrm>
          <a:prstGeom prst="chevron">
            <a:avLst/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8267700" y="1714500"/>
            <a:ext cx="3238500" cy="857250"/>
          </a:xfrm>
          <a:prstGeom prst="chevron">
            <a:avLst/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4305300" y="1714500"/>
            <a:ext cx="3581400" cy="857250"/>
            <a:chOff x="4305300" y="1714500"/>
            <a:chExt cx="3581400" cy="857250"/>
          </a:xfrm>
        </p:grpSpPr>
        <p:sp>
          <p:nvSpPr>
            <p:cNvPr id="6" name="Rectangle 6"/>
            <p:cNvSpPr/>
            <p:nvPr/>
          </p:nvSpPr>
          <p:spPr>
            <a:xfrm>
              <a:off x="4305300" y="1714500"/>
              <a:ext cx="3581400" cy="857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060648" y="1901190"/>
              <a:ext cx="20707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90 分鐘的人工空白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726114" y="22164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到場、量測、查手冊、與生產確認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0116" y="1882140"/>
            <a:ext cx="1229868" cy="579311"/>
            <a:chOff x="1690116" y="1882140"/>
            <a:chExt cx="1229868" cy="579311"/>
          </a:xfrm>
        </p:grpSpPr>
        <p:sp>
          <p:nvSpPr>
            <p:cNvPr id="10" name="TextBox 10"/>
            <p:cNvSpPr txBox="1"/>
            <p:nvPr/>
          </p:nvSpPr>
          <p:spPr>
            <a:xfrm>
              <a:off x="1690116" y="1882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偵測到異常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4718" y="2197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告警發出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53144" y="1882140"/>
            <a:ext cx="1467612" cy="579311"/>
            <a:chOff x="9153144" y="1882140"/>
            <a:chExt cx="1467612" cy="579311"/>
          </a:xfrm>
        </p:grpSpPr>
        <p:sp>
          <p:nvSpPr>
            <p:cNvPr id="13" name="TextBox 13"/>
            <p:cNvSpPr txBox="1"/>
            <p:nvPr/>
          </p:nvSpPr>
          <p:spPr>
            <a:xfrm>
              <a:off x="9272016" y="1882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處理與恢復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53144" y="21974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停機、轉單、派工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3608" y="3067050"/>
            <a:ext cx="2556510" cy="1514856"/>
            <a:chOff x="673608" y="3067050"/>
            <a:chExt cx="2556510" cy="1514856"/>
          </a:xfrm>
        </p:grpSpPr>
        <p:sp>
          <p:nvSpPr>
            <p:cNvPr id="16" name="Freeform 16"/>
            <p:cNvSpPr/>
            <p:nvPr/>
          </p:nvSpPr>
          <p:spPr>
            <a:xfrm>
              <a:off x="710803" y="3067050"/>
              <a:ext cx="220146" cy="266700"/>
            </a:xfrm>
            <a:custGeom>
              <a:avLst/>
              <a:gdLst/>
              <a:ahLst/>
              <a:cxnLst/>
              <a:rect l="l" t="t" r="r" b="b"/>
              <a:pathLst>
                <a:path w="220146" h="266700">
                  <a:moveTo>
                    <a:pt x="58341" y="33338"/>
                  </a:moveTo>
                  <a:lnTo>
                    <a:pt x="91678" y="33338"/>
                  </a:lnTo>
                  <a:lnTo>
                    <a:pt x="91678" y="51281"/>
                  </a:lnTo>
                  <a:cubicBezTo>
                    <a:pt x="39753" y="59298"/>
                    <a:pt x="0" y="104183"/>
                    <a:pt x="0" y="158353"/>
                  </a:cubicBezTo>
                  <a:cubicBezTo>
                    <a:pt x="0" y="218192"/>
                    <a:pt x="48509" y="266700"/>
                    <a:pt x="108347" y="266700"/>
                  </a:cubicBezTo>
                  <a:cubicBezTo>
                    <a:pt x="168186" y="266700"/>
                    <a:pt x="216694" y="218192"/>
                    <a:pt x="216694" y="158353"/>
                  </a:cubicBezTo>
                  <a:cubicBezTo>
                    <a:pt x="216694" y="134448"/>
                    <a:pt x="208953" y="112352"/>
                    <a:pt x="195839" y="94434"/>
                  </a:cubicBezTo>
                  <a:lnTo>
                    <a:pt x="220146" y="70127"/>
                  </a:lnTo>
                  <a:lnTo>
                    <a:pt x="196573" y="46554"/>
                  </a:lnTo>
                  <a:lnTo>
                    <a:pt x="172267" y="70861"/>
                  </a:lnTo>
                  <a:cubicBezTo>
                    <a:pt x="158596" y="60857"/>
                    <a:pt x="142496" y="53980"/>
                    <a:pt x="125016" y="51281"/>
                  </a:cubicBezTo>
                  <a:lnTo>
                    <a:pt x="125016" y="33338"/>
                  </a:lnTo>
                  <a:lnTo>
                    <a:pt x="158353" y="33338"/>
                  </a:lnTo>
                  <a:lnTo>
                    <a:pt x="158353" y="0"/>
                  </a:lnTo>
                  <a:lnTo>
                    <a:pt x="58341" y="0"/>
                  </a:lnTo>
                  <a:lnTo>
                    <a:pt x="58341" y="33338"/>
                  </a:lnTo>
                  <a:close/>
                  <a:moveTo>
                    <a:pt x="91678" y="100012"/>
                  </a:moveTo>
                  <a:lnTo>
                    <a:pt x="91678" y="166688"/>
                  </a:lnTo>
                  <a:lnTo>
                    <a:pt x="125016" y="166688"/>
                  </a:lnTo>
                  <a:lnTo>
                    <a:pt x="125016" y="100012"/>
                  </a:lnTo>
                  <a:lnTo>
                    <a:pt x="91678" y="1000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3608" y="3417570"/>
              <a:ext cx="11454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90 分鐘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942" y="3873818"/>
              <a:ext cx="255117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人工判定根因所需工時：到場 15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＋量測 30 ＋查手冊 30 ＋確認 15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704" y="4347210"/>
              <a:ext cx="345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假設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07408" y="3067050"/>
            <a:ext cx="2590800" cy="1514856"/>
            <a:chOff x="4407408" y="3067050"/>
            <a:chExt cx="2590800" cy="1514856"/>
          </a:xfrm>
        </p:grpSpPr>
        <p:grpSp>
          <p:nvGrpSpPr>
            <p:cNvPr id="23" name="Group 23"/>
            <p:cNvGrpSpPr/>
            <p:nvPr/>
          </p:nvGrpSpPr>
          <p:grpSpPr>
            <a:xfrm>
              <a:off x="4452938" y="3067050"/>
              <a:ext cx="200025" cy="266700"/>
              <a:chOff x="4452938" y="3067050"/>
              <a:chExt cx="200025" cy="2667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519612" y="3067050"/>
                <a:ext cx="66675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0006">
                    <a:moveTo>
                      <a:pt x="66675" y="0"/>
                    </a:moveTo>
                    <a:lnTo>
                      <a:pt x="0" y="0"/>
                    </a:lnTo>
                    <a:lnTo>
                      <a:pt x="0" y="50006"/>
                    </a:lnTo>
                    <a:lnTo>
                      <a:pt x="66675" y="50006"/>
                    </a:lnTo>
                    <a:lnTo>
                      <a:pt x="666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452938" y="3100388"/>
                <a:ext cx="20002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33362">
                    <a:moveTo>
                      <a:pt x="33338" y="0"/>
                    </a:moveTo>
                    <a:lnTo>
                      <a:pt x="0" y="0"/>
                    </a:lnTo>
                    <a:lnTo>
                      <a:pt x="0" y="233362"/>
                    </a:lnTo>
                    <a:lnTo>
                      <a:pt x="200025" y="233362"/>
                    </a:lnTo>
                    <a:lnTo>
                      <a:pt x="200025" y="0"/>
                    </a:lnTo>
                    <a:lnTo>
                      <a:pt x="166688" y="0"/>
                    </a:lnTo>
                    <a:lnTo>
                      <a:pt x="166688" y="50006"/>
                    </a:lnTo>
                    <a:lnTo>
                      <a:pt x="33338" y="50006"/>
                    </a:lnTo>
                    <a:lnTo>
                      <a:pt x="333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407408" y="3417570"/>
              <a:ext cx="651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12742" y="3873818"/>
              <a:ext cx="25854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現行人工工單完整度：有故障描述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與機台，缺手冊條款與 SOP 連結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13504" y="4347210"/>
              <a:ext cx="345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假設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41208" y="3067050"/>
            <a:ext cx="2419350" cy="1514856"/>
            <a:chOff x="8141208" y="3067050"/>
            <a:chExt cx="2419350" cy="1514856"/>
          </a:xfrm>
        </p:grpSpPr>
        <p:sp>
          <p:nvSpPr>
            <p:cNvPr id="28" name="Freeform 28"/>
            <p:cNvSpPr/>
            <p:nvPr/>
          </p:nvSpPr>
          <p:spPr>
            <a:xfrm>
              <a:off x="8153400" y="30670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66688" y="58341"/>
                  </a:moveTo>
                  <a:lnTo>
                    <a:pt x="217662" y="7366"/>
                  </a:lnTo>
                  <a:cubicBezTo>
                    <a:pt x="207199" y="2634"/>
                    <a:pt x="195586" y="0"/>
                    <a:pt x="183356" y="0"/>
                  </a:cubicBezTo>
                  <a:cubicBezTo>
                    <a:pt x="137327" y="0"/>
                    <a:pt x="100012" y="37314"/>
                    <a:pt x="100012" y="83344"/>
                  </a:cubicBezTo>
                  <a:cubicBezTo>
                    <a:pt x="100012" y="90978"/>
                    <a:pt x="101039" y="98373"/>
                    <a:pt x="102962" y="105398"/>
                  </a:cubicBezTo>
                  <a:lnTo>
                    <a:pt x="0" y="208359"/>
                  </a:lnTo>
                  <a:lnTo>
                    <a:pt x="58341" y="266700"/>
                  </a:lnTo>
                  <a:lnTo>
                    <a:pt x="161302" y="163738"/>
                  </a:lnTo>
                  <a:cubicBezTo>
                    <a:pt x="168326" y="165661"/>
                    <a:pt x="175722" y="166688"/>
                    <a:pt x="183356" y="166688"/>
                  </a:cubicBezTo>
                  <a:cubicBezTo>
                    <a:pt x="229385" y="166688"/>
                    <a:pt x="266700" y="129373"/>
                    <a:pt x="266700" y="83344"/>
                  </a:cubicBezTo>
                  <a:cubicBezTo>
                    <a:pt x="266700" y="71114"/>
                    <a:pt x="264066" y="59500"/>
                    <a:pt x="259334" y="49037"/>
                  </a:cubicBezTo>
                  <a:lnTo>
                    <a:pt x="208359" y="100012"/>
                  </a:lnTo>
                  <a:lnTo>
                    <a:pt x="166688" y="100012"/>
                  </a:lnTo>
                  <a:lnTo>
                    <a:pt x="166688" y="583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41208" y="34175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少數老師傅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6542" y="3873818"/>
              <a:ext cx="24140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維修知識分散且未結構化，換班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或退休就帶走判斷依據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47304" y="4347210"/>
              <a:ext cx="1031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目標客戶痛點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4762500"/>
            <a:ext cx="10820400" cy="952500"/>
            <a:chOff x="685800" y="4762500"/>
            <a:chExt cx="10820400" cy="952500"/>
          </a:xfrm>
        </p:grpSpPr>
        <p:sp>
          <p:nvSpPr>
            <p:cNvPr id="33" name="Rectangle 33"/>
            <p:cNvSpPr/>
            <p:nvPr/>
          </p:nvSpPr>
          <p:spPr>
            <a:xfrm>
              <a:off x="685800" y="4762500"/>
              <a:ext cx="108204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" y="4762500"/>
              <a:ext cx="38100" cy="95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9170" y="4900612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缺的不是更靈敏的告警，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9170" y="5262562"/>
              <a:ext cx="82010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是告警之後能自己走完診斷、規劃、安全檢查與驗證的</a:t>
              </a:r>
              <a:r>
                <a:rPr lang="zh-Hant-TW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閉環</a:t>
              </a:r>
              <a:r>
                <a:rPr lang="zh-Hant-TW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8942" y="5988368"/>
            <a:ext cx="10554462" cy="479488"/>
            <a:chOff x="678942" y="5988368"/>
            <a:chExt cx="10554462" cy="479488"/>
          </a:xfrm>
        </p:grpSpPr>
        <p:sp>
          <p:nvSpPr>
            <p:cNvPr id="38" name="TextBox 38"/>
            <p:cNvSpPr txBox="1"/>
            <p:nvPr/>
          </p:nvSpPr>
          <p:spPr>
            <a:xfrm>
              <a:off x="678942" y="5988368"/>
              <a:ext cx="10554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目標客戶：有高價旋轉設備、停機成本高、維修知識分散在少數老師傅身上的中大型製造廠（電子組裝、精密加工、化工、食品）。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9704" y="6233160"/>
              <a:ext cx="9600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分級：工時與完整度為假設參數（商業案例假設全表）。這段流程已直接寫進 Benchmark，成為第四組對照組 Baseline C 現行流程。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7621913" cy="616077"/>
            <a:chOff x="669798" y="726758"/>
            <a:chExt cx="762191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76219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不只警告，而是自動走完</a:t>
              </a:r>
              <a:r>
                <a:rPr lang="zh-Hant-TW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八階段閉環</a:t>
              </a:r>
            </a:p>
          </p:txBody>
        </p:sp>
      </p:grpSp>
      <p:sp>
        <p:nvSpPr>
          <p:cNvPr id="4" name="Freeform 4"/>
          <p:cNvSpPr/>
          <p:nvPr/>
        </p:nvSpPr>
        <p:spPr>
          <a:xfrm>
            <a:off x="685800" y="1905000"/>
            <a:ext cx="1409700" cy="609600"/>
          </a:xfrm>
          <a:prstGeom prst="chevron">
            <a:avLst/>
          </a:prstGeom>
          <a:solidFill>
            <a:schemeClr val="lt1"/>
          </a:solidFill>
          <a:ln w="14288">
            <a:solidFill>
              <a:schemeClr val="accent1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2019300" y="1905000"/>
            <a:ext cx="1409700" cy="609600"/>
          </a:xfrm>
          <a:prstGeom prst="chevron">
            <a:avLst/>
          </a:prstGeom>
          <a:solidFill>
            <a:schemeClr val="lt1"/>
          </a:solidFill>
          <a:ln w="14288">
            <a:solidFill>
              <a:schemeClr val="accent1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3352800" y="1905000"/>
            <a:ext cx="1409700" cy="609600"/>
          </a:xfrm>
          <a:prstGeom prst="chevron">
            <a:avLst/>
          </a:prstGeom>
          <a:solidFill>
            <a:schemeClr val="lt1"/>
          </a:solidFill>
          <a:ln w="14288">
            <a:solidFill>
              <a:schemeClr val="accent1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4686300" y="1905000"/>
            <a:ext cx="1409700" cy="609600"/>
          </a:xfrm>
          <a:prstGeom prst="chevron">
            <a:avLst/>
          </a:prstGeom>
          <a:solidFill>
            <a:schemeClr val="lt1"/>
          </a:solidFill>
          <a:ln w="14288">
            <a:solidFill>
              <a:schemeClr val="accent1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19800" y="1905000"/>
            <a:ext cx="1409700" cy="609600"/>
          </a:xfrm>
          <a:prstGeom prst="chevron">
            <a:avLst/>
          </a:prstGeom>
          <a:solidFill>
            <a:srgbClr val="FDECEA"/>
          </a:solidFill>
          <a:ln w="14288">
            <a:solidFill>
              <a:schemeClr val="accent2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7353300" y="1905000"/>
            <a:ext cx="1409700" cy="609600"/>
          </a:xfrm>
          <a:prstGeom prst="chevron">
            <a:avLst/>
          </a:prstGeom>
          <a:solidFill>
            <a:schemeClr val="lt1"/>
          </a:solidFill>
          <a:ln w="14288">
            <a:solidFill>
              <a:schemeClr val="accent1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8686800" y="1905000"/>
            <a:ext cx="1409700" cy="609600"/>
          </a:xfrm>
          <a:prstGeom prst="chevron">
            <a:avLst/>
          </a:prstGeom>
          <a:solidFill>
            <a:schemeClr val="lt1"/>
          </a:solidFill>
          <a:ln w="14288">
            <a:solidFill>
              <a:schemeClr val="accent1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10020300" y="1905000"/>
            <a:ext cx="1409700" cy="609600"/>
          </a:xfrm>
          <a:prstGeom prst="chevron">
            <a:avLst/>
          </a:prstGeom>
          <a:solidFill>
            <a:schemeClr val="lt1"/>
          </a:solidFill>
          <a:ln w="14288">
            <a:solidFill>
              <a:schemeClr val="accent1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1318130" y="2107882"/>
            <a:ext cx="9479540" cy="322707"/>
            <a:chOff x="1318130" y="2107882"/>
            <a:chExt cx="9479540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1318130" y="210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51630" y="210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85130" y="210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18630" y="210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2130" y="210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85630" y="210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19130" y="210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52630" y="210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32332" y="2711768"/>
            <a:ext cx="9942576" cy="511683"/>
            <a:chOff x="1132332" y="2711768"/>
            <a:chExt cx="9942576" cy="511683"/>
          </a:xfrm>
        </p:grpSpPr>
        <p:sp>
          <p:nvSpPr>
            <p:cNvPr id="21" name="TextBox 21"/>
            <p:cNvSpPr txBox="1"/>
            <p:nvPr/>
          </p:nvSpPr>
          <p:spPr>
            <a:xfrm>
              <a:off x="1132332" y="2711768"/>
              <a:ext cx="51663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偵測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Detect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01062" y="2711768"/>
              <a:ext cx="64617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診斷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Diagnose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07892" y="2711768"/>
              <a:ext cx="6995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影響分析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Impact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41392" y="2711768"/>
              <a:ext cx="6995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方案規劃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Plan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4892" y="2711768"/>
              <a:ext cx="6995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安全檢查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08392" y="2711768"/>
              <a:ext cx="6995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人工核准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Approve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41892" y="2711768"/>
              <a:ext cx="6995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執行派工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Execute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75392" y="2711768"/>
              <a:ext cx="6995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驗證恢復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Verify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8942" y="3435668"/>
            <a:ext cx="9806107" cy="549783"/>
            <a:chOff x="678942" y="3435668"/>
            <a:chExt cx="9806107" cy="549783"/>
          </a:xfrm>
        </p:grpSpPr>
        <p:sp>
          <p:nvSpPr>
            <p:cNvPr id="30" name="TextBox 30"/>
            <p:cNvSpPr txBox="1"/>
            <p:nvPr/>
          </p:nvSpPr>
          <p:spPr>
            <a:xfrm>
              <a:off x="678942" y="3435668"/>
              <a:ext cx="1573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各階段的負責角色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8942" y="3721418"/>
              <a:ext cx="9806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Monitoring Agent ｜ Diagnosis Agent ｜ Production Agent ｜ Safety Agent ｜ Policy Engine ｜ Verification Agent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" y="4191000"/>
            <a:ext cx="10820400" cy="957834"/>
            <a:chOff x="685800" y="4191000"/>
            <a:chExt cx="10820400" cy="957834"/>
          </a:xfrm>
        </p:grpSpPr>
        <p:sp>
          <p:nvSpPr>
            <p:cNvPr id="33" name="Rectangle 33"/>
            <p:cNvSpPr/>
            <p:nvPr/>
          </p:nvSpPr>
          <p:spPr>
            <a:xfrm>
              <a:off x="685800" y="4191000"/>
              <a:ext cx="108204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" y="4191000"/>
              <a:ext cx="38100" cy="95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09650" y="443865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435608" y="4389120"/>
              <a:ext cx="68634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Factory Digital Twin —— 唯一知道真相的地方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38656" y="4796790"/>
              <a:ext cx="86076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真實故障答案只存在孿生體內部，對外的狀態快照不會輸出給任何一個 Agent。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6656" y="5463540"/>
            <a:ext cx="10842384" cy="890016"/>
            <a:chOff x="676656" y="5463540"/>
            <a:chExt cx="10842384" cy="890016"/>
          </a:xfrm>
        </p:grpSpPr>
        <p:sp>
          <p:nvSpPr>
            <p:cNvPr id="39" name="TextBox 39"/>
            <p:cNvSpPr txBox="1"/>
            <p:nvPr/>
          </p:nvSpPr>
          <p:spPr>
            <a:xfrm>
              <a:off x="676656" y="5463540"/>
              <a:ext cx="10842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Orchestrator 協調八階段，驗證不通過就重新規劃；決策層的排名是加權多準則計算，</a:t>
              </a:r>
              <a:r>
                <a:rPr lang="zh-Hant-TW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 LLM</a:t>
              </a: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9704" y="5852160"/>
              <a:ext cx="7513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沒有 OpenAI 金鑰也能跑完整 Demo：LLM 敘述自動退回確定性離線敘述器，LLM 的角色僅止於敘述。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9704" y="6118860"/>
              <a:ext cx="7919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全套 986 個測試，離線約 40 秒跑完；排名之後再跑 ±20% 權重穩健性掃描，回答「換一組權重會不會換人」。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6392799" cy="616077"/>
            <a:chOff x="669798" y="726758"/>
            <a:chExt cx="639279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這個閉環是</a:t>
              </a:r>
              <a:r>
                <a:rPr lang="zh-Hant-TW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跑得動的</a:t>
              </a:r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，不是流程圖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8942" y="1454468"/>
            <a:ext cx="10911078" cy="264033"/>
            <a:chOff x="678942" y="1454468"/>
            <a:chExt cx="10911078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78942" y="1454468"/>
              <a:ext cx="10911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產線戰情中心實際畫面（2026-09-06 擷取）：機台遙測與 TTT、閉環停在核准等人簽名、排名理由與穩健性掃描、執行後驗證。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9704" y="1866900"/>
            <a:ext cx="5340096" cy="2638806"/>
            <a:chOff x="679704" y="1866900"/>
            <a:chExt cx="5340096" cy="2638806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866900"/>
              <a:ext cx="5334000" cy="23622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85800" y="1866900"/>
              <a:ext cx="5334000" cy="23622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9704" y="4271010"/>
              <a:ext cx="4687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主要加工機 VIB 8.89 mm/s CRITICAL、健康度 52、TTT 已踩線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66104" y="1866900"/>
            <a:ext cx="5340096" cy="2543556"/>
            <a:chOff x="6166104" y="1866900"/>
            <a:chExt cx="5340096" cy="2543556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2200" y="1866900"/>
              <a:ext cx="5334000" cy="1647825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172200" y="1866900"/>
              <a:ext cx="5334000" cy="1647825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66104" y="360426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閉環停在第 5 格安全把關（擋下方案）與第 6 格核准（等人簽名）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2200" y="3848100"/>
              <a:ext cx="876300" cy="55245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6172200" y="3848100"/>
              <a:ext cx="876300" cy="5524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56704" y="3947160"/>
              <a:ext cx="19933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CAM-01：危險區內 0 人，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工安判讀每格綁在觀測欄位上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9704" y="4533900"/>
            <a:ext cx="7245096" cy="1743456"/>
            <a:chOff x="679704" y="4533900"/>
            <a:chExt cx="7245096" cy="1743456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6092" y="4533900"/>
              <a:ext cx="7218415" cy="144780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685800" y="4533900"/>
              <a:ext cx="7239000" cy="14478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9704" y="6042660"/>
              <a:ext cx="6199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排名理由：推薦方案 D；±20% 權重擾動下推薦不變 100%，最敏感準則是工安裕度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09204" y="4533900"/>
            <a:ext cx="3396996" cy="1743456"/>
            <a:chOff x="8109204" y="4533900"/>
            <a:chExt cx="3396996" cy="1743456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79511" y="4533900"/>
              <a:ext cx="1862479" cy="1447800"/>
            </a:xfrm>
            <a:prstGeom prst="rect">
              <a:avLst/>
            </a:prstGeom>
          </p:spPr>
        </p:pic>
        <p:sp>
          <p:nvSpPr>
            <p:cNvPr id="22" name="Rectangle 22"/>
            <p:cNvSpPr/>
            <p:nvPr/>
          </p:nvSpPr>
          <p:spPr>
            <a:xfrm>
              <a:off x="8115300" y="4533900"/>
              <a:ext cx="3390900" cy="14478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09204" y="6042660"/>
              <a:ext cx="2982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核准後執行，三項檢查 PASS、VERIFIED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7418" y="6356032"/>
            <a:ext cx="9223762" cy="322707"/>
            <a:chOff x="677418" y="6356032"/>
            <a:chExt cx="9223762" cy="322707"/>
          </a:xfrm>
        </p:grpSpPr>
        <p:sp>
          <p:nvSpPr>
            <p:cNvPr id="25" name="TextBox 25"/>
            <p:cNvSpPr txBox="1"/>
            <p:nvPr/>
          </p:nvSpPr>
          <p:spPr>
            <a:xfrm>
              <a:off x="677418" y="6356032"/>
              <a:ext cx="92237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每一格步驟卡都能展開推理：</a:t>
              </a:r>
              <a:r>
                <a:rPr lang="zh-Hant-TW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看到什麼 → 怎麼算 → 為什麼不是別的 → 結論</a:t>
              </a:r>
              <a:r>
                <a:rPr lang="zh-Hant-TW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；數字皆取自後端。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8893112" cy="1130427"/>
            <a:chOff x="669798" y="726758"/>
            <a:chExt cx="8893112" cy="113042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8893112" cy="1130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競賽 Demo 最容易被質疑的是「數字是不是編的」</a:t>
              </a:r>
              <a:br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這套系統用</a:t>
              </a:r>
              <a:r>
                <a:rPr lang="zh-Hant-TW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架構</a:t>
              </a:r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3608" y="1905000"/>
            <a:ext cx="3364992" cy="2734056"/>
            <a:chOff x="673608" y="1905000"/>
            <a:chExt cx="3364992" cy="2734056"/>
          </a:xfrm>
        </p:grpSpPr>
        <p:sp>
          <p:nvSpPr>
            <p:cNvPr id="4" name="Rectangle 4"/>
            <p:cNvSpPr/>
            <p:nvPr/>
          </p:nvSpPr>
          <p:spPr>
            <a:xfrm>
              <a:off x="685800" y="1905000"/>
              <a:ext cx="33528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723900" y="2057400"/>
              <a:ext cx="228600" cy="304800"/>
              <a:chOff x="723900" y="2057400"/>
              <a:chExt cx="228600" cy="304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800100" y="20574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23900" y="20955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673608" y="25222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合成資料明確標示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3035618"/>
              <a:ext cx="207111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感測器、訂單、手冊與維修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歷史全部標記為合成資料，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命令列與畫面上常駐顯示，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不靠口頭聲明。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4175760"/>
              <a:ext cx="1840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有具名測試守著：標記消失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畫面就會當場驗證失敗。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07408" y="1905000"/>
            <a:ext cx="3364992" cy="2734056"/>
            <a:chOff x="4407408" y="1905000"/>
            <a:chExt cx="3364992" cy="2734056"/>
          </a:xfrm>
        </p:grpSpPr>
        <p:sp>
          <p:nvSpPr>
            <p:cNvPr id="12" name="Rectangle 12"/>
            <p:cNvSpPr/>
            <p:nvPr/>
          </p:nvSpPr>
          <p:spPr>
            <a:xfrm>
              <a:off x="4419600" y="1905000"/>
              <a:ext cx="33528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19600" y="2057400"/>
              <a:ext cx="299220" cy="299220"/>
            </a:xfrm>
            <a:custGeom>
              <a:avLst/>
              <a:gdLst/>
              <a:ahLst/>
              <a:cxnLst/>
              <a:rect l="l" t="t" r="r" b="b"/>
              <a:pathLst>
                <a:path w="299220" h="299220">
                  <a:moveTo>
                    <a:pt x="213211" y="240152"/>
                  </a:moveTo>
                  <a:cubicBezTo>
                    <a:pt x="190950" y="256824"/>
                    <a:pt x="163303" y="266700"/>
                    <a:pt x="133350" y="266700"/>
                  </a:cubicBezTo>
                  <a:cubicBezTo>
                    <a:pt x="59703" y="266700"/>
                    <a:pt x="0" y="206997"/>
                    <a:pt x="0" y="133350"/>
                  </a:cubicBezTo>
                  <a:cubicBezTo>
                    <a:pt x="0" y="59703"/>
                    <a:pt x="59703" y="0"/>
                    <a:pt x="133350" y="0"/>
                  </a:cubicBezTo>
                  <a:cubicBezTo>
                    <a:pt x="206997" y="0"/>
                    <a:pt x="266700" y="59703"/>
                    <a:pt x="266700" y="133350"/>
                  </a:cubicBezTo>
                  <a:cubicBezTo>
                    <a:pt x="266700" y="163303"/>
                    <a:pt x="256824" y="190950"/>
                    <a:pt x="240152" y="213211"/>
                  </a:cubicBezTo>
                  <a:lnTo>
                    <a:pt x="299220" y="272280"/>
                  </a:lnTo>
                  <a:lnTo>
                    <a:pt x="272280" y="299220"/>
                  </a:lnTo>
                  <a:lnTo>
                    <a:pt x="213211" y="240152"/>
                  </a:lnTo>
                  <a:close/>
                  <a:moveTo>
                    <a:pt x="106409" y="160291"/>
                  </a:moveTo>
                  <a:lnTo>
                    <a:pt x="79468" y="187232"/>
                  </a:lnTo>
                  <a:cubicBezTo>
                    <a:pt x="49711" y="157474"/>
                    <a:pt x="49711" y="109226"/>
                    <a:pt x="79468" y="79468"/>
                  </a:cubicBezTo>
                  <a:cubicBezTo>
                    <a:pt x="109226" y="49711"/>
                    <a:pt x="157474" y="49711"/>
                    <a:pt x="187232" y="79468"/>
                  </a:cubicBezTo>
                  <a:lnTo>
                    <a:pt x="160291" y="106409"/>
                  </a:lnTo>
                  <a:cubicBezTo>
                    <a:pt x="145412" y="91530"/>
                    <a:pt x="121288" y="91530"/>
                    <a:pt x="106409" y="106409"/>
                  </a:cubicBezTo>
                  <a:cubicBezTo>
                    <a:pt x="91530" y="121288"/>
                    <a:pt x="91530" y="145412"/>
                    <a:pt x="106409" y="160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07408" y="2522220"/>
              <a:ext cx="27045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看不到答案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2742" y="3035618"/>
              <a:ext cx="207111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真實故障答案只存在孿生體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內部，對外快照不輸出；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規劃用的是診斷信念模型，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不是答案本身。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13504" y="4175760"/>
              <a:ext cx="1840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有具名測試守著：快照一旦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洩漏答案就會失敗。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41208" y="1905000"/>
            <a:ext cx="3364992" cy="2734056"/>
            <a:chOff x="8141208" y="1905000"/>
            <a:chExt cx="3364992" cy="2734056"/>
          </a:xfrm>
        </p:grpSpPr>
        <p:sp>
          <p:nvSpPr>
            <p:cNvPr id="18" name="Rectangle 18"/>
            <p:cNvSpPr/>
            <p:nvPr/>
          </p:nvSpPr>
          <p:spPr>
            <a:xfrm>
              <a:off x="8153400" y="1905000"/>
              <a:ext cx="3352800" cy="19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153400" y="2057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1208" y="252222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執行後回模擬器驗證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6542" y="3035618"/>
              <a:ext cx="210540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執行真的改變孿生體狀態，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Verification Agent 在真實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孿生體上量 KPI，不通過就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重新規劃。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7304" y="4175760"/>
              <a:ext cx="1840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有具名測試守著：閉環必須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走到一次通過的驗證。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4953000"/>
            <a:ext cx="10820400" cy="704850"/>
            <a:chOff x="685800" y="4953000"/>
            <a:chExt cx="10820400" cy="704850"/>
          </a:xfrm>
        </p:grpSpPr>
        <p:sp>
          <p:nvSpPr>
            <p:cNvPr id="24" name="Rectangle 24"/>
            <p:cNvSpPr/>
            <p:nvPr/>
          </p:nvSpPr>
          <p:spPr>
            <a:xfrm>
              <a:off x="685800" y="4953000"/>
              <a:ext cx="108204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4953000"/>
              <a:ext cx="38100" cy="7048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1456" y="5196840"/>
              <a:ext cx="86568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每一個原則都有一個</a:t>
              </a:r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會失敗的測試</a:t>
              </a: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守著 —— 全套 986 個測試，離線約 40 秒跑完。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8942" y="5950268"/>
            <a:ext cx="8555355" cy="498538"/>
            <a:chOff x="678942" y="5950268"/>
            <a:chExt cx="8555355" cy="498538"/>
          </a:xfrm>
        </p:grpSpPr>
        <p:sp>
          <p:nvSpPr>
            <p:cNvPr id="28" name="TextBox 28"/>
            <p:cNvSpPr txBox="1"/>
            <p:nvPr/>
          </p:nvSpPr>
          <p:spPr>
            <a:xfrm>
              <a:off x="678942" y="5950268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這三件事是最容易「作弊」的地方：資料來源不標、規劃時偷看答案、驗證只看預測而不回到模擬器實測。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9704" y="62141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分級：三項皆為實測，測試可直接在現場重跑。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7997840" cy="616077"/>
            <a:chOff x="669798" y="726758"/>
            <a:chExt cx="799784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79978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診斷錯了，投影就會錯 —— 這是</a:t>
              </a:r>
              <a:r>
                <a:rPr lang="zh-Hant-TW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刻意留下的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6656" y="1714500"/>
            <a:ext cx="5228844" cy="1529334"/>
            <a:chOff x="676656" y="1714500"/>
            <a:chExt cx="5228844" cy="1529334"/>
          </a:xfrm>
        </p:grpSpPr>
        <p:sp>
          <p:nvSpPr>
            <p:cNvPr id="4" name="Rectangle 4"/>
            <p:cNvSpPr/>
            <p:nvPr/>
          </p:nvSpPr>
          <p:spPr>
            <a:xfrm>
              <a:off x="685800" y="1714500"/>
              <a:ext cx="52197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8942" y="1835468"/>
              <a:ext cx="25572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如果方案投影直接跑在真值上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6656" y="2205990"/>
              <a:ext cx="388162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等於讓 Production Agent 偷看答案，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診斷正確與否就不再影響結果，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整個 Demo 也就失去意義。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77356" y="1714500"/>
            <a:ext cx="5228844" cy="1529334"/>
            <a:chOff x="6277356" y="1714500"/>
            <a:chExt cx="5228844" cy="1529334"/>
          </a:xfrm>
        </p:grpSpPr>
        <p:sp>
          <p:nvSpPr>
            <p:cNvPr id="8" name="Rectangle 8"/>
            <p:cNvSpPr/>
            <p:nvPr/>
          </p:nvSpPr>
          <p:spPr>
            <a:xfrm>
              <a:off x="6286500" y="1714500"/>
              <a:ext cx="52197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9642" y="1835468"/>
              <a:ext cx="2754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改用信念模型之後，實際做的事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77356" y="2205990"/>
              <a:ext cx="368731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拿掉真實故障標籤，換上 Diagnosis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 推論出來的故障，並用觀測到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的健康度反推嚴重程度。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685800" y="3771900"/>
            <a:ext cx="2762250" cy="685800"/>
          </a:xfrm>
          <a:prstGeom prst="chevron">
            <a:avLst/>
          </a:prstGeom>
          <a:solidFill>
            <a:srgbClr val="FDECEA"/>
          </a:solidFill>
          <a:ln w="14288">
            <a:solidFill>
              <a:schemeClr val="accent2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333750" y="3771900"/>
            <a:ext cx="2762250" cy="685800"/>
          </a:xfrm>
          <a:prstGeom prst="chevron">
            <a:avLst/>
          </a:prstGeom>
          <a:solidFill>
            <a:srgbClr val="FDECEA"/>
          </a:solidFill>
          <a:ln w="14288">
            <a:solidFill>
              <a:schemeClr val="accent2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5981700" y="3771900"/>
            <a:ext cx="2762250" cy="685800"/>
          </a:xfrm>
          <a:prstGeom prst="chevron">
            <a:avLst/>
          </a:prstGeom>
          <a:solidFill>
            <a:schemeClr val="lt1"/>
          </a:solidFill>
          <a:ln w="14288">
            <a:solidFill>
              <a:schemeClr val="accent1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8629650" y="3771900"/>
            <a:ext cx="2762250" cy="685800"/>
          </a:xfrm>
          <a:prstGeom prst="chevron">
            <a:avLst/>
          </a:prstGeom>
          <a:solidFill>
            <a:srgbClr val="E8F3EE"/>
          </a:solidFill>
          <a:ln w="14288">
            <a:solidFill>
              <a:schemeClr val="accent3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1694307" y="3996690"/>
            <a:ext cx="8810244" cy="352044"/>
            <a:chOff x="1694307" y="3996690"/>
            <a:chExt cx="8810244" cy="352044"/>
          </a:xfrm>
        </p:grpSpPr>
        <p:sp>
          <p:nvSpPr>
            <p:cNvPr id="16" name="TextBox 16"/>
            <p:cNvSpPr txBox="1"/>
            <p:nvPr/>
          </p:nvSpPr>
          <p:spPr>
            <a:xfrm>
              <a:off x="1694307" y="39966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診斷錯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21099" y="3996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投影就錯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1586" y="3996690"/>
              <a:ext cx="2002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Verification 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16999" y="3996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重新規劃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6656" y="4853940"/>
            <a:ext cx="10609920" cy="713994"/>
            <a:chOff x="676656" y="4853940"/>
            <a:chExt cx="10609920" cy="713994"/>
          </a:xfrm>
        </p:grpSpPr>
        <p:sp>
          <p:nvSpPr>
            <p:cNvPr id="21" name="TextBox 21"/>
            <p:cNvSpPr txBox="1"/>
            <p:nvPr/>
          </p:nvSpPr>
          <p:spPr>
            <a:xfrm>
              <a:off x="676656" y="4853940"/>
              <a:ext cx="10609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診斷排名由</a:t>
              </a:r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感測器指紋餘弦相似度（0.75）</a:t>
              </a: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主導，加上歷史先驗（0.15）與文件支持度（0.10）。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6656" y="5215890"/>
              <a:ext cx="65471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RAG 的價值在於產生可引用的 Evidence，而不是決定答案。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6656" y="5806440"/>
            <a:ext cx="10754830" cy="604266"/>
            <a:chOff x="676656" y="5806440"/>
            <a:chExt cx="10754830" cy="604266"/>
          </a:xfrm>
        </p:grpSpPr>
        <p:sp>
          <p:nvSpPr>
            <p:cNvPr id="24" name="TextBox 24"/>
            <p:cNvSpPr txBox="1"/>
            <p:nvPr/>
          </p:nvSpPr>
          <p:spPr>
            <a:xfrm>
              <a:off x="676656" y="5806440"/>
              <a:ext cx="10754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信心度會被訊號強度壓抑：訊號還微弱時不給高信心，Orchestrator 先繼續觀察而不急著動設備。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704" y="6176010"/>
              <a:ext cx="8367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三份手冊都會提到同樣那四個訊號，純文字相似度的鑑別力有限，所以排名由數值指紋主導、RAG 只提供證據。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8937117" cy="616077"/>
            <a:chOff x="669798" y="726758"/>
            <a:chExt cx="893711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早期介入時，「維持全速運轉」</a:t>
              </a:r>
              <a:r>
                <a:rPr lang="zh-Hant-TW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在當下並不違規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8942" y="1721168"/>
            <a:ext cx="9804654" cy="1623821"/>
            <a:chOff x="678942" y="1721168"/>
            <a:chExt cx="9804654" cy="1623821"/>
          </a:xfrm>
        </p:grpSpPr>
        <p:sp>
          <p:nvSpPr>
            <p:cNvPr id="4" name="TextBox 4"/>
            <p:cNvSpPr txBox="1"/>
            <p:nvPr/>
          </p:nvSpPr>
          <p:spPr>
            <a:xfrm>
              <a:off x="678942" y="1721168"/>
              <a:ext cx="6237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M-A 振動（mm/s）：現況值、危險門檻、與方案乾跑出來的預測峰值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1905000" y="27622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657850" y="236220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9050">
              <a:solidFill>
                <a:srgbClr val="E8890C"/>
              </a:solidFill>
              <a:custDash>
                <a:ds d="300000" sp="200000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10280" y="212121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E8890C"/>
                  </a:solidFill>
                  <a:latin typeface="+mn-lt"/>
                  <a:ea typeface="+mn-ea"/>
                  <a:cs typeface="+mn-cs"/>
                </a:rPr>
                <a:t>危險門檻 7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905000" y="2705100"/>
              <a:ext cx="302895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25791" y="3022282"/>
              <a:ext cx="10163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5.65 現況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33950" y="2705100"/>
              <a:ext cx="45720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14584" y="3022282"/>
              <a:ext cx="15827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14.18 預測峰值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385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93706" y="23850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3486150"/>
            <a:ext cx="10820400" cy="1186434"/>
            <a:chOff x="685800" y="3486150"/>
            <a:chExt cx="10820400" cy="1186434"/>
          </a:xfrm>
        </p:grpSpPr>
        <p:sp>
          <p:nvSpPr>
            <p:cNvPr id="15" name="Rectangle 15"/>
            <p:cNvSpPr/>
            <p:nvPr/>
          </p:nvSpPr>
          <p:spPr>
            <a:xfrm>
              <a:off x="685800" y="3486150"/>
              <a:ext cx="10820400" cy="1123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5800" y="3486150"/>
              <a:ext cx="38100" cy="1123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06078" y="3657600"/>
              <a:ext cx="216694" cy="247650"/>
            </a:xfrm>
            <a:custGeom>
              <a:avLst/>
              <a:gdLst/>
              <a:ahLst/>
              <a:cxnLst/>
              <a:rect l="l" t="t" r="r" b="b"/>
              <a:pathLst>
                <a:path w="216694" h="247650">
                  <a:moveTo>
                    <a:pt x="108347" y="247650"/>
                  </a:moveTo>
                  <a:lnTo>
                    <a:pt x="51853" y="207297"/>
                  </a:lnTo>
                  <a:cubicBezTo>
                    <a:pt x="19313" y="184053"/>
                    <a:pt x="0" y="146526"/>
                    <a:pt x="0" y="106537"/>
                  </a:cubicBezTo>
                  <a:lnTo>
                    <a:pt x="0" y="46434"/>
                  </a:lnTo>
                  <a:lnTo>
                    <a:pt x="108347" y="0"/>
                  </a:lnTo>
                  <a:lnTo>
                    <a:pt x="216694" y="46434"/>
                  </a:lnTo>
                  <a:lnTo>
                    <a:pt x="216694" y="106537"/>
                  </a:lnTo>
                  <a:cubicBezTo>
                    <a:pt x="216694" y="146526"/>
                    <a:pt x="197382" y="184053"/>
                    <a:pt x="164840" y="207297"/>
                  </a:cubicBezTo>
                  <a:lnTo>
                    <a:pt x="108347" y="247650"/>
                  </a:lnTo>
                  <a:close/>
                  <a:moveTo>
                    <a:pt x="173465" y="88335"/>
                  </a:moveTo>
                  <a:lnTo>
                    <a:pt x="151576" y="66446"/>
                  </a:lnTo>
                  <a:lnTo>
                    <a:pt x="92869" y="125153"/>
                  </a:lnTo>
                  <a:lnTo>
                    <a:pt x="65118" y="97402"/>
                  </a:lnTo>
                  <a:lnTo>
                    <a:pt x="43229" y="119292"/>
                  </a:lnTo>
                  <a:lnTo>
                    <a:pt x="92869" y="168931"/>
                  </a:lnTo>
                  <a:lnTo>
                    <a:pt x="173465" y="883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45692" y="3702368"/>
              <a:ext cx="3282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Safety Agent 擋下 PLAN-A 的裁決原文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1456" y="3996690"/>
              <a:ext cx="958519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模擬顯示本方案會讓 M-A 振動由目前 5.65 mm/s 升至 14.18 mm/s，超過危險門檻 7 mm/s。</a:t>
              </a:r>
              <a:br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在振動持續上升的情況下維持產出，等同於為了產量接受旋轉件破損風險。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6656" y="4940618"/>
            <a:ext cx="4053840" cy="860488"/>
            <a:chOff x="676656" y="4940618"/>
            <a:chExt cx="4053840" cy="860488"/>
          </a:xfrm>
        </p:grpSpPr>
        <p:sp>
          <p:nvSpPr>
            <p:cNvPr id="21" name="TextBox 21"/>
            <p:cNvSpPr txBox="1"/>
            <p:nvPr/>
          </p:nvSpPr>
          <p:spPr>
            <a:xfrm>
              <a:off x="678942" y="4940618"/>
              <a:ext cx="982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預測型規則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6656" y="5253990"/>
              <a:ext cx="3231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SR-02P ｜ SR-03P ｜ SR-13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9704" y="556641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拿方案乾跑出來的訊號峰值來判斷，而不只看當下數值。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77356" y="4940618"/>
            <a:ext cx="3730752" cy="860488"/>
            <a:chOff x="6277356" y="4940618"/>
            <a:chExt cx="3730752" cy="860488"/>
          </a:xfrm>
        </p:grpSpPr>
        <p:sp>
          <p:nvSpPr>
            <p:cNvPr id="25" name="TextBox 25"/>
            <p:cNvSpPr txBox="1"/>
            <p:nvPr/>
          </p:nvSpPr>
          <p:spPr>
            <a:xfrm>
              <a:off x="6279642" y="4940618"/>
              <a:ext cx="1966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被擋下的方案不會消失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77356" y="52539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紅底刪除線＋列出理由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80404" y="55664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評審看得到系統否決了什麼，以及依據哪一條規則。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8942" y="6026468"/>
            <a:ext cx="9954730" cy="441388"/>
            <a:chOff x="678942" y="6026468"/>
            <a:chExt cx="9954730" cy="441388"/>
          </a:xfrm>
        </p:grpSpPr>
        <p:sp>
          <p:nvSpPr>
            <p:cNvPr id="29" name="TextBox 29"/>
            <p:cNvSpPr txBox="1"/>
            <p:nvPr/>
          </p:nvSpPr>
          <p:spPr>
            <a:xfrm>
              <a:off x="678942" y="6026468"/>
              <a:ext cx="9954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早期偵測的價值在於訊號還很微弱時就介入 —— 但那時候「維持全速運轉」在當下並不違規，所以只看現況的規則擋不住它。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704" y="623316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分級：振動數值為 bearing-degradation 情境實測。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5814727" cy="1130427"/>
            <a:chOff x="669798" y="726758"/>
            <a:chExt cx="5814727" cy="113042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5814727" cy="1130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min–max 會把 0.15 的實質差距</a:t>
              </a:r>
              <a:br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端走 </a:t>
              </a:r>
              <a:r>
                <a:rPr lang="zh-Hant-TW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0.30</a:t>
              </a:r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的權重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3608" y="2000250"/>
            <a:ext cx="5231892" cy="2404301"/>
            <a:chOff x="673608" y="2000250"/>
            <a:chExt cx="5231892" cy="2404301"/>
          </a:xfrm>
        </p:grpSpPr>
        <p:sp>
          <p:nvSpPr>
            <p:cNvPr id="4" name="Rectangle 4"/>
            <p:cNvSpPr/>
            <p:nvPr/>
          </p:nvSpPr>
          <p:spPr>
            <a:xfrm>
              <a:off x="685800" y="2000250"/>
              <a:ext cx="52197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703659" y="2170509"/>
              <a:ext cx="250031" cy="250031"/>
              <a:chOff x="703659" y="2170509"/>
              <a:chExt cx="250031" cy="25003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703659" y="2170509"/>
                <a:ext cx="250031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107156">
                    <a:moveTo>
                      <a:pt x="35719" y="0"/>
                    </a:moveTo>
                    <a:lnTo>
                      <a:pt x="125016" y="0"/>
                    </a:lnTo>
                    <a:lnTo>
                      <a:pt x="125016" y="35719"/>
                    </a:lnTo>
                    <a:lnTo>
                      <a:pt x="250031" y="35719"/>
                    </a:lnTo>
                    <a:lnTo>
                      <a:pt x="250031" y="71438"/>
                    </a:lnTo>
                    <a:lnTo>
                      <a:pt x="125016" y="71438"/>
                    </a:lnTo>
                    <a:lnTo>
                      <a:pt x="125016" y="107156"/>
                    </a:lnTo>
                    <a:lnTo>
                      <a:pt x="35719" y="107156"/>
                    </a:lnTo>
                    <a:lnTo>
                      <a:pt x="35719" y="71438"/>
                    </a:lnTo>
                    <a:lnTo>
                      <a:pt x="0" y="71438"/>
                    </a:lnTo>
                    <a:lnTo>
                      <a:pt x="0" y="35719"/>
                    </a:lnTo>
                    <a:lnTo>
                      <a:pt x="35719" y="35719"/>
                    </a:lnTo>
                    <a:lnTo>
                      <a:pt x="357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03659" y="2313384"/>
                <a:ext cx="250031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107156">
                    <a:moveTo>
                      <a:pt x="214312" y="71438"/>
                    </a:moveTo>
                    <a:lnTo>
                      <a:pt x="250031" y="71438"/>
                    </a:lnTo>
                    <a:lnTo>
                      <a:pt x="250031" y="35719"/>
                    </a:lnTo>
                    <a:lnTo>
                      <a:pt x="214312" y="35719"/>
                    </a:lnTo>
                    <a:lnTo>
                      <a:pt x="214312" y="0"/>
                    </a:lnTo>
                    <a:lnTo>
                      <a:pt x="125016" y="0"/>
                    </a:lnTo>
                    <a:lnTo>
                      <a:pt x="125016" y="35719"/>
                    </a:lnTo>
                    <a:lnTo>
                      <a:pt x="0" y="35719"/>
                    </a:lnTo>
                    <a:lnTo>
                      <a:pt x="0" y="71438"/>
                    </a:lnTo>
                    <a:lnTo>
                      <a:pt x="125016" y="71438"/>
                    </a:lnTo>
                    <a:lnTo>
                      <a:pt x="125016" y="107156"/>
                    </a:lnTo>
                    <a:lnTo>
                      <a:pt x="214312" y="107156"/>
                    </a:lnTo>
                    <a:lnTo>
                      <a:pt x="214312" y="714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673608" y="2598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改用固定尺規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3063240"/>
              <a:ext cx="409879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min–max 是相對比較：候選方案差距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很小時，正規化仍會把最好的拉到 1、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最差的壓到 0，無中生有地製造鑑別力。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41405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改用固定尺規後，分數有絕對意義。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74308" y="2000250"/>
            <a:ext cx="5231892" cy="2404301"/>
            <a:chOff x="6274308" y="2000250"/>
            <a:chExt cx="5231892" cy="2404301"/>
          </a:xfrm>
        </p:grpSpPr>
        <p:sp>
          <p:nvSpPr>
            <p:cNvPr id="12" name="Rectangle 12"/>
            <p:cNvSpPr/>
            <p:nvPr/>
          </p:nvSpPr>
          <p:spPr>
            <a:xfrm>
              <a:off x="6286500" y="2000250"/>
              <a:ext cx="52197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286500" y="21526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61752" y="93635"/>
                  </a:moveTo>
                  <a:cubicBezTo>
                    <a:pt x="276361" y="105077"/>
                    <a:pt x="285750" y="122880"/>
                    <a:pt x="285750" y="142875"/>
                  </a:cubicBezTo>
                  <a:cubicBezTo>
                    <a:pt x="285750" y="162871"/>
                    <a:pt x="276361" y="180674"/>
                    <a:pt x="261751" y="192117"/>
                  </a:cubicBezTo>
                  <a:cubicBezTo>
                    <a:pt x="263990" y="210537"/>
                    <a:pt x="258041" y="229764"/>
                    <a:pt x="243902" y="243904"/>
                  </a:cubicBezTo>
                  <a:cubicBezTo>
                    <a:pt x="229763" y="258043"/>
                    <a:pt x="210535" y="263992"/>
                    <a:pt x="192115" y="261752"/>
                  </a:cubicBezTo>
                  <a:cubicBezTo>
                    <a:pt x="180673" y="276361"/>
                    <a:pt x="162870" y="285750"/>
                    <a:pt x="142875" y="285750"/>
                  </a:cubicBezTo>
                  <a:cubicBezTo>
                    <a:pt x="122879" y="285750"/>
                    <a:pt x="105076" y="276361"/>
                    <a:pt x="93635" y="261751"/>
                  </a:cubicBezTo>
                  <a:cubicBezTo>
                    <a:pt x="75213" y="263992"/>
                    <a:pt x="55986" y="258041"/>
                    <a:pt x="41847" y="243902"/>
                  </a:cubicBezTo>
                  <a:cubicBezTo>
                    <a:pt x="27708" y="229764"/>
                    <a:pt x="21758" y="210537"/>
                    <a:pt x="23998" y="192115"/>
                  </a:cubicBezTo>
                  <a:cubicBezTo>
                    <a:pt x="9389" y="180673"/>
                    <a:pt x="0" y="162870"/>
                    <a:pt x="0" y="142875"/>
                  </a:cubicBezTo>
                  <a:cubicBezTo>
                    <a:pt x="0" y="122879"/>
                    <a:pt x="9389" y="105076"/>
                    <a:pt x="23999" y="93635"/>
                  </a:cubicBezTo>
                  <a:cubicBezTo>
                    <a:pt x="21759" y="75213"/>
                    <a:pt x="27708" y="55986"/>
                    <a:pt x="41847" y="41847"/>
                  </a:cubicBezTo>
                  <a:cubicBezTo>
                    <a:pt x="55986" y="27708"/>
                    <a:pt x="75214" y="21758"/>
                    <a:pt x="93635" y="23998"/>
                  </a:cubicBezTo>
                  <a:cubicBezTo>
                    <a:pt x="105077" y="9389"/>
                    <a:pt x="122880" y="0"/>
                    <a:pt x="142875" y="0"/>
                  </a:cubicBezTo>
                  <a:cubicBezTo>
                    <a:pt x="162871" y="0"/>
                    <a:pt x="180674" y="9389"/>
                    <a:pt x="192117" y="23999"/>
                  </a:cubicBezTo>
                  <a:cubicBezTo>
                    <a:pt x="210537" y="21760"/>
                    <a:pt x="229764" y="27709"/>
                    <a:pt x="243904" y="41848"/>
                  </a:cubicBezTo>
                  <a:cubicBezTo>
                    <a:pt x="258043" y="55987"/>
                    <a:pt x="263992" y="75214"/>
                    <a:pt x="261752" y="93635"/>
                  </a:cubicBezTo>
                  <a:close/>
                  <a:moveTo>
                    <a:pt x="218011" y="110855"/>
                  </a:moveTo>
                  <a:lnTo>
                    <a:pt x="192754" y="85598"/>
                  </a:lnTo>
                  <a:lnTo>
                    <a:pt x="125016" y="153337"/>
                  </a:lnTo>
                  <a:lnTo>
                    <a:pt x="92996" y="121317"/>
                  </a:lnTo>
                  <a:lnTo>
                    <a:pt x="67739" y="146574"/>
                  </a:lnTo>
                  <a:lnTo>
                    <a:pt x="125016" y="203850"/>
                  </a:lnTo>
                  <a:lnTo>
                    <a:pt x="218011" y="1108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4308" y="2598420"/>
              <a:ext cx="27262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需核准只扣 0.1 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356" y="3063240"/>
              <a:ext cx="367588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它是治理程序，不是安全缺陷。早期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版本扣到 0.4，結果系統會為了避開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核准流程而偏好比較糟的方案。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9642" y="41405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扣分幅度會改變系統的行為偏好。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4762500"/>
            <a:ext cx="10820400" cy="990600"/>
            <a:chOff x="685800" y="4762500"/>
            <a:chExt cx="10820400" cy="990600"/>
          </a:xfrm>
        </p:grpSpPr>
        <p:sp>
          <p:nvSpPr>
            <p:cNvPr id="18" name="Rectangle 18"/>
            <p:cNvSpPr/>
            <p:nvPr/>
          </p:nvSpPr>
          <p:spPr>
            <a:xfrm>
              <a:off x="685800" y="4762500"/>
              <a:ext cx="108204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762500"/>
              <a:ext cx="38100" cy="99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1456" y="49110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驗證比的是</a:t>
              </a:r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反事實</a:t>
              </a: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，不是事故前的狀態。設備劣化是進行式的，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1456" y="5273040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拿三十分鐘後的結果去比事故剛發生時的達成率，任何方案都必定變差。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8942" y="6026468"/>
            <a:ext cx="8010144" cy="441388"/>
            <a:chOff x="678942" y="6026468"/>
            <a:chExt cx="8010144" cy="441388"/>
          </a:xfrm>
        </p:grpSpPr>
        <p:sp>
          <p:nvSpPr>
            <p:cNvPr id="23" name="TextBox 23"/>
            <p:cNvSpPr txBox="1"/>
            <p:nvPr/>
          </p:nvSpPr>
          <p:spPr>
            <a:xfrm>
              <a:off x="678942" y="6026468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真正該回答的是兩個問題：實際結果有沒有達到這個方案自己的預測？有沒有贏過「什麼都不做」？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" y="6233160"/>
              <a:ext cx="62639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反事實比較只在「什麼都不做」本身合法時才成立 —— 工安事件本來就是用產能換安全。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5901538" cy="616077"/>
            <a:chOff x="669798" y="726758"/>
            <a:chExt cx="590153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59015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設備故障情境的完整 KPI 對照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8942" y="1454468"/>
            <a:ext cx="9409519" cy="264033"/>
            <a:chOff x="678942" y="1454468"/>
            <a:chExt cx="9409519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78942" y="1454468"/>
              <a:ext cx="9409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四組對照跑在同 seed、同情境、同總時長的孿生體上，每一列直接可比。bearing／cooling／motor 三種故障平均。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85800" y="1809750"/>
            <a:ext cx="10820400" cy="3476625"/>
            <a:chOff x="685800" y="1809750"/>
            <a:chExt cx="10820400" cy="3476625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108204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946910"/>
              <a:ext cx="263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KPI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11038" y="1946910"/>
              <a:ext cx="153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Baseline A 固定門檻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52462" y="1946910"/>
              <a:ext cx="1697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Baseline B 偵測即停機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21038" y="1946910"/>
              <a:ext cx="153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Baseline C 現行流程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01200" y="1809750"/>
              <a:ext cx="19050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929223" y="1946910"/>
              <a:ext cx="1430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Factory Guardian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" y="2228850"/>
              <a:ext cx="108204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601200" y="2228850"/>
              <a:ext cx="1905000" cy="381000"/>
            </a:xfrm>
            <a:prstGeom prst="rect">
              <a:avLst/>
            </a:prstGeom>
            <a:solidFill>
              <a:srgbClr val="E7EEF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1342" y="2340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偵測延遲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14329" y="2324100"/>
              <a:ext cx="73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7.3 min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19329" y="2324100"/>
              <a:ext cx="73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4.7 min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24328" y="2324100"/>
              <a:ext cx="73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7.3 min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3486" y="2324100"/>
              <a:ext cx="767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4.7 min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260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2609850"/>
              <a:ext cx="10820400" cy="3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601200" y="2609850"/>
              <a:ext cx="1905000" cy="381000"/>
            </a:xfrm>
            <a:prstGeom prst="rect">
              <a:avLst/>
            </a:prstGeom>
            <a:solidFill>
              <a:srgbClr val="E7EEF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342" y="2721292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診斷確認（MTTD）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20119" y="27051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25119" y="27051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13267" y="2705100"/>
              <a:ext cx="843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40.0 min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76871" y="2705100"/>
              <a:ext cx="884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10.7 min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5800" y="2990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5800" y="2990850"/>
              <a:ext cx="108204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601200" y="2990850"/>
              <a:ext cx="1905000" cy="381000"/>
            </a:xfrm>
            <a:prstGeom prst="rect">
              <a:avLst/>
            </a:prstGeom>
            <a:solidFill>
              <a:srgbClr val="E7EEF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42" y="3102292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根因診斷正確率（初次 → 最終）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20119" y="30861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5119" y="30861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30118" y="30861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68008" y="3086100"/>
              <a:ext cx="1393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83.3% → 100%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85800" y="3371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5800" y="3371850"/>
              <a:ext cx="10820400" cy="3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601200" y="3371850"/>
              <a:ext cx="1905000" cy="381000"/>
            </a:xfrm>
            <a:prstGeom prst="rect">
              <a:avLst/>
            </a:prstGeom>
            <a:solidFill>
              <a:srgbClr val="E7EEF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342" y="34832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產能達成率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35487" y="3467100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41.3%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0487" y="3467100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72.1%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45486" y="3467100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54.2%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20702" y="3467100"/>
              <a:ext cx="640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94.6%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85800" y="3752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5800" y="3752850"/>
              <a:ext cx="108204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1200" y="3752850"/>
              <a:ext cx="1905000" cy="381000"/>
            </a:xfrm>
            <a:prstGeom prst="rect">
              <a:avLst/>
            </a:prstGeom>
            <a:solidFill>
              <a:srgbClr val="E7EEF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1342" y="38642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最大交期延遲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92206" y="3848100"/>
              <a:ext cx="954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1,385 min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19329" y="3848100"/>
              <a:ext cx="73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3.6 min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13267" y="3848100"/>
              <a:ext cx="843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24.5 min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26715" y="3848100"/>
              <a:ext cx="5347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 min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85800" y="4133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5800" y="4133850"/>
              <a:ext cx="10820400" cy="3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601200" y="4133850"/>
              <a:ext cx="1905000" cy="381000"/>
            </a:xfrm>
            <a:prstGeom prst="rect">
              <a:avLst/>
            </a:prstGeom>
            <a:solidFill>
              <a:srgbClr val="E7EEF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31342" y="42452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設備最終健康度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86934" y="422910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27.3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02996" y="422910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07996" y="422910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996336" y="4229100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100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85800" y="451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5800" y="4514850"/>
              <a:ext cx="108204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601200" y="4514850"/>
              <a:ext cx="1905000" cy="381000"/>
            </a:xfrm>
            <a:prstGeom prst="rect">
              <a:avLst/>
            </a:prstGeom>
            <a:solidFill>
              <a:srgbClr val="E7EEF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1342" y="4626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二次損壞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227320" y="46101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發生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30390" y="46101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未發生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37320" y="46101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發生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40390" y="46101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未發生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685800" y="4895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5800" y="4895850"/>
              <a:ext cx="10820400" cy="3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601200" y="4895850"/>
              <a:ext cx="1905000" cy="381000"/>
            </a:xfrm>
            <a:prstGeom prst="rect">
              <a:avLst/>
            </a:prstGeom>
            <a:solidFill>
              <a:srgbClr val="E7EEF5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31342" y="50072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執行後驗證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520119" y="49911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—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25119" y="49911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—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330118" y="49911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42320" y="49911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通過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685800" y="5276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676656" y="5558790"/>
            <a:ext cx="10547909" cy="890016"/>
            <a:chOff x="676656" y="5558790"/>
            <a:chExt cx="10547909" cy="890016"/>
          </a:xfrm>
        </p:grpSpPr>
        <p:sp>
          <p:nvSpPr>
            <p:cNvPr id="78" name="TextBox 78"/>
            <p:cNvSpPr txBox="1"/>
            <p:nvPr/>
          </p:nvSpPr>
          <p:spPr>
            <a:xfrm>
              <a:off x="676656" y="5558790"/>
              <a:ext cx="104339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Baseline A 保不住設備；現行流程 90 分鐘判定沒一次跑完，平均第 40 分鐘就被故障揭曉打斷；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76656" y="5882640"/>
              <a:ext cx="96208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Guardian 的 10.7 分鐘裡有 6 分鐘是刻意的觀察窗，初次診斷 83.3%，續觀察後 100%。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79704" y="6214110"/>
              <a:ext cx="105448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分級：實測。來源 factory-guardian benchmark（非預錄）。「—」表示該對照組不具備這個環節；對照組定義見 docs/benchmark_notes.md。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7392504" cy="616077"/>
            <a:chOff x="669798" y="726758"/>
            <a:chExt cx="739250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73925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用 25% 的產能，換 </a:t>
              </a:r>
              <a:r>
                <a:rPr lang="zh-Hant-TW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87 分鐘</a:t>
              </a:r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的風險曝露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7691" y="2286000"/>
            <a:ext cx="5810504" cy="2829306"/>
            <a:chOff x="1237691" y="2286000"/>
            <a:chExt cx="5810504" cy="2829306"/>
          </a:xfrm>
        </p:grpSpPr>
        <p:grpSp>
          <p:nvGrpSpPr>
            <p:cNvPr id="25" name="Group 25"/>
            <p:cNvGrpSpPr/>
            <p:nvPr/>
          </p:nvGrpSpPr>
          <p:grpSpPr>
            <a:xfrm>
              <a:off x="1237691" y="2286000"/>
              <a:ext cx="5810504" cy="2543556"/>
              <a:chOff x="1237691" y="2286000"/>
              <a:chExt cx="5810504" cy="2543556"/>
            </a:xfrm>
          </p:grpSpPr>
          <p:sp>
            <p:nvSpPr>
              <p:cNvPr id="4" name="Line 4"/>
              <p:cNvSpPr/>
              <p:nvPr/>
            </p:nvSpPr>
            <p:spPr>
              <a:xfrm>
                <a:off x="2857500" y="2286000"/>
                <a:ext cx="9525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90750">
                    <a:moveTo>
                      <a:pt x="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4222747" y="2286000"/>
                <a:ext cx="9525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90750">
                    <a:moveTo>
                      <a:pt x="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5588003" y="2286000"/>
                <a:ext cx="9525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90750">
                    <a:moveTo>
                      <a:pt x="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6953250" y="2286000"/>
                <a:ext cx="9525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90750">
                    <a:moveTo>
                      <a:pt x="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857500" y="2286000"/>
                <a:ext cx="9525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90750">
                    <a:moveTo>
                      <a:pt x="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806979" y="45948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127802" y="45948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493058" y="45948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858305" y="45948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2857500" y="2343150"/>
                <a:ext cx="4004729" cy="419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448802" y="24212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88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941068" y="2480310"/>
                <a:ext cx="7891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Baseline A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2857500" y="2876550"/>
                <a:ext cx="45510" cy="4191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968561" y="2954655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t-TW" sz="21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41068" y="3013710"/>
                <a:ext cx="7891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Baseline B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3409950"/>
                <a:ext cx="4004729" cy="419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448802" y="34880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88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7691" y="3547110"/>
                <a:ext cx="14925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Baseline C 現行流程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2857500" y="3943350"/>
                <a:ext cx="45510" cy="4191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968561" y="4021455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t-TW" sz="21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367119" y="4080510"/>
                <a:ext cx="13631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Factory Guardian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2851404" y="48806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人員危險區曝露（分鐘）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13904" y="1981200"/>
            <a:ext cx="3892296" cy="2905506"/>
            <a:chOff x="7613904" y="1981200"/>
            <a:chExt cx="3892296" cy="2905506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0" y="1981200"/>
              <a:ext cx="3886200" cy="25908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613904" y="4652010"/>
              <a:ext cx="3792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示意圖（AI 生成）：機台旁的危險區與監視攝影機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4370" y="5129212"/>
            <a:ext cx="10509885" cy="802005"/>
            <a:chOff x="674370" y="5129212"/>
            <a:chExt cx="10509885" cy="802005"/>
          </a:xfrm>
        </p:grpSpPr>
        <p:sp>
          <p:nvSpPr>
            <p:cNvPr id="31" name="TextBox 31"/>
            <p:cNvSpPr txBox="1"/>
            <p:nvPr/>
          </p:nvSpPr>
          <p:spPr>
            <a:xfrm>
              <a:off x="674370" y="5129212"/>
              <a:ext cx="1050988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Hant-TW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Baseline A 與現行流程產能 99.0% 最漂亮 ——</a:t>
              </a:r>
              <a:br/>
              <a:r>
                <a:rPr lang="zh-Hant-TW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代價是讓人在運轉的機台旁邊站了 88 分鐘；現行流程沒有一雙盯著危險區的眼睛。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6656" y="5958840"/>
            <a:ext cx="5934040" cy="547116"/>
            <a:chOff x="676656" y="5958840"/>
            <a:chExt cx="5934040" cy="547116"/>
          </a:xfrm>
        </p:grpSpPr>
        <p:sp>
          <p:nvSpPr>
            <p:cNvPr id="33" name="TextBox 33"/>
            <p:cNvSpPr txBox="1"/>
            <p:nvPr/>
          </p:nvSpPr>
          <p:spPr>
            <a:xfrm>
              <a:off x="676656" y="59588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工安是硬限制，不是加權項。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" y="6271260"/>
              <a:ext cx="5930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產能達成率 A 99.0% ／ B 67.5% ／ C 99.0% ／ Guardian 74.3%。分級：實測。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9361170" cy="616077"/>
            <a:chOff x="669798" y="726758"/>
            <a:chExt cx="936117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93611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方法在別人的資料上成立，但它</a:t>
              </a:r>
              <a:r>
                <a:rPr lang="zh-Hant-TW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不是最強的分類器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8942" y="1454468"/>
            <a:ext cx="9927526" cy="264033"/>
            <a:chOff x="678942" y="1454468"/>
            <a:chExt cx="9927526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78942" y="1454468"/>
              <a:ext cx="9927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指紋餘弦法搬到 UCI AI4I 2020 公開資料集比較 Top-1 歸因正確率；多原型改法在同一份資料上從 0.724 升到 0.821。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00657" y="2148650"/>
            <a:ext cx="9448343" cy="3061906"/>
            <a:chOff x="1600657" y="2148650"/>
            <a:chExt cx="9448343" cy="3061906"/>
          </a:xfrm>
        </p:grpSpPr>
        <p:grpSp>
          <p:nvGrpSpPr>
            <p:cNvPr id="29" name="Group 29"/>
            <p:cNvGrpSpPr/>
            <p:nvPr/>
          </p:nvGrpSpPr>
          <p:grpSpPr>
            <a:xfrm>
              <a:off x="1600657" y="2148650"/>
              <a:ext cx="9448343" cy="2585656"/>
              <a:chOff x="1600657" y="2148650"/>
              <a:chExt cx="9448343" cy="2585656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2095500" y="4024312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2095500" y="3476625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95500" y="2928938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095500" y="2381250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2095500" y="4572000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2095500" y="2381250"/>
                <a:ext cx="9525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90750">
                    <a:moveTo>
                      <a:pt x="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867205" y="44996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00657" y="3951922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0.25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689506" y="3404235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0.5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00657" y="2856548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0.75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67205" y="23088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384393" y="4024312"/>
                <a:ext cx="914400" cy="547688"/>
              </a:xfrm>
              <a:prstGeom prst="rect">
                <a:avLst/>
              </a:prstGeom>
              <a:solidFill>
                <a:srgbClr val="B9C4CE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512521" y="3712845"/>
                <a:ext cx="6581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rgbClr val="B9C4CE"/>
                    </a:solidFill>
                    <a:latin typeface="+mn-lt"/>
                    <a:ea typeface="+mn-ea"/>
                    <a:cs typeface="+mn-cs"/>
                  </a:rPr>
                  <a:t>0.250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876675" y="3568637"/>
                <a:ext cx="914400" cy="1003364"/>
              </a:xfrm>
              <a:prstGeom prst="rect">
                <a:avLst/>
              </a:prstGeom>
              <a:solidFill>
                <a:srgbClr val="8A99A8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004803" y="3257169"/>
                <a:ext cx="6581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rgbClr val="8A99A8"/>
                    </a:solidFill>
                    <a:latin typeface="+mn-lt"/>
                    <a:ea typeface="+mn-ea"/>
                    <a:cs typeface="+mn-cs"/>
                  </a:rPr>
                  <a:t>0.458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5368957" y="2985897"/>
                <a:ext cx="914400" cy="15861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497085" y="2674430"/>
                <a:ext cx="6581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0.724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861143" y="2773394"/>
                <a:ext cx="914400" cy="179860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989271" y="2461927"/>
                <a:ext cx="6581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0.821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8353425" y="2514886"/>
                <a:ext cx="914400" cy="2057114"/>
              </a:xfrm>
              <a:prstGeom prst="rect">
                <a:avLst/>
              </a:prstGeom>
              <a:solidFill>
                <a:srgbClr val="8A99A8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481553" y="2203418"/>
                <a:ext cx="6581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rgbClr val="8A99A8"/>
                    </a:solidFill>
                    <a:latin typeface="+mn-lt"/>
                    <a:ea typeface="+mn-ea"/>
                    <a:cs typeface="+mn-cs"/>
                  </a:rPr>
                  <a:t>0.939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9845707" y="2460117"/>
                <a:ext cx="914400" cy="2111883"/>
              </a:xfrm>
              <a:prstGeom prst="rect">
                <a:avLst/>
              </a:prstGeom>
              <a:solidFill>
                <a:srgbClr val="8A99A8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973835" y="2148650"/>
                <a:ext cx="6581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rgbClr val="8A99A8"/>
                    </a:solidFill>
                    <a:latin typeface="+mn-lt"/>
                    <a:ea typeface="+mn-ea"/>
                    <a:cs typeface="+mn-cs"/>
                  </a:rPr>
                  <a:t>0.964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534329" y="4717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隨機基準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75837" y="4717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單一訊號門檻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92731" y="4717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指紋（單原型）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6226" y="4717256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指紋（2 原型）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87441" y="4717256"/>
              <a:ext cx="10463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RandomForest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03061" y="4717256"/>
              <a:ext cx="1399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LogisticRegression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89404" y="4975860"/>
              <a:ext cx="1666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Top-1 根因歸因正確率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8942" y="5302568"/>
            <a:ext cx="4068508" cy="816483"/>
            <a:chOff x="678942" y="5302568"/>
            <a:chExt cx="4068508" cy="816483"/>
          </a:xfrm>
        </p:grpSpPr>
        <p:sp>
          <p:nvSpPr>
            <p:cNvPr id="38" name="TextBox 38"/>
            <p:cNvSpPr txBox="1"/>
            <p:nvPr/>
          </p:nvSpPr>
          <p:spPr>
            <a:xfrm>
              <a:off x="678942" y="5302568"/>
              <a:ext cx="785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贏在哪裡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8942" y="5607368"/>
              <a:ext cx="406850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顯著優於代表現行流程的單一訊號門檻規則</a:t>
              </a:r>
              <a:br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（0.458）；多原型後 Top-1 0.821、Top-3 1.000。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79642" y="5302568"/>
            <a:ext cx="3785616" cy="816483"/>
            <a:chOff x="6279642" y="5302568"/>
            <a:chExt cx="3785616" cy="816483"/>
          </a:xfrm>
        </p:grpSpPr>
        <p:sp>
          <p:nvSpPr>
            <p:cNvPr id="41" name="TextBox 41"/>
            <p:cNvSpPr txBox="1"/>
            <p:nvPr/>
          </p:nvSpPr>
          <p:spPr>
            <a:xfrm>
              <a:off x="6279642" y="5302568"/>
              <a:ext cx="785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輸在哪裡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9642" y="5607368"/>
              <a:ext cx="37856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LogisticRegression（0.964）與 RandomForest</a:t>
              </a:r>
              <a:br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（0.939）仍領先，多原型沒有翻轉這個結論。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9704" y="6176010"/>
            <a:ext cx="9246413" cy="425196"/>
            <a:chOff x="679704" y="6176010"/>
            <a:chExt cx="9246413" cy="425196"/>
          </a:xfrm>
        </p:grpSpPr>
        <p:sp>
          <p:nvSpPr>
            <p:cNvPr id="44" name="TextBox 44"/>
            <p:cNvSpPr txBox="1"/>
            <p:nvPr/>
          </p:nvSpPr>
          <p:spPr>
            <a:xfrm>
              <a:off x="679704" y="6176010"/>
              <a:ext cx="9246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誠實邊界：AI4I 是合成資料集、無振動訊號；軸承缺口由 CWRU 真實振動補上：歸因 0.994，但單一特徵規則已達 0.925，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9704" y="6366510"/>
              <a:ext cx="5561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跨嚴重度轉移 0.335 等於隨機，不宣稱早期偵測能力。分級：實測，可重現。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8262873" cy="616077"/>
            <a:chOff x="669798" y="726758"/>
            <a:chExt cx="826287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82628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真實工業錄音：</a:t>
              </a:r>
              <a:r>
                <a:rPr lang="zh-Hant-TW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八格全部優於官方 baseline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600657" y="1943100"/>
            <a:ext cx="9448343" cy="3172206"/>
            <a:chOff x="1600657" y="1943100"/>
            <a:chExt cx="9448343" cy="3172206"/>
          </a:xfrm>
        </p:grpSpPr>
        <p:grpSp>
          <p:nvGrpSpPr>
            <p:cNvPr id="35" name="Group 35"/>
            <p:cNvGrpSpPr/>
            <p:nvPr/>
          </p:nvGrpSpPr>
          <p:grpSpPr>
            <a:xfrm>
              <a:off x="1600657" y="2125609"/>
              <a:ext cx="9448343" cy="2513447"/>
              <a:chOff x="1600657" y="2125609"/>
              <a:chExt cx="9448343" cy="2513447"/>
            </a:xfrm>
          </p:grpSpPr>
          <p:sp>
            <p:nvSpPr>
              <p:cNvPr id="4" name="Line 4"/>
              <p:cNvSpPr/>
              <p:nvPr/>
            </p:nvSpPr>
            <p:spPr>
              <a:xfrm>
                <a:off x="2095500" y="3929062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2095500" y="3381375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2095500" y="2833688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2095500" y="2286000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95500" y="4476750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095500" y="2286000"/>
                <a:ext cx="9525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90750">
                    <a:moveTo>
                      <a:pt x="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867205" y="44043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00657" y="3856672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0.25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89506" y="3308985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0.5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00657" y="2761298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0.75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67205" y="22136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343150" y="2539032"/>
                <a:ext cx="609600" cy="193771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424554" y="2322338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0.884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3028950" y="3007195"/>
                <a:ext cx="609600" cy="1469555"/>
              </a:xfrm>
              <a:prstGeom prst="rect">
                <a:avLst/>
              </a:prstGeom>
              <a:solidFill>
                <a:srgbClr val="B9C4CE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110354" y="2790501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rgbClr val="B9C4CE"/>
                    </a:solidFill>
                    <a:latin typeface="+mn-lt"/>
                    <a:ea typeface="+mn-ea"/>
                    <a:cs typeface="+mn-cs"/>
                  </a:rPr>
                  <a:t>0.671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133850" y="2583723"/>
                <a:ext cx="609600" cy="189302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215254" y="2367029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0.864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4819650" y="3141707"/>
                <a:ext cx="609600" cy="1335043"/>
              </a:xfrm>
              <a:prstGeom prst="rect">
                <a:avLst/>
              </a:prstGeom>
              <a:solidFill>
                <a:srgbClr val="B9C4CE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901054" y="2925013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rgbClr val="B9C4CE"/>
                    </a:solidFill>
                    <a:latin typeface="+mn-lt"/>
                    <a:ea typeface="+mn-ea"/>
                    <a:cs typeface="+mn-cs"/>
                  </a:rPr>
                  <a:t>0.609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924550" y="2342302"/>
                <a:ext cx="609600" cy="213444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005954" y="2125609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0.974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610350" y="2530050"/>
                <a:ext cx="609600" cy="1946700"/>
              </a:xfrm>
              <a:prstGeom prst="rect">
                <a:avLst/>
              </a:prstGeom>
              <a:solidFill>
                <a:srgbClr val="B9C4CE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691754" y="2313356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rgbClr val="B9C4CE"/>
                    </a:solidFill>
                    <a:latin typeface="+mn-lt"/>
                    <a:ea typeface="+mn-ea"/>
                    <a:cs typeface="+mn-cs"/>
                  </a:rPr>
                  <a:t>0.889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7715250" y="2528516"/>
                <a:ext cx="609600" cy="194823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796654" y="2311822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0.889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8401050" y="2866768"/>
                <a:ext cx="609600" cy="1609982"/>
              </a:xfrm>
              <a:prstGeom prst="rect">
                <a:avLst/>
              </a:prstGeom>
              <a:solidFill>
                <a:srgbClr val="B9C4CE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482454" y="2650074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rgbClr val="B9C4CE"/>
                    </a:solidFill>
                    <a:latin typeface="+mn-lt"/>
                    <a:ea typeface="+mn-ea"/>
                    <a:cs typeface="+mn-cs"/>
                  </a:rPr>
                  <a:t>0.735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505950" y="2498503"/>
                <a:ext cx="609600" cy="197824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587354" y="2281809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0.903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10191750" y="2886485"/>
                <a:ext cx="609600" cy="1590265"/>
              </a:xfrm>
              <a:prstGeom prst="rect">
                <a:avLst/>
              </a:prstGeom>
              <a:solidFill>
                <a:srgbClr val="B9C4CE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273154" y="2669791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120" b="1" dirty="0">
                    <a:solidFill>
                      <a:srgbClr val="B9C4CE"/>
                    </a:solidFill>
                    <a:latin typeface="+mn-lt"/>
                    <a:ea typeface="+mn-ea"/>
                    <a:cs typeface="+mn-cs"/>
                  </a:rPr>
                  <a:t>0.726</a:t>
                </a:r>
              </a:p>
            </p:txBody>
          </p:sp>
        </p:grpSp>
        <p:sp>
          <p:nvSpPr>
            <p:cNvPr id="36" name="Rectangle 36"/>
            <p:cNvSpPr/>
            <p:nvPr/>
          </p:nvSpPr>
          <p:spPr>
            <a:xfrm>
              <a:off x="2095500" y="1943100"/>
              <a:ext cx="15240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18004" y="1946910"/>
              <a:ext cx="857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本專案 AUC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524250" y="1943100"/>
              <a:ext cx="152400" cy="152400"/>
            </a:xfrm>
            <a:prstGeom prst="rect">
              <a:avLst/>
            </a:prstGeom>
            <a:solidFill>
              <a:srgbClr val="B9C4C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746754" y="1946910"/>
              <a:ext cx="1349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 baseline AUC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79538" y="459771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id 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70238" y="459771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id 02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60938" y="459771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id 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51638" y="459771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id 06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65055" y="4597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89404" y="48806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AUC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6656" y="5330190"/>
            <a:ext cx="10770688" cy="675894"/>
            <a:chOff x="676656" y="5330190"/>
            <a:chExt cx="10770688" cy="675894"/>
          </a:xfrm>
        </p:grpSpPr>
        <p:sp>
          <p:nvSpPr>
            <p:cNvPr id="47" name="TextBox 47"/>
            <p:cNvSpPr txBox="1"/>
            <p:nvPr/>
          </p:nvSpPr>
          <p:spPr>
            <a:xfrm>
              <a:off x="676656" y="5330190"/>
              <a:ext cx="107706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平均 AUC </a:t>
              </a:r>
              <a:r>
                <a:rPr lang="zh-Hant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0.9030</a:t>
              </a: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vs baseline 0.7259（+0.1771）；平均 pAUC </a:t>
              </a:r>
              <a:r>
                <a:rPr lang="zh-Hant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0.7855</a:t>
              </a: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vs 0.6000（+0.1855）。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6656" y="5654040"/>
              <a:ext cx="76997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訓練集只有正常音訊是特徵不是限制 —— 真實產線拿不到足量故障錄音。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79704" y="6118860"/>
            <a:ext cx="7458603" cy="444246"/>
            <a:chOff x="679704" y="6118860"/>
            <a:chExt cx="7458603" cy="444246"/>
          </a:xfrm>
        </p:grpSpPr>
        <p:sp>
          <p:nvSpPr>
            <p:cNvPr id="50" name="TextBox 50"/>
            <p:cNvSpPr txBox="1"/>
            <p:nvPr/>
          </p:nvSpPr>
          <p:spPr>
            <a:xfrm>
              <a:off x="679704" y="6118860"/>
              <a:ext cx="7458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資料集：DCASE2020 Task2 pump，test split（400 正常 + 456 異常）。方法：log-mel 特徵 + LOF。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704" y="6328410"/>
              <a:ext cx="3865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分級：實測。baseline 取自官方 autoencoder 附表。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11232304" cy="616077"/>
            <a:chOff x="669798" y="726758"/>
            <a:chExt cx="1123230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112323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69.8%</a:t>
              </a:r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的效益來自二次損壞避免，所以那個假設值得被追問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10157" y="2281695"/>
            <a:ext cx="9448343" cy="3024111"/>
            <a:chOff x="1410157" y="2281695"/>
            <a:chExt cx="9448343" cy="3024111"/>
          </a:xfrm>
        </p:grpSpPr>
        <p:grpSp>
          <p:nvGrpSpPr>
            <p:cNvPr id="37" name="Group 37"/>
            <p:cNvGrpSpPr/>
            <p:nvPr/>
          </p:nvGrpSpPr>
          <p:grpSpPr>
            <a:xfrm>
              <a:off x="1410157" y="2281695"/>
              <a:ext cx="9448343" cy="2547861"/>
              <a:chOff x="1410157" y="2281695"/>
              <a:chExt cx="9448343" cy="2547861"/>
            </a:xfrm>
          </p:grpSpPr>
          <p:sp>
            <p:nvSpPr>
              <p:cNvPr id="4" name="Line 4"/>
              <p:cNvSpPr/>
              <p:nvPr/>
            </p:nvSpPr>
            <p:spPr>
              <a:xfrm>
                <a:off x="1905000" y="4095750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1905000" y="3524250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1905000" y="2952750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1905000" y="2381250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rgbClr val="E8EDF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905000" y="4667250"/>
                <a:ext cx="895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0" h="9525">
                    <a:moveTo>
                      <a:pt x="0" y="0"/>
                    </a:moveTo>
                    <a:lnTo>
                      <a:pt x="8953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905000" y="2381250"/>
                <a:ext cx="9525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0">
                    <a:moveTo>
                      <a:pt x="0" y="0"/>
                    </a:moveTo>
                    <a:lnTo>
                      <a:pt x="0" y="22860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676705" y="45948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99006" y="4023360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850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10157" y="34518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1700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10157" y="28803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2550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10157" y="23088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3400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163537" y="2525535"/>
                <a:ext cx="762000" cy="214171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258566" y="2281695"/>
                <a:ext cx="5719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3185.4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3442611" y="3978631"/>
                <a:ext cx="762000" cy="68862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537640" y="3734791"/>
                <a:ext cx="5719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1024.2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721685" y="4462853"/>
                <a:ext cx="762000" cy="20439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63360" y="4219013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304.0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000760" y="4635922"/>
                <a:ext cx="762000" cy="3133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189080" y="4392082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46.6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279834" y="4657725"/>
                <a:ext cx="762000" cy="95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514800" y="4413885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4.3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8558908" y="4657725"/>
                <a:ext cx="762000" cy="95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793874" y="4413885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0.1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9837982" y="4667250"/>
                <a:ext cx="762000" cy="95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072948" y="4423410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0.0</a:t>
                </a:r>
              </a:p>
            </p:txBody>
          </p:sp>
          <p:sp>
            <p:nvSpPr>
              <p:cNvPr id="29" name="Polyline 29"/>
              <p:cNvSpPr/>
              <p:nvPr/>
            </p:nvSpPr>
            <p:spPr>
              <a:xfrm>
                <a:off x="2544537" y="2381345"/>
                <a:ext cx="7674445" cy="690658"/>
              </a:xfrm>
              <a:custGeom>
                <a:avLst/>
                <a:gdLst/>
                <a:ahLst/>
                <a:cxnLst/>
                <a:rect l="l" t="t" r="r" b="b"/>
                <a:pathLst>
                  <a:path w="7674445" h="690658">
                    <a:moveTo>
                      <a:pt x="0" y="690658"/>
                    </a:moveTo>
                    <a:lnTo>
                      <a:pt x="1279074" y="177737"/>
                    </a:lnTo>
                    <a:lnTo>
                      <a:pt x="2558148" y="25527"/>
                    </a:lnTo>
                    <a:lnTo>
                      <a:pt x="3837222" y="2191"/>
                    </a:lnTo>
                    <a:lnTo>
                      <a:pt x="5116297" y="0"/>
                    </a:lnTo>
                    <a:lnTo>
                      <a:pt x="6395371" y="0"/>
                    </a:lnTo>
                    <a:lnTo>
                      <a:pt x="7674445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2506437" y="3033903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3785511" y="2520982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5064585" y="2368772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6343660" y="2345436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7622734" y="234324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8901808" y="234324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10180882" y="234324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2215353" y="4804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二次損壞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94427" y="4804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停機降載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73492" y="4804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交期罰則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52566" y="4804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維修工時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31640" y="4804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工安事故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10705" y="4804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能源浪費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89807" y="4804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碳排成本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98904" y="50711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年度效益（千元），紅線為累積占比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6656" y="5474018"/>
            <a:ext cx="5236392" cy="932116"/>
            <a:chOff x="676656" y="5474018"/>
            <a:chExt cx="5236392" cy="932116"/>
          </a:xfrm>
        </p:grpSpPr>
        <p:sp>
          <p:nvSpPr>
            <p:cNvPr id="47" name="TextBox 47"/>
            <p:cNvSpPr txBox="1"/>
            <p:nvPr/>
          </p:nvSpPr>
          <p:spPr>
            <a:xfrm>
              <a:off x="678942" y="5474018"/>
              <a:ext cx="1827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全廠 6 線、基準情境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6656" y="5749290"/>
              <a:ext cx="5130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年度效益 </a:t>
              </a:r>
              <a:r>
                <a:rPr lang="zh-Hant-TW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4,564,752</a:t>
              </a: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元；第一年 ROI </a:t>
              </a:r>
              <a:r>
                <a:rPr lang="zh-Hant-TW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+64.5%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6656" y="6054090"/>
              <a:ext cx="52363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穩態年度 ROI +172.5%；簡單回收期 </a:t>
              </a:r>
              <a:r>
                <a:rPr lang="zh-Hant-TW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4.6 個月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5391150"/>
            <a:ext cx="5235382" cy="1147001"/>
            <a:chOff x="6286500" y="5391150"/>
            <a:chExt cx="5235382" cy="1147001"/>
          </a:xfrm>
        </p:grpSpPr>
        <p:sp>
          <p:nvSpPr>
            <p:cNvPr id="51" name="Rectangle 51"/>
            <p:cNvSpPr/>
            <p:nvPr/>
          </p:nvSpPr>
          <p:spPr>
            <a:xfrm>
              <a:off x="6286500" y="5391150"/>
              <a:ext cx="5219700" cy="11049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86500" y="5391150"/>
              <a:ext cx="38100" cy="1104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84442" y="5474018"/>
              <a:ext cx="1573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最敏感的單一參數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82156" y="5749290"/>
              <a:ext cx="4939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現況告警逃逸率 </a:t>
              </a:r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0.25</a:t>
              </a: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（假設）；臨界值 5.3%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84442" y="6045518"/>
              <a:ext cx="406850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效益實現率 0.8（假設）。單線試點穩態 ROI −17.6%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不回本，商業案例門檻是兩條產線起跳。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9798" y="726758"/>
            <a:ext cx="5544693" cy="616077"/>
            <a:chOff x="669798" y="726758"/>
            <a:chExt cx="554469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669798" y="726758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把單廠導入變成</a:t>
              </a:r>
              <a:r>
                <a:rPr lang="zh-Hant-TW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可複製的方案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6656" y="1619250"/>
            <a:ext cx="5228844" cy="1889951"/>
            <a:chOff x="676656" y="1619250"/>
            <a:chExt cx="5228844" cy="1889951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52197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8942" y="1759268"/>
              <a:ext cx="1966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誰用、誰決定、誰買單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6656" y="20916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使用者　設備維護技師、產線班長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247269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決策者　廠務／設備維護主管、工安主管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6656" y="2853690"/>
              <a:ext cx="4562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採購者　數位轉型辦公室或 IT／OT 團隊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32451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預算多掛在「智慧製造」或「工安改善」項下。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77356" y="1619250"/>
            <a:ext cx="5228844" cy="1929384"/>
            <a:chOff x="6277356" y="1619250"/>
            <a:chExt cx="5228844" cy="1929384"/>
          </a:xfrm>
        </p:grpSpPr>
        <p:sp>
          <p:nvSpPr>
            <p:cNvPr id="11" name="Rectangle 11"/>
            <p:cNvSpPr/>
            <p:nvPr/>
          </p:nvSpPr>
          <p:spPr>
            <a:xfrm>
              <a:off x="6286500" y="1619250"/>
              <a:ext cx="52197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9642" y="1759268"/>
              <a:ext cx="1573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收費方式（四層）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7356" y="2091690"/>
              <a:ext cx="31329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 SaaS　依廠／線／機台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7356" y="2472690"/>
              <a:ext cx="4398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Usage　Camera／Agent／Inference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356" y="2853690"/>
              <a:ext cx="32747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System Integration　一次性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7356" y="3196590"/>
              <a:ext cx="26931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Managed Service　維運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3810000"/>
            <a:ext cx="6743700" cy="994601"/>
            <a:chOff x="685800" y="3810000"/>
            <a:chExt cx="6743700" cy="994601"/>
          </a:xfrm>
        </p:grpSpPr>
        <p:sp>
          <p:nvSpPr>
            <p:cNvPr id="18" name="Rectangle 18"/>
            <p:cNvSpPr/>
            <p:nvPr/>
          </p:nvSpPr>
          <p:spPr>
            <a:xfrm>
              <a:off x="685800" y="3810000"/>
              <a:ext cx="67437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810000"/>
              <a:ext cx="38100" cy="95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008459" y="4036219"/>
              <a:ext cx="250031" cy="232172"/>
            </a:xfrm>
            <a:custGeom>
              <a:avLst/>
              <a:gdLst/>
              <a:ahLst/>
              <a:cxnLst/>
              <a:rect l="l" t="t" r="r" b="b"/>
              <a:pathLst>
                <a:path w="250031" h="232172">
                  <a:moveTo>
                    <a:pt x="250031" y="0"/>
                  </a:moveTo>
                  <a:lnTo>
                    <a:pt x="250031" y="232172"/>
                  </a:lnTo>
                  <a:lnTo>
                    <a:pt x="214312" y="232172"/>
                  </a:lnTo>
                  <a:lnTo>
                    <a:pt x="214312" y="142875"/>
                  </a:lnTo>
                  <a:lnTo>
                    <a:pt x="178594" y="142875"/>
                  </a:lnTo>
                  <a:lnTo>
                    <a:pt x="178594" y="232172"/>
                  </a:lnTo>
                  <a:lnTo>
                    <a:pt x="0" y="232172"/>
                  </a:lnTo>
                  <a:lnTo>
                    <a:pt x="0" y="53578"/>
                  </a:lnTo>
                  <a:lnTo>
                    <a:pt x="107156" y="0"/>
                  </a:lnTo>
                  <a:lnTo>
                    <a:pt x="125016" y="0"/>
                  </a:lnTo>
                  <a:lnTo>
                    <a:pt x="125016" y="53578"/>
                  </a:lnTo>
                  <a:lnTo>
                    <a:pt x="232172" y="0"/>
                  </a:lnTo>
                  <a:lnTo>
                    <a:pt x="250031" y="0"/>
                  </a:lnTo>
                  <a:close/>
                  <a:moveTo>
                    <a:pt x="142875" y="107156"/>
                  </a:moveTo>
                  <a:lnTo>
                    <a:pt x="107156" y="107156"/>
                  </a:lnTo>
                  <a:lnTo>
                    <a:pt x="107156" y="178594"/>
                  </a:lnTo>
                  <a:lnTo>
                    <a:pt x="142875" y="178594"/>
                  </a:lnTo>
                  <a:lnTo>
                    <a:pt x="142875" y="107156"/>
                  </a:lnTo>
                  <a:close/>
                  <a:moveTo>
                    <a:pt x="71438" y="107156"/>
                  </a:moveTo>
                  <a:lnTo>
                    <a:pt x="35719" y="107156"/>
                  </a:lnTo>
                  <a:lnTo>
                    <a:pt x="35719" y="178594"/>
                  </a:lnTo>
                  <a:lnTo>
                    <a:pt x="71438" y="178594"/>
                  </a:lnTo>
                  <a:lnTo>
                    <a:pt x="7143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18082" y="398335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通路就是中華電信既有的基礎設施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1892" y="4331018"/>
              <a:ext cx="4557141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整合 5G 專網、MEC、hicloud、OT 資安與維運服務，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讓單廠導入變成可複製的方案；控制關鍵路徑一律在 EDGE。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0" y="3810000"/>
            <a:ext cx="3886200" cy="2590800"/>
            <a:chOff x="7620000" y="3810000"/>
            <a:chExt cx="3886200" cy="259080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0" y="3810000"/>
              <a:ext cx="3886200" cy="259080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73608" y="5048250"/>
            <a:ext cx="6166592" cy="1400556"/>
            <a:chOff x="673608" y="5048250"/>
            <a:chExt cx="6166592" cy="1400556"/>
          </a:xfrm>
        </p:grpSpPr>
        <p:sp>
          <p:nvSpPr>
            <p:cNvPr id="26" name="Rectangle 26"/>
            <p:cNvSpPr/>
            <p:nvPr/>
          </p:nvSpPr>
          <p:spPr>
            <a:xfrm>
              <a:off x="685800" y="5048250"/>
              <a:ext cx="11430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3608" y="5322570"/>
              <a:ext cx="61665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讓客戶願意簽下去的，不是 AI 兩個字 ——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3608" y="574167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是工安是硬限制，不是加權項。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9704" y="6214110"/>
              <a:ext cx="6114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ROI ＝（避免停機損失＋節省工時＋降低事故／能源成本－方案成本）÷ 方案成本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mart_factory">
  <a:themeElements>
    <a:clrScheme name="smart_factory">
      <a:dk1>
        <a:srgbClr val="16202B"/>
      </a:dk1>
      <a:lt1>
        <a:srgbClr val="FFFFFF"/>
      </a:lt1>
      <a:dk2>
        <a:srgbClr val="1F497D"/>
      </a:dk2>
      <a:lt2>
        <a:srgbClr val="F1F4F8"/>
      </a:lt2>
      <a:accent1>
        <a:srgbClr val="0F4C81"/>
      </a:accent1>
      <a:accent2>
        <a:srgbClr val="E2231A"/>
      </a:accent2>
      <a:accent3>
        <a:srgbClr val="1B7F5A"/>
      </a:accent3>
      <a:accent4>
        <a:srgbClr val="0F4C81"/>
      </a:accent4>
      <a:accent5>
        <a:srgbClr val="5A6B7D"/>
      </a:accent5>
      <a:accent6>
        <a:srgbClr val="D5DDE5"/>
      </a:accent6>
      <a:hlink>
        <a:srgbClr val="E2231A"/>
      </a:hlink>
      <a:folHlink>
        <a:srgbClr val="1B7F5A"/>
      </a:folHlink>
    </a:clrScheme>
    <a:fontScheme name="smart_factory">
      <a:maj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mart_fac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mart_factory">
  <a:themeElements>
    <a:clrScheme name="smart_factory">
      <a:dk1>
        <a:srgbClr val="16202B"/>
      </a:dk1>
      <a:lt1>
        <a:srgbClr val="FFFFFF"/>
      </a:lt1>
      <a:dk2>
        <a:srgbClr val="1F497D"/>
      </a:dk2>
      <a:lt2>
        <a:srgbClr val="F1F4F8"/>
      </a:lt2>
      <a:accent1>
        <a:srgbClr val="0F4C81"/>
      </a:accent1>
      <a:accent2>
        <a:srgbClr val="E2231A"/>
      </a:accent2>
      <a:accent3>
        <a:srgbClr val="1B7F5A"/>
      </a:accent3>
      <a:accent4>
        <a:srgbClr val="0F4C81"/>
      </a:accent4>
      <a:accent5>
        <a:srgbClr val="5A6B7D"/>
      </a:accent5>
      <a:accent6>
        <a:srgbClr val="D5DDE5"/>
      </a:accent6>
      <a:hlink>
        <a:srgbClr val="E2231A"/>
      </a:hlink>
      <a:folHlink>
        <a:srgbClr val="1B7F5A"/>
      </a:folHlink>
    </a:clrScheme>
    <a:fontScheme name="smart_factory">
      <a:maj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mart_fac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zh-Hant-TW</dc:language>
  <cp:lastModifiedBy/>
  <cp:revision>1</cp:revision>
  <dcterms:created xsi:type="dcterms:W3CDTF">2026-09-06T05:45:28Z</dcterms:created>
  <dcterms:modified xsi:type="dcterms:W3CDTF">2026-09-06T05:45:28Z</dcterms:modified>
  <cp:category/>
  <cp:contentStatus/>
</cp:coreProperties>
</file>